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s/slide1.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Arial"/>
              </a:rPr>
              <a:t>Click to move the slide</a:t>
            </a:r>
            <a:endParaRPr b="0" lang="en-US" sz="1800" spc="-1" strike="noStrike">
              <a:solidFill>
                <a:schemeClr val="dk1"/>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DejaVu Sans"/>
              </a:rPr>
              <a:t>Click to edit the notes format</a:t>
            </a:r>
            <a:endParaRPr b="0" lang="en-US" sz="2000" spc="-1" strike="noStrike">
              <a:solidFill>
                <a:srgbClr val="000000"/>
              </a:solidFill>
              <a:latin typeface="DejaVu Sans"/>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DejaVu Serif"/>
              </a:rPr>
              <a:t>&lt;header&gt;</a:t>
            </a:r>
            <a:endParaRPr b="0" lang="en-US" sz="1400" spc="-1" strike="noStrike">
              <a:solidFill>
                <a:srgbClr val="000000"/>
              </a:solidFill>
              <a:latin typeface="DejaVu Serif"/>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DejaVu Serif"/>
              </a:defRPr>
            </a:lvl1pPr>
          </a:lstStyle>
          <a:p>
            <a:pPr indent="0" algn="r">
              <a:buNone/>
            </a:pPr>
            <a:r>
              <a:rPr b="0" lang="en-US" sz="1400" spc="-1" strike="noStrike">
                <a:solidFill>
                  <a:srgbClr val="000000"/>
                </a:solidFill>
                <a:latin typeface="DejaVu Serif"/>
              </a:rPr>
              <a:t>&lt;date/time&gt;</a:t>
            </a:r>
            <a:endParaRPr b="0" lang="en-US" sz="1400" spc="-1" strike="noStrike">
              <a:solidFill>
                <a:srgbClr val="000000"/>
              </a:solidFill>
              <a:latin typeface="DejaVu Serif"/>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DejaVu Serif"/>
              </a:defRPr>
            </a:lvl1pPr>
          </a:lstStyle>
          <a:p>
            <a:pPr indent="0">
              <a:buNone/>
            </a:pPr>
            <a:r>
              <a:rPr b="0" lang="en-US" sz="1400" spc="-1" strike="noStrike">
                <a:solidFill>
                  <a:srgbClr val="000000"/>
                </a:solidFill>
                <a:latin typeface="DejaVu Serif"/>
              </a:rPr>
              <a:t>&lt;footer&gt;</a:t>
            </a:r>
            <a:endParaRPr b="0" lang="en-US" sz="1400" spc="-1" strike="noStrike">
              <a:solidFill>
                <a:srgbClr val="000000"/>
              </a:solidFill>
              <a:latin typeface="DejaVu Serif"/>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DejaVu Serif"/>
              </a:defRPr>
            </a:lvl1pPr>
          </a:lstStyle>
          <a:p>
            <a:pPr indent="0" algn="r">
              <a:buNone/>
            </a:pPr>
            <a:fld id="{AD8668D9-6F04-418E-BBA0-0625ADEB261D}" type="slidenum">
              <a:rPr b="0" lang="en-US" sz="1400" spc="-1" strike="noStrike">
                <a:solidFill>
                  <a:srgbClr val="000000"/>
                </a:solidFill>
                <a:latin typeface="DejaVu Serif"/>
              </a:rPr>
              <a:t>&lt;number&gt;</a:t>
            </a:fld>
            <a:endParaRPr b="0" lang="en-US" sz="1400" spc="-1" strike="noStrike">
              <a:solidFill>
                <a:srgbClr val="000000"/>
              </a:solidFill>
              <a:latin typeface="DejaVu Serif"/>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685800" y="1143000"/>
            <a:ext cx="5486040" cy="3085920"/>
          </a:xfrm>
          <a:prstGeom prst="rect">
            <a:avLst/>
          </a:prstGeom>
          <a:ln w="0">
            <a:noFill/>
          </a:ln>
        </p:spPr>
      </p:sp>
      <p:sp>
        <p:nvSpPr>
          <p:cNvPr id="39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This concise review compares five completed TOC directions. The key question is not which looks most dramatic, but which one communicates the paper's main contribution accurately at JCIM thumbnail size without presenting representative frames or local geometry as an established mechanism.</a:t>
            </a:r>
            <a:endParaRPr b="0" lang="en-US" sz="2000" spc="-1" strike="noStrike">
              <a:solidFill>
                <a:srgbClr val="000000"/>
              </a:solidFill>
              <a:latin typeface="DejaVu Sans"/>
            </a:endParaRPr>
          </a:p>
        </p:txBody>
      </p:sp>
      <p:sp>
        <p:nvSpPr>
          <p:cNvPr id="394"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A536D3B-BACD-45EE-90D9-615AB32C4DD4}"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685800" y="1143000"/>
            <a:ext cx="5486040" cy="3085920"/>
          </a:xfrm>
          <a:prstGeom prst="rect">
            <a:avLst/>
          </a:prstGeom>
          <a:ln w="0">
            <a:noFill/>
          </a:ln>
        </p:spPr>
      </p:sp>
      <p:sp>
        <p:nvSpPr>
          <p:cNvPr id="39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The manuscript contains four evidence layers: retention, interface architecture, chain-length redistribution, and local geometry. A TOC cannot weight all four equally, so retention is the entry filter, six-enzyme interface redistribution is the main result, and the TfCut1/HiC sites provide the endpoint. Any visual implying affinity, catalytic activity, reaction barriers, or behavior on solid PET should be treated as a risk.</a:t>
            </a:r>
            <a:endParaRPr b="0" lang="en-US" sz="2000" spc="-1" strike="noStrike">
              <a:solidFill>
                <a:srgbClr val="000000"/>
              </a:solidFill>
              <a:latin typeface="DejaVu Sans"/>
            </a:endParaRPr>
          </a:p>
        </p:txBody>
      </p:sp>
      <p:sp>
        <p:nvSpPr>
          <p:cNvPr id="397"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B59BAF0-7FFA-4033-9343-504B02C0650E}"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685800" y="1143000"/>
            <a:ext cx="5486040" cy="3085920"/>
          </a:xfrm>
          <a:prstGeom prst="rect">
            <a:avLst/>
          </a:prstGeom>
          <a:ln w="0">
            <a:noFill/>
          </a:ln>
        </p:spPr>
      </p:sp>
      <p:sp>
        <p:nvSpPr>
          <p:cNvPr id="39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Option A offers molecular authenticity and a complete funnel, but six entry structures, four L10/L20 structures, and local contacts create more than ten visual focal points within 975 × 525 pixels. Option B compresses the story into icons and reads faster, yet those icons do not directly carry population statistics and can turn supported sites into an apparently established mechanism. The two options represent information overload and excessive abstraction, respectively.</a:t>
            </a:r>
            <a:endParaRPr b="0" lang="en-US" sz="2000" spc="-1" strike="noStrike">
              <a:solidFill>
                <a:srgbClr val="000000"/>
              </a:solidFill>
              <a:latin typeface="DejaVu Sans"/>
            </a:endParaRPr>
          </a:p>
        </p:txBody>
      </p:sp>
      <p:sp>
        <p:nvSpPr>
          <p:cNvPr id="400"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6299EF9-50F5-44C9-A2BC-ADAD402BF373}"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685800" y="1143000"/>
            <a:ext cx="5486040" cy="3085920"/>
          </a:xfrm>
          <a:prstGeom prst="rect">
            <a:avLst/>
          </a:prstGeom>
          <a:ln w="0">
            <a:noFill/>
          </a:ln>
        </p:spPr>
      </p:sp>
      <p:sp>
        <p:nvSpPr>
          <p:cNvPr id="40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Option C comes closest to compressing manuscript Figures 4, 5, and 7 into one image. It feels complete to the authors, but a first-time reader notices the four local-interaction panels before the six-enzyme population-level redistribution. At TOC size, completeness becomes the absence of a clear visual subject.</a:t>
            </a:r>
            <a:endParaRPr b="0" lang="en-US" sz="2000" spc="-1" strike="noStrike">
              <a:solidFill>
                <a:srgbClr val="000000"/>
              </a:solidFill>
              <a:latin typeface="DejaVu Sans"/>
            </a:endParaRPr>
          </a:p>
        </p:txBody>
      </p:sp>
      <p:sp>
        <p:nvSpPr>
          <p:cNvPr id="403"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9C3E0BE-8F85-4377-A402-B9D04079EC84}"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6040" cy="3085920"/>
          </a:xfrm>
          <a:prstGeom prst="rect">
            <a:avLst/>
          </a:prstGeom>
          <a:ln w="0">
            <a:noFill/>
          </a:ln>
        </p:spPr>
      </p:sp>
      <p:sp>
        <p:nvSpPr>
          <p:cNvPr id="40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Option D is the strongest visual design: PET-chain icons explain L10 and L20 immediately, the blue/orange pairing is memorable, and only the TfCut1 and HiC structure pairs dominate. However, the six-enzyme comparison recedes into the background, while L10-to-L20 arrows can be misread as a temporal conversion within one trajectory. Local labels may also make intermittent hydrogen bonds or aromatic proximity appear mechanistically established.</a:t>
            </a:r>
            <a:endParaRPr b="0" lang="en-US" sz="2000" spc="-1" strike="noStrike">
              <a:solidFill>
                <a:srgbClr val="000000"/>
              </a:solidFill>
              <a:latin typeface="DejaVu Sans"/>
            </a:endParaRPr>
          </a:p>
        </p:txBody>
      </p:sp>
      <p:sp>
        <p:nvSpPr>
          <p:cNvPr id="406"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B7A7AC20-0681-4CD9-A2A5-07A09A925DB9}"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685800" y="1143000"/>
            <a:ext cx="5486040" cy="3085920"/>
          </a:xfrm>
          <a:prstGeom prst="rect">
            <a:avLst/>
          </a:prstGeom>
          <a:ln w="0">
            <a:noFill/>
          </a:ln>
        </p:spPr>
      </p:sp>
      <p:sp>
        <p:nvSpPr>
          <p:cNvPr id="40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Option E places the manuscript's population-level evidence first. The twelve bands on the left show L10/L20 contact-class composition across six enzymes; the right side maps only eight supported sites back onto TfCut1 and HiC. Representative structures no longer imply occupancy or persistence, and no hydrogen-bond or pi-interaction lines are drawn. It is therefore closest to the paper's defensible conclusion, although its analytical look can still receive light visual refinement.</a:t>
            </a:r>
            <a:endParaRPr b="0" lang="en-US" sz="2000" spc="-1" strike="noStrike">
              <a:solidFill>
                <a:srgbClr val="000000"/>
              </a:solidFill>
              <a:latin typeface="DejaVu Sans"/>
            </a:endParaRPr>
          </a:p>
        </p:txBody>
      </p:sp>
      <p:sp>
        <p:nvSpPr>
          <p:cNvPr id="409"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A7E44C9-9624-4C40-8B60-B1471442B4E7}"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685800" y="1143000"/>
            <a:ext cx="5486040" cy="3085920"/>
          </a:xfrm>
          <a:prstGeom prst="rect">
            <a:avLst/>
          </a:prstGeom>
          <a:ln w="0">
            <a:noFill/>
          </a:ln>
        </p:spPr>
      </p:sp>
      <p:sp>
        <p:nvSpPr>
          <p:cNvPr id="41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DejaVu Sans"/>
              </a:rPr>
              <a:t>The recommendation is not simply to choose the prettiest option. D is the visual winner and works well for a talk or concept cover. E is the submission winner because population data remain the subject, the six-enzyme comparison is preserved, and structural/site interpretation stays constrained. The best next step is an E+ refinement that borrows only a little of D's visual language—for example, non-directional short/long-chain cues and a simpler title—without restoring local bond lines or mechanistic symbols.</a:t>
            </a:r>
            <a:endParaRPr b="0" lang="en-US" sz="2000" spc="-1" strike="noStrike">
              <a:solidFill>
                <a:srgbClr val="000000"/>
              </a:solidFill>
              <a:latin typeface="DejaVu Sans"/>
            </a:endParaRPr>
          </a:p>
        </p:txBody>
      </p:sp>
      <p:sp>
        <p:nvSpPr>
          <p:cNvPr id="412"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CAAD9DE-558C-4F09-A228-87E3AAB19D87}" type="slidenum">
              <a:rPr b="0" lang="en-US" sz="1200" spc="-1" strike="noStrike">
                <a:solidFill>
                  <a:schemeClr val="dk1"/>
                </a:solidFill>
                <a:latin typeface="+mn-lt"/>
                <a:ea typeface="+mn-ea"/>
              </a:rPr>
              <a:t>&lt;number&gt;</a:t>
            </a:fld>
            <a:endParaRPr b="0" lang="en-US" sz="1200" spc="-1" strike="noStrike">
              <a:solidFill>
                <a:srgbClr val="000000"/>
              </a:solidFill>
              <a:latin typeface="DejaVu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rial"/>
              </a:rPr>
              <a:t>Click to edit the outline text format</a:t>
            </a:r>
            <a:endParaRPr b="0" lang="en-US"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Arial"/>
              </a:rPr>
              <a:t>Second Outline Level</a:t>
            </a:r>
            <a:endParaRPr b="0" lang="en-US" sz="24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Arial"/>
              </a:rPr>
              <a:t>Third Outline Level</a:t>
            </a:r>
            <a:endParaRPr b="0" lang="en-US" sz="20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Arial"/>
              </a:rPr>
              <a:t>Fourth Outline Level</a:t>
            </a:r>
            <a:endParaRPr b="0" lang="en-US" sz="20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02630"/>
        </a:solidFill>
      </p:bgPr>
    </p:bg>
    <p:spTree>
      <p:nvGrpSpPr>
        <p:cNvPr id="1" name=""/>
        <p:cNvGrpSpPr/>
        <p:nvPr/>
      </p:nvGrpSpPr>
      <p:grpSpPr>
        <a:xfrm>
          <a:off x="0" y="0"/>
          <a:ext cx="0" cy="0"/>
          <a:chOff x="0" y="0"/>
          <a:chExt cx="0" cy="0"/>
        </a:xfrm>
      </p:grpSpPr>
      <p:sp>
        <p:nvSpPr>
          <p:cNvPr id="8" name="Text 0"/>
          <p:cNvSpPr/>
          <p:nvPr/>
        </p:nvSpPr>
        <p:spPr>
          <a:xfrm>
            <a:off x="567000" y="384120"/>
            <a:ext cx="78634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37" strike="noStrike">
                <a:solidFill>
                  <a:srgbClr val="b8c2cc"/>
                </a:solidFill>
                <a:latin typeface="Arial"/>
                <a:ea typeface="Arial"/>
              </a:rPr>
              <a:t>PETase MANUSCRIPT  ·  JCIM TOC GRAPHIC REVIEW</a:t>
            </a:r>
            <a:endParaRPr b="0" lang="en-US" sz="1000" spc="-1" strike="noStrike">
              <a:solidFill>
                <a:srgbClr val="ffffff"/>
              </a:solidFill>
              <a:latin typeface="DejaVu Sans"/>
            </a:endParaRPr>
          </a:p>
        </p:txBody>
      </p:sp>
      <p:sp>
        <p:nvSpPr>
          <p:cNvPr id="9" name="Text 1"/>
          <p:cNvSpPr/>
          <p:nvPr/>
        </p:nvSpPr>
        <p:spPr>
          <a:xfrm>
            <a:off x="567000" y="768240"/>
            <a:ext cx="9966600" cy="6944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200" spc="-1" strike="noStrike">
                <a:solidFill>
                  <a:srgbClr val="ffffff"/>
                </a:solidFill>
                <a:latin typeface="Arial"/>
                <a:ea typeface="Arial"/>
              </a:rPr>
              <a:t>What should readers grasp in 3 seconds?</a:t>
            </a:r>
            <a:endParaRPr b="0" lang="en-US" sz="3200" spc="-1" strike="noStrike">
              <a:solidFill>
                <a:srgbClr val="ffffff"/>
              </a:solidFill>
              <a:latin typeface="DejaVu Sans"/>
            </a:endParaRPr>
          </a:p>
        </p:txBody>
      </p:sp>
      <p:sp>
        <p:nvSpPr>
          <p:cNvPr id="10" name="Text 2"/>
          <p:cNvSpPr/>
          <p:nvPr/>
        </p:nvSpPr>
        <p:spPr>
          <a:xfrm>
            <a:off x="585360" y="1536120"/>
            <a:ext cx="859500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20" spc="-1" strike="noStrike">
                <a:solidFill>
                  <a:srgbClr val="dce3e9"/>
                </a:solidFill>
                <a:latin typeface="Arial"/>
                <a:ea typeface="Arial"/>
              </a:rPr>
              <a:t>5 design directions  ·  one evidence standard  ·  one submission recommendation</a:t>
            </a:r>
            <a:endParaRPr b="0" lang="en-US" sz="1520" spc="-1" strike="noStrike">
              <a:solidFill>
                <a:srgbClr val="ffffff"/>
              </a:solidFill>
              <a:latin typeface="DejaVu Sans"/>
            </a:endParaRPr>
          </a:p>
        </p:txBody>
      </p:sp>
      <p:sp>
        <p:nvSpPr>
          <p:cNvPr id="11" name="Shape 3"/>
          <p:cNvSpPr/>
          <p:nvPr/>
        </p:nvSpPr>
        <p:spPr>
          <a:xfrm>
            <a:off x="10716840" y="3931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2" name="Text 4"/>
          <p:cNvSpPr/>
          <p:nvPr/>
        </p:nvSpPr>
        <p:spPr>
          <a:xfrm>
            <a:off x="10716840" y="4024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ffffff"/>
              </a:solidFill>
              <a:latin typeface="DejaVu Sans"/>
            </a:endParaRPr>
          </a:p>
        </p:txBody>
      </p:sp>
      <p:sp>
        <p:nvSpPr>
          <p:cNvPr id="13" name="Shape 5"/>
          <p:cNvSpPr/>
          <p:nvPr/>
        </p:nvSpPr>
        <p:spPr>
          <a:xfrm>
            <a:off x="11256120" y="3931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4" name="Text 6"/>
          <p:cNvSpPr/>
          <p:nvPr/>
        </p:nvSpPr>
        <p:spPr>
          <a:xfrm>
            <a:off x="11256120" y="4024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ffffff"/>
              </a:solidFill>
              <a:latin typeface="DejaVu Sans"/>
            </a:endParaRPr>
          </a:p>
        </p:txBody>
      </p:sp>
      <p:sp>
        <p:nvSpPr>
          <p:cNvPr id="15" name="Shape 7"/>
          <p:cNvSpPr/>
          <p:nvPr/>
        </p:nvSpPr>
        <p:spPr>
          <a:xfrm>
            <a:off x="11192040" y="507240"/>
            <a:ext cx="73080" cy="360"/>
          </a:xfrm>
          <a:prstGeom prst="line">
            <a:avLst/>
          </a:prstGeom>
          <a:ln w="15240">
            <a:solidFill>
              <a:srgbClr val="56616f"/>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DejaVu Sans"/>
            </a:endParaRPr>
          </a:p>
        </p:txBody>
      </p:sp>
      <p:sp>
        <p:nvSpPr>
          <p:cNvPr id="16" name="Shape 8"/>
          <p:cNvSpPr/>
          <p:nvPr/>
        </p:nvSpPr>
        <p:spPr>
          <a:xfrm>
            <a:off x="567000" y="2176200"/>
            <a:ext cx="2139480" cy="1965600"/>
          </a:xfrm>
          <a:prstGeom prst="roundRect">
            <a:avLst>
              <a:gd name="adj" fmla="val 3721"/>
            </a:avLst>
          </a:prstGeom>
          <a:solidFill>
            <a:srgbClr val="303844"/>
          </a:solidFill>
          <a:ln w="8890">
            <a:solidFill>
              <a:srgbClr val="5661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pic>
        <p:nvPicPr>
          <p:cNvPr id="17" name="Image 0" descr="TOC graphic option A: Molecular funnel"/>
          <p:cNvPicPr/>
          <p:nvPr/>
        </p:nvPicPr>
        <p:blipFill>
          <a:blip r:embed="rId1"/>
          <a:stretch/>
        </p:blipFill>
        <p:spPr>
          <a:xfrm>
            <a:off x="640080" y="2277000"/>
            <a:ext cx="1992960" cy="1074240"/>
          </a:xfrm>
          <a:prstGeom prst="rect">
            <a:avLst/>
          </a:prstGeom>
          <a:ln w="0">
            <a:noFill/>
          </a:ln>
        </p:spPr>
      </p:pic>
      <p:sp>
        <p:nvSpPr>
          <p:cNvPr id="18" name="Shape 9"/>
          <p:cNvSpPr/>
          <p:nvPr/>
        </p:nvSpPr>
        <p:spPr>
          <a:xfrm>
            <a:off x="676800" y="3547800"/>
            <a:ext cx="310680" cy="310680"/>
          </a:xfrm>
          <a:prstGeom prst="ellipse">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9" name="Text 10"/>
          <p:cNvSpPr/>
          <p:nvPr/>
        </p:nvSpPr>
        <p:spPr>
          <a:xfrm>
            <a:off x="676800" y="355716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A</a:t>
            </a:r>
            <a:endParaRPr b="0" lang="en-US" sz="1000" spc="-1" strike="noStrike">
              <a:solidFill>
                <a:srgbClr val="ffffff"/>
              </a:solidFill>
              <a:latin typeface="DejaVu Sans"/>
            </a:endParaRPr>
          </a:p>
        </p:txBody>
      </p:sp>
      <p:sp>
        <p:nvSpPr>
          <p:cNvPr id="20" name="Text 11"/>
          <p:cNvSpPr/>
          <p:nvPr/>
        </p:nvSpPr>
        <p:spPr>
          <a:xfrm>
            <a:off x="1060560" y="3529440"/>
            <a:ext cx="15174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20" spc="-1" strike="noStrike">
                <a:solidFill>
                  <a:srgbClr val="ffffff"/>
                </a:solidFill>
                <a:latin typeface="Arial"/>
                <a:ea typeface="Arial"/>
              </a:rPr>
              <a:t>Molecular funnel</a:t>
            </a:r>
            <a:endParaRPr b="0" lang="en-US" sz="1220" spc="-1" strike="noStrike">
              <a:solidFill>
                <a:srgbClr val="ffffff"/>
              </a:solidFill>
              <a:latin typeface="DejaVu Sans"/>
            </a:endParaRPr>
          </a:p>
        </p:txBody>
      </p:sp>
      <p:sp>
        <p:nvSpPr>
          <p:cNvPr id="21" name="Shape 12"/>
          <p:cNvSpPr/>
          <p:nvPr/>
        </p:nvSpPr>
        <p:spPr>
          <a:xfrm>
            <a:off x="2843640" y="2176200"/>
            <a:ext cx="2139480" cy="1965600"/>
          </a:xfrm>
          <a:prstGeom prst="roundRect">
            <a:avLst>
              <a:gd name="adj" fmla="val 3721"/>
            </a:avLst>
          </a:prstGeom>
          <a:solidFill>
            <a:srgbClr val="303844"/>
          </a:solidFill>
          <a:ln w="8890">
            <a:solidFill>
              <a:srgbClr val="5661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pic>
        <p:nvPicPr>
          <p:cNvPr id="22" name="Image 1" descr="TOC graphic option B: Icon schematic"/>
          <p:cNvPicPr/>
          <p:nvPr/>
        </p:nvPicPr>
        <p:blipFill>
          <a:blip r:embed="rId2"/>
          <a:stretch/>
        </p:blipFill>
        <p:spPr>
          <a:xfrm>
            <a:off x="2917080" y="2277000"/>
            <a:ext cx="1992960" cy="1074240"/>
          </a:xfrm>
          <a:prstGeom prst="rect">
            <a:avLst/>
          </a:prstGeom>
          <a:ln w="0">
            <a:noFill/>
          </a:ln>
        </p:spPr>
      </p:pic>
      <p:sp>
        <p:nvSpPr>
          <p:cNvPr id="23" name="Shape 13"/>
          <p:cNvSpPr/>
          <p:nvPr/>
        </p:nvSpPr>
        <p:spPr>
          <a:xfrm>
            <a:off x="2953440" y="3547800"/>
            <a:ext cx="310680" cy="310680"/>
          </a:xfrm>
          <a:prstGeom prst="ellipse">
            <a:avLst/>
          </a:prstGeom>
          <a:solidFill>
            <a:srgbClr val="a87908"/>
          </a:solidFill>
          <a:ln w="12700">
            <a:solidFill>
              <a:srgbClr val="a8790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4" name="Text 14"/>
          <p:cNvSpPr/>
          <p:nvPr/>
        </p:nvSpPr>
        <p:spPr>
          <a:xfrm>
            <a:off x="2953440" y="355716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B</a:t>
            </a:r>
            <a:endParaRPr b="0" lang="en-US" sz="1000" spc="-1" strike="noStrike">
              <a:solidFill>
                <a:srgbClr val="ffffff"/>
              </a:solidFill>
              <a:latin typeface="DejaVu Sans"/>
            </a:endParaRPr>
          </a:p>
        </p:txBody>
      </p:sp>
      <p:sp>
        <p:nvSpPr>
          <p:cNvPr id="25" name="Text 15"/>
          <p:cNvSpPr/>
          <p:nvPr/>
        </p:nvSpPr>
        <p:spPr>
          <a:xfrm>
            <a:off x="3337560" y="3529440"/>
            <a:ext cx="15174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20" spc="-1" strike="noStrike">
                <a:solidFill>
                  <a:srgbClr val="ffffff"/>
                </a:solidFill>
                <a:latin typeface="Arial"/>
                <a:ea typeface="Arial"/>
              </a:rPr>
              <a:t>Icon schematic</a:t>
            </a:r>
            <a:endParaRPr b="0" lang="en-US" sz="1220" spc="-1" strike="noStrike">
              <a:solidFill>
                <a:srgbClr val="ffffff"/>
              </a:solidFill>
              <a:latin typeface="DejaVu Sans"/>
            </a:endParaRPr>
          </a:p>
        </p:txBody>
      </p:sp>
      <p:sp>
        <p:nvSpPr>
          <p:cNvPr id="26" name="Shape 16"/>
          <p:cNvSpPr/>
          <p:nvPr/>
        </p:nvSpPr>
        <p:spPr>
          <a:xfrm>
            <a:off x="5120640" y="2176200"/>
            <a:ext cx="2139480" cy="1965600"/>
          </a:xfrm>
          <a:prstGeom prst="roundRect">
            <a:avLst>
              <a:gd name="adj" fmla="val 3721"/>
            </a:avLst>
          </a:prstGeom>
          <a:solidFill>
            <a:srgbClr val="303844"/>
          </a:solidFill>
          <a:ln w="8890">
            <a:solidFill>
              <a:srgbClr val="5661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pic>
        <p:nvPicPr>
          <p:cNvPr id="27" name="Image 2" descr="TOC graphic option C: Molecular grid"/>
          <p:cNvPicPr/>
          <p:nvPr/>
        </p:nvPicPr>
        <p:blipFill>
          <a:blip r:embed="rId3"/>
          <a:stretch/>
        </p:blipFill>
        <p:spPr>
          <a:xfrm>
            <a:off x="5193720" y="2277000"/>
            <a:ext cx="1992960" cy="1074240"/>
          </a:xfrm>
          <a:prstGeom prst="rect">
            <a:avLst/>
          </a:prstGeom>
          <a:ln w="0">
            <a:noFill/>
          </a:ln>
        </p:spPr>
      </p:pic>
      <p:sp>
        <p:nvSpPr>
          <p:cNvPr id="28" name="Shape 17"/>
          <p:cNvSpPr/>
          <p:nvPr/>
        </p:nvSpPr>
        <p:spPr>
          <a:xfrm>
            <a:off x="5230440" y="3547800"/>
            <a:ext cx="310680" cy="310680"/>
          </a:xfrm>
          <a:prstGeom prst="ellipse">
            <a:avLst/>
          </a:prstGeom>
          <a:solidFill>
            <a:srgbClr val="8064a2"/>
          </a:solidFill>
          <a:ln w="12700">
            <a:solidFill>
              <a:srgbClr val="8064a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9" name="Text 18"/>
          <p:cNvSpPr/>
          <p:nvPr/>
        </p:nvSpPr>
        <p:spPr>
          <a:xfrm>
            <a:off x="5230440" y="355716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C</a:t>
            </a:r>
            <a:endParaRPr b="0" lang="en-US" sz="1000" spc="-1" strike="noStrike">
              <a:solidFill>
                <a:srgbClr val="ffffff"/>
              </a:solidFill>
              <a:latin typeface="DejaVu Sans"/>
            </a:endParaRPr>
          </a:p>
        </p:txBody>
      </p:sp>
      <p:sp>
        <p:nvSpPr>
          <p:cNvPr id="30" name="Text 19"/>
          <p:cNvSpPr/>
          <p:nvPr/>
        </p:nvSpPr>
        <p:spPr>
          <a:xfrm>
            <a:off x="5614560" y="3529440"/>
            <a:ext cx="15174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20" spc="-1" strike="noStrike">
                <a:solidFill>
                  <a:srgbClr val="ffffff"/>
                </a:solidFill>
                <a:latin typeface="Arial"/>
                <a:ea typeface="Arial"/>
              </a:rPr>
              <a:t>Molecular grid</a:t>
            </a:r>
            <a:endParaRPr b="0" lang="en-US" sz="1220" spc="-1" strike="noStrike">
              <a:solidFill>
                <a:srgbClr val="ffffff"/>
              </a:solidFill>
              <a:latin typeface="DejaVu Sans"/>
            </a:endParaRPr>
          </a:p>
        </p:txBody>
      </p:sp>
      <p:sp>
        <p:nvSpPr>
          <p:cNvPr id="31" name="Shape 20"/>
          <p:cNvSpPr/>
          <p:nvPr/>
        </p:nvSpPr>
        <p:spPr>
          <a:xfrm>
            <a:off x="7397640" y="2176200"/>
            <a:ext cx="2139480" cy="1965600"/>
          </a:xfrm>
          <a:prstGeom prst="roundRect">
            <a:avLst>
              <a:gd name="adj" fmla="val 3721"/>
            </a:avLst>
          </a:prstGeom>
          <a:solidFill>
            <a:srgbClr val="303844"/>
          </a:solidFill>
          <a:ln w="8890">
            <a:solidFill>
              <a:srgbClr val="5661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pic>
        <p:nvPicPr>
          <p:cNvPr id="32" name="Image 3" descr="TOC graphic option D: Hero concept"/>
          <p:cNvPicPr/>
          <p:nvPr/>
        </p:nvPicPr>
        <p:blipFill>
          <a:blip r:embed="rId4"/>
          <a:stretch/>
        </p:blipFill>
        <p:spPr>
          <a:xfrm>
            <a:off x="7470720" y="2277000"/>
            <a:ext cx="1992960" cy="1074240"/>
          </a:xfrm>
          <a:prstGeom prst="rect">
            <a:avLst/>
          </a:prstGeom>
          <a:ln w="0">
            <a:noFill/>
          </a:ln>
        </p:spPr>
      </p:pic>
      <p:sp>
        <p:nvSpPr>
          <p:cNvPr id="33" name="Shape 21"/>
          <p:cNvSpPr/>
          <p:nvPr/>
        </p:nvSpPr>
        <p:spPr>
          <a:xfrm>
            <a:off x="7507080" y="3547800"/>
            <a:ext cx="310680" cy="310680"/>
          </a:xfrm>
          <a:prstGeom prst="ellipse">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 name="Text 22"/>
          <p:cNvSpPr/>
          <p:nvPr/>
        </p:nvSpPr>
        <p:spPr>
          <a:xfrm>
            <a:off x="7507080" y="355716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D</a:t>
            </a:r>
            <a:endParaRPr b="0" lang="en-US" sz="1000" spc="-1" strike="noStrike">
              <a:solidFill>
                <a:srgbClr val="ffffff"/>
              </a:solidFill>
              <a:latin typeface="DejaVu Sans"/>
            </a:endParaRPr>
          </a:p>
        </p:txBody>
      </p:sp>
      <p:sp>
        <p:nvSpPr>
          <p:cNvPr id="35" name="Text 23"/>
          <p:cNvSpPr/>
          <p:nvPr/>
        </p:nvSpPr>
        <p:spPr>
          <a:xfrm>
            <a:off x="7891200" y="3529440"/>
            <a:ext cx="15174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20" spc="-1" strike="noStrike">
                <a:solidFill>
                  <a:srgbClr val="ffffff"/>
                </a:solidFill>
                <a:latin typeface="Arial"/>
                <a:ea typeface="Arial"/>
              </a:rPr>
              <a:t>Hero concept</a:t>
            </a:r>
            <a:endParaRPr b="0" lang="en-US" sz="1220" spc="-1" strike="noStrike">
              <a:solidFill>
                <a:srgbClr val="ffffff"/>
              </a:solidFill>
              <a:latin typeface="DejaVu Sans"/>
            </a:endParaRPr>
          </a:p>
        </p:txBody>
      </p:sp>
      <p:sp>
        <p:nvSpPr>
          <p:cNvPr id="36" name="Shape 24"/>
          <p:cNvSpPr/>
          <p:nvPr/>
        </p:nvSpPr>
        <p:spPr>
          <a:xfrm>
            <a:off x="9674280" y="2176200"/>
            <a:ext cx="2139480" cy="1965600"/>
          </a:xfrm>
          <a:prstGeom prst="roundRect">
            <a:avLst>
              <a:gd name="adj" fmla="val 3721"/>
            </a:avLst>
          </a:prstGeom>
          <a:solidFill>
            <a:srgbClr val="303844"/>
          </a:solidFill>
          <a:ln w="8890">
            <a:solidFill>
              <a:srgbClr val="56616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pic>
        <p:nvPicPr>
          <p:cNvPr id="37" name="Image 4" descr="TOC graphic option E: Fingerprints"/>
          <p:cNvPicPr/>
          <p:nvPr/>
        </p:nvPicPr>
        <p:blipFill>
          <a:blip r:embed="rId5"/>
          <a:stretch/>
        </p:blipFill>
        <p:spPr>
          <a:xfrm>
            <a:off x="9747360" y="2277000"/>
            <a:ext cx="1992960" cy="1074240"/>
          </a:xfrm>
          <a:prstGeom prst="rect">
            <a:avLst/>
          </a:prstGeom>
          <a:ln w="0">
            <a:noFill/>
          </a:ln>
        </p:spPr>
      </p:pic>
      <p:sp>
        <p:nvSpPr>
          <p:cNvPr id="38" name="Shape 25"/>
          <p:cNvSpPr/>
          <p:nvPr/>
        </p:nvSpPr>
        <p:spPr>
          <a:xfrm>
            <a:off x="9784080" y="3547800"/>
            <a:ext cx="310680" cy="310680"/>
          </a:xfrm>
          <a:prstGeom prst="ellipse">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9" name="Text 26"/>
          <p:cNvSpPr/>
          <p:nvPr/>
        </p:nvSpPr>
        <p:spPr>
          <a:xfrm>
            <a:off x="9784080" y="355716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E</a:t>
            </a:r>
            <a:endParaRPr b="0" lang="en-US" sz="1000" spc="-1" strike="noStrike">
              <a:solidFill>
                <a:srgbClr val="ffffff"/>
              </a:solidFill>
              <a:latin typeface="DejaVu Sans"/>
            </a:endParaRPr>
          </a:p>
        </p:txBody>
      </p:sp>
      <p:sp>
        <p:nvSpPr>
          <p:cNvPr id="40" name="Text 27"/>
          <p:cNvSpPr/>
          <p:nvPr/>
        </p:nvSpPr>
        <p:spPr>
          <a:xfrm>
            <a:off x="10168200" y="3529440"/>
            <a:ext cx="15174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20" spc="-1" strike="noStrike">
                <a:solidFill>
                  <a:srgbClr val="ffffff"/>
                </a:solidFill>
                <a:latin typeface="Arial"/>
                <a:ea typeface="Arial"/>
              </a:rPr>
              <a:t>Fingerprints</a:t>
            </a:r>
            <a:endParaRPr b="0" lang="en-US" sz="1220" spc="-1" strike="noStrike">
              <a:solidFill>
                <a:srgbClr val="ffffff"/>
              </a:solidFill>
              <a:latin typeface="DejaVu Sans"/>
            </a:endParaRPr>
          </a:p>
        </p:txBody>
      </p:sp>
      <p:sp>
        <p:nvSpPr>
          <p:cNvPr id="41" name="Shape 28"/>
          <p:cNvSpPr/>
          <p:nvPr/>
        </p:nvSpPr>
        <p:spPr>
          <a:xfrm>
            <a:off x="567000" y="4700160"/>
            <a:ext cx="11018160" cy="1005480"/>
          </a:xfrm>
          <a:prstGeom prst="roundRect">
            <a:avLst>
              <a:gd name="adj" fmla="val 9091"/>
            </a:avLst>
          </a:prstGeom>
          <a:solidFill>
            <a:srgbClr val="2b333e"/>
          </a:solidFill>
          <a:ln w="8890">
            <a:solidFill>
              <a:srgbClr val="47526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42" name="Text 29"/>
          <p:cNvSpPr/>
          <p:nvPr/>
        </p:nvSpPr>
        <p:spPr>
          <a:xfrm>
            <a:off x="841320" y="4910400"/>
            <a:ext cx="1023840" cy="255600"/>
          </a:xfrm>
          <a:prstGeom prst="rect">
            <a:avLst/>
          </a:prstGeom>
          <a:noFill/>
          <a:ln w="0">
            <a:noFill/>
          </a:ln>
        </p:spPr>
        <p:style>
          <a:lnRef idx="0"/>
          <a:fillRef idx="0"/>
          <a:effectRef idx="0"/>
          <a:fontRef idx="minor"/>
        </p:style>
        <p:txBody>
          <a:bodyPr lIns="0" rIns="0" tIns="0" bIns="0" anchor="ctr">
            <a:normAutofit fontScale="93333"/>
          </a:bodyPr>
          <a:p>
            <a:pPr defTabSz="914400">
              <a:lnSpc>
                <a:spcPct val="100000"/>
              </a:lnSpc>
              <a:tabLst>
                <a:tab algn="l" pos="0"/>
              </a:tabLst>
            </a:pPr>
            <a:r>
              <a:rPr b="1" lang="en-US" sz="1250" spc="-1" strike="noStrike">
                <a:solidFill>
                  <a:srgbClr val="aeb8c2"/>
                </a:solidFill>
                <a:latin typeface="Arial"/>
                <a:ea typeface="Arial"/>
              </a:rPr>
              <a:t>Core message</a:t>
            </a:r>
            <a:endParaRPr b="0" lang="en-US" sz="1250" spc="-1" strike="noStrike">
              <a:solidFill>
                <a:srgbClr val="ffffff"/>
              </a:solidFill>
              <a:latin typeface="DejaVu Sans"/>
            </a:endParaRPr>
          </a:p>
        </p:txBody>
      </p:sp>
      <p:sp>
        <p:nvSpPr>
          <p:cNvPr id="43" name="Text 30"/>
          <p:cNvSpPr/>
          <p:nvPr/>
        </p:nvSpPr>
        <p:spPr>
          <a:xfrm>
            <a:off x="1938600" y="4809600"/>
            <a:ext cx="9097920" cy="429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50" spc="-1" strike="noStrike">
                <a:solidFill>
                  <a:srgbClr val="ffffff"/>
                </a:solidFill>
                <a:latin typeface="Arial"/>
                <a:ea typeface="Arial"/>
              </a:rPr>
              <a:t>PET chain length remodels retained interfaces differently</a:t>
            </a:r>
            <a:endParaRPr b="0" lang="en-US" sz="2250" spc="-1" strike="noStrike">
              <a:solidFill>
                <a:srgbClr val="ffffff"/>
              </a:solidFill>
              <a:latin typeface="DejaVu Sans"/>
            </a:endParaRPr>
          </a:p>
        </p:txBody>
      </p:sp>
      <p:sp>
        <p:nvSpPr>
          <p:cNvPr id="44" name="Text 31"/>
          <p:cNvSpPr/>
          <p:nvPr/>
        </p:nvSpPr>
        <p:spPr>
          <a:xfrm>
            <a:off x="1947600" y="5266800"/>
            <a:ext cx="89607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40" spc="-1" strike="noStrike">
                <a:solidFill>
                  <a:srgbClr val="c6d0d8"/>
                </a:solidFill>
                <a:latin typeface="Arial"/>
                <a:ea typeface="Arial"/>
              </a:rPr>
              <a:t>Not stronger binding, but enzyme-specific remodeling of retained interfaces.</a:t>
            </a:r>
            <a:endParaRPr b="0" lang="en-US" sz="1240" spc="-1" strike="noStrike">
              <a:solidFill>
                <a:srgbClr val="ffffff"/>
              </a:solidFill>
              <a:latin typeface="DejaVu Sans"/>
            </a:endParaRPr>
          </a:p>
        </p:txBody>
      </p:sp>
      <p:sp>
        <p:nvSpPr>
          <p:cNvPr id="45" name="Text 32"/>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aeb8c2"/>
                </a:solidFill>
                <a:latin typeface="Arial"/>
                <a:ea typeface="Arial"/>
              </a:rPr>
              <a:t>PETase manuscript · TOC graphic review</a:t>
            </a:r>
            <a:endParaRPr b="0" lang="en-US" sz="880" spc="-1" strike="noStrike">
              <a:solidFill>
                <a:srgbClr val="ffffff"/>
              </a:solidFill>
              <a:latin typeface="DejaVu Sans"/>
            </a:endParaRPr>
          </a:p>
        </p:txBody>
      </p:sp>
      <p:sp>
        <p:nvSpPr>
          <p:cNvPr id="46" name="Text 33"/>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aeb8c2"/>
                </a:solidFill>
                <a:latin typeface="Arial"/>
                <a:ea typeface="Arial"/>
              </a:rPr>
              <a:t>01</a:t>
            </a:r>
            <a:endParaRPr b="0" lang="en-US" sz="920" spc="-1" strike="noStrike">
              <a:solidFill>
                <a:srgbClr val="ffffff"/>
              </a:solidFill>
              <a:latin typeface="DejaVu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47" name="Text 0"/>
          <p:cNvSpPr/>
          <p:nvPr/>
        </p:nvSpPr>
        <p:spPr>
          <a:xfrm>
            <a:off x="530280" y="219600"/>
            <a:ext cx="71319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pc="128" strike="noStrike">
                <a:solidFill>
                  <a:srgbClr val="657180"/>
                </a:solidFill>
                <a:latin typeface="Arial"/>
                <a:ea typeface="Arial"/>
              </a:rPr>
              <a:t>DESIGN CONTRACT</a:t>
            </a:r>
            <a:endParaRPr b="0" lang="en-US" sz="950" spc="-1" strike="noStrike">
              <a:solidFill>
                <a:srgbClr val="000000"/>
              </a:solidFill>
              <a:latin typeface="DejaVu Sans"/>
            </a:endParaRPr>
          </a:p>
        </p:txBody>
      </p:sp>
      <p:sp>
        <p:nvSpPr>
          <p:cNvPr id="48" name="Text 1"/>
          <p:cNvSpPr/>
          <p:nvPr/>
        </p:nvSpPr>
        <p:spPr>
          <a:xfrm>
            <a:off x="530280" y="484560"/>
            <a:ext cx="105152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850" spc="-1" strike="noStrike">
                <a:solidFill>
                  <a:srgbClr val="252a34"/>
                </a:solidFill>
                <a:latin typeface="Arial"/>
                <a:ea typeface="Arial"/>
              </a:rPr>
              <a:t>Define the scientific task before styling</a:t>
            </a:r>
            <a:endParaRPr b="0" lang="en-US" sz="2850" spc="-1" strike="noStrike">
              <a:solidFill>
                <a:srgbClr val="000000"/>
              </a:solidFill>
              <a:latin typeface="DejaVu Sans"/>
            </a:endParaRPr>
          </a:p>
        </p:txBody>
      </p:sp>
      <p:sp>
        <p:nvSpPr>
          <p:cNvPr id="49" name="Shape 2"/>
          <p:cNvSpPr/>
          <p:nvPr/>
        </p:nvSpPr>
        <p:spPr>
          <a:xfrm>
            <a:off x="10716840" y="2833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50" name="Text 3"/>
          <p:cNvSpPr/>
          <p:nvPr/>
        </p:nvSpPr>
        <p:spPr>
          <a:xfrm>
            <a:off x="1071684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000000"/>
              </a:solidFill>
              <a:latin typeface="DejaVu Sans"/>
            </a:endParaRPr>
          </a:p>
        </p:txBody>
      </p:sp>
      <p:sp>
        <p:nvSpPr>
          <p:cNvPr id="51" name="Shape 4"/>
          <p:cNvSpPr/>
          <p:nvPr/>
        </p:nvSpPr>
        <p:spPr>
          <a:xfrm>
            <a:off x="11256120" y="2833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52" name="Text 5"/>
          <p:cNvSpPr/>
          <p:nvPr/>
        </p:nvSpPr>
        <p:spPr>
          <a:xfrm>
            <a:off x="1125612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000000"/>
              </a:solidFill>
              <a:latin typeface="DejaVu Sans"/>
            </a:endParaRPr>
          </a:p>
        </p:txBody>
      </p:sp>
      <p:sp>
        <p:nvSpPr>
          <p:cNvPr id="53" name="Shape 6"/>
          <p:cNvSpPr/>
          <p:nvPr/>
        </p:nvSpPr>
        <p:spPr>
          <a:xfrm>
            <a:off x="11192040" y="397440"/>
            <a:ext cx="73080" cy="360"/>
          </a:xfrm>
          <a:prstGeom prst="line">
            <a:avLst/>
          </a:prstGeom>
          <a:ln w="15240">
            <a:solidFill>
              <a:srgbClr val="d7de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DejaVu Sans"/>
            </a:endParaRPr>
          </a:p>
        </p:txBody>
      </p:sp>
      <p:sp>
        <p:nvSpPr>
          <p:cNvPr id="54" name="Text 7"/>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8a96a3"/>
                </a:solidFill>
                <a:latin typeface="Arial"/>
                <a:ea typeface="Arial"/>
              </a:rPr>
              <a:t>PETase manuscript · TOC graphic review</a:t>
            </a:r>
            <a:endParaRPr b="0" lang="en-US" sz="880" spc="-1" strike="noStrike">
              <a:solidFill>
                <a:srgbClr val="000000"/>
              </a:solidFill>
              <a:latin typeface="DejaVu Sans"/>
            </a:endParaRPr>
          </a:p>
        </p:txBody>
      </p:sp>
      <p:sp>
        <p:nvSpPr>
          <p:cNvPr id="55" name="Text 8"/>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8a96a3"/>
                </a:solidFill>
                <a:latin typeface="Arial"/>
                <a:ea typeface="Arial"/>
              </a:rPr>
              <a:t>02</a:t>
            </a:r>
            <a:endParaRPr b="0" lang="en-US" sz="920" spc="-1" strike="noStrike">
              <a:solidFill>
                <a:srgbClr val="000000"/>
              </a:solidFill>
              <a:latin typeface="DejaVu Sans"/>
            </a:endParaRPr>
          </a:p>
        </p:txBody>
      </p:sp>
      <p:sp>
        <p:nvSpPr>
          <p:cNvPr id="56" name="Shape 9"/>
          <p:cNvSpPr/>
          <p:nvPr/>
        </p:nvSpPr>
        <p:spPr>
          <a:xfrm>
            <a:off x="567000" y="1225440"/>
            <a:ext cx="2541600" cy="1124280"/>
          </a:xfrm>
          <a:prstGeom prst="roundRect">
            <a:avLst>
              <a:gd name="adj" fmla="val 6504"/>
            </a:avLst>
          </a:prstGeom>
          <a:solidFill>
            <a:srgbClr val="ffffff"/>
          </a:solidFill>
          <a:ln w="10160">
            <a:solidFill>
              <a:srgbClr val="d8dee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57" name="Text 10"/>
          <p:cNvSpPr/>
          <p:nvPr/>
        </p:nvSpPr>
        <p:spPr>
          <a:xfrm>
            <a:off x="731520" y="1362600"/>
            <a:ext cx="868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252a34"/>
                </a:solidFill>
                <a:latin typeface="Arial"/>
                <a:ea typeface="Arial"/>
              </a:rPr>
              <a:t>126</a:t>
            </a:r>
            <a:endParaRPr b="0" lang="en-US" sz="2900" spc="-1" strike="noStrike">
              <a:solidFill>
                <a:srgbClr val="000000"/>
              </a:solidFill>
              <a:latin typeface="DejaVu Sans"/>
            </a:endParaRPr>
          </a:p>
        </p:txBody>
      </p:sp>
      <p:sp>
        <p:nvSpPr>
          <p:cNvPr id="58" name="Text 11"/>
          <p:cNvSpPr/>
          <p:nvPr/>
        </p:nvSpPr>
        <p:spPr>
          <a:xfrm>
            <a:off x="1563480" y="1398960"/>
            <a:ext cx="1352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pc="-1" strike="noStrike">
                <a:solidFill>
                  <a:srgbClr val="252a34"/>
                </a:solidFill>
                <a:latin typeface="Arial"/>
                <a:ea typeface="Arial"/>
              </a:rPr>
              <a:t>independent</a:t>
            </a:r>
            <a:endParaRPr b="0" lang="en-US" sz="1230" spc="-1" strike="noStrike">
              <a:solidFill>
                <a:srgbClr val="000000"/>
              </a:solidFill>
              <a:latin typeface="DejaVu Sans"/>
            </a:endParaRPr>
          </a:p>
          <a:p>
            <a:pPr defTabSz="914400">
              <a:lnSpc>
                <a:spcPct val="100000"/>
              </a:lnSpc>
              <a:tabLst>
                <a:tab algn="l" pos="0"/>
              </a:tabLst>
            </a:pPr>
            <a:r>
              <a:rPr b="1" lang="en-US" sz="1230" spc="-1" strike="noStrike">
                <a:solidFill>
                  <a:srgbClr val="252a34"/>
                </a:solidFill>
                <a:latin typeface="Arial"/>
                <a:ea typeface="Arial"/>
              </a:rPr>
              <a:t>100-ns MD runs</a:t>
            </a:r>
            <a:endParaRPr b="0" lang="en-US" sz="1230" spc="-1" strike="noStrike">
              <a:solidFill>
                <a:srgbClr val="000000"/>
              </a:solidFill>
              <a:latin typeface="DejaVu Sans"/>
            </a:endParaRPr>
          </a:p>
        </p:txBody>
      </p:sp>
      <p:sp>
        <p:nvSpPr>
          <p:cNvPr id="59" name="Text 12"/>
          <p:cNvSpPr/>
          <p:nvPr/>
        </p:nvSpPr>
        <p:spPr>
          <a:xfrm>
            <a:off x="740520" y="1929240"/>
            <a:ext cx="2057040" cy="191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657180"/>
                </a:solidFill>
                <a:latin typeface="Arial"/>
                <a:ea typeface="Arial"/>
              </a:rPr>
              <a:t>Study scale</a:t>
            </a:r>
            <a:endParaRPr b="0" lang="en-US" sz="980" spc="-1" strike="noStrike">
              <a:solidFill>
                <a:srgbClr val="000000"/>
              </a:solidFill>
              <a:latin typeface="DejaVu Sans"/>
            </a:endParaRPr>
          </a:p>
        </p:txBody>
      </p:sp>
      <p:sp>
        <p:nvSpPr>
          <p:cNvPr id="60" name="Shape 13"/>
          <p:cNvSpPr/>
          <p:nvPr/>
        </p:nvSpPr>
        <p:spPr>
          <a:xfrm>
            <a:off x="3355920" y="1225440"/>
            <a:ext cx="2541600" cy="1124280"/>
          </a:xfrm>
          <a:prstGeom prst="roundRect">
            <a:avLst>
              <a:gd name="adj" fmla="val 6504"/>
            </a:avLst>
          </a:prstGeom>
          <a:solidFill>
            <a:srgbClr val="eaf4f9"/>
          </a:solidFill>
          <a:ln w="1016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61" name="Text 14"/>
          <p:cNvSpPr/>
          <p:nvPr/>
        </p:nvSpPr>
        <p:spPr>
          <a:xfrm>
            <a:off x="3520440" y="1362600"/>
            <a:ext cx="868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2583b6"/>
                </a:solidFill>
                <a:latin typeface="Arial"/>
                <a:ea typeface="Arial"/>
              </a:rPr>
              <a:t>6</a:t>
            </a:r>
            <a:endParaRPr b="0" lang="en-US" sz="2900" spc="-1" strike="noStrike">
              <a:solidFill>
                <a:srgbClr val="000000"/>
              </a:solidFill>
              <a:latin typeface="DejaVu Sans"/>
            </a:endParaRPr>
          </a:p>
        </p:txBody>
      </p:sp>
      <p:sp>
        <p:nvSpPr>
          <p:cNvPr id="62" name="Text 15"/>
          <p:cNvSpPr/>
          <p:nvPr/>
        </p:nvSpPr>
        <p:spPr>
          <a:xfrm>
            <a:off x="4352400" y="1398960"/>
            <a:ext cx="1352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pc="-1" strike="noStrike">
                <a:solidFill>
                  <a:srgbClr val="252a34"/>
                </a:solidFill>
                <a:latin typeface="Arial"/>
                <a:ea typeface="Arial"/>
              </a:rPr>
              <a:t>natural PET hydrolases</a:t>
            </a:r>
            <a:endParaRPr b="0" lang="en-US" sz="1230" spc="-1" strike="noStrike">
              <a:solidFill>
                <a:srgbClr val="000000"/>
              </a:solidFill>
              <a:latin typeface="DejaVu Sans"/>
            </a:endParaRPr>
          </a:p>
        </p:txBody>
      </p:sp>
      <p:sp>
        <p:nvSpPr>
          <p:cNvPr id="63" name="Text 16"/>
          <p:cNvSpPr/>
          <p:nvPr/>
        </p:nvSpPr>
        <p:spPr>
          <a:xfrm>
            <a:off x="3529440" y="1929240"/>
            <a:ext cx="2057040" cy="191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657180"/>
                </a:solidFill>
                <a:latin typeface="Arial"/>
                <a:ea typeface="Arial"/>
              </a:rPr>
              <a:t>Comparison set</a:t>
            </a:r>
            <a:endParaRPr b="0" lang="en-US" sz="980" spc="-1" strike="noStrike">
              <a:solidFill>
                <a:srgbClr val="000000"/>
              </a:solidFill>
              <a:latin typeface="DejaVu Sans"/>
            </a:endParaRPr>
          </a:p>
        </p:txBody>
      </p:sp>
      <p:sp>
        <p:nvSpPr>
          <p:cNvPr id="64" name="Shape 17"/>
          <p:cNvSpPr/>
          <p:nvPr/>
        </p:nvSpPr>
        <p:spPr>
          <a:xfrm>
            <a:off x="6144840" y="1225440"/>
            <a:ext cx="2541600" cy="1124280"/>
          </a:xfrm>
          <a:prstGeom prst="roundRect">
            <a:avLst>
              <a:gd name="adj" fmla="val 6504"/>
            </a:avLst>
          </a:prstGeom>
          <a:solidFill>
            <a:srgbClr val="fbefe7"/>
          </a:solidFill>
          <a:ln w="1016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65" name="Text 18"/>
          <p:cNvSpPr/>
          <p:nvPr/>
        </p:nvSpPr>
        <p:spPr>
          <a:xfrm>
            <a:off x="6309360" y="1362600"/>
            <a:ext cx="868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d66a1f"/>
                </a:solidFill>
                <a:latin typeface="Arial"/>
                <a:ea typeface="Arial"/>
              </a:rPr>
              <a:t>71</a:t>
            </a:r>
            <a:endParaRPr b="0" lang="en-US" sz="2900" spc="-1" strike="noStrike">
              <a:solidFill>
                <a:srgbClr val="000000"/>
              </a:solidFill>
              <a:latin typeface="DejaVu Sans"/>
            </a:endParaRPr>
          </a:p>
        </p:txBody>
      </p:sp>
      <p:sp>
        <p:nvSpPr>
          <p:cNvPr id="66" name="Text 19"/>
          <p:cNvSpPr/>
          <p:nvPr/>
        </p:nvSpPr>
        <p:spPr>
          <a:xfrm>
            <a:off x="7141320" y="1398960"/>
            <a:ext cx="1352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pc="-1" strike="noStrike">
                <a:solidFill>
                  <a:srgbClr val="252a34"/>
                </a:solidFill>
                <a:latin typeface="Arial"/>
                <a:ea typeface="Arial"/>
              </a:rPr>
              <a:t>retained trajectories</a:t>
            </a:r>
            <a:endParaRPr b="0" lang="en-US" sz="1230" spc="-1" strike="noStrike">
              <a:solidFill>
                <a:srgbClr val="000000"/>
              </a:solidFill>
              <a:latin typeface="DejaVu Sans"/>
            </a:endParaRPr>
          </a:p>
        </p:txBody>
      </p:sp>
      <p:sp>
        <p:nvSpPr>
          <p:cNvPr id="67" name="Text 20"/>
          <p:cNvSpPr/>
          <p:nvPr/>
        </p:nvSpPr>
        <p:spPr>
          <a:xfrm>
            <a:off x="6318360" y="1929240"/>
            <a:ext cx="2057040" cy="191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657180"/>
                </a:solidFill>
                <a:latin typeface="Arial"/>
                <a:ea typeface="Arial"/>
              </a:rPr>
              <a:t>Analysis subset</a:t>
            </a:r>
            <a:endParaRPr b="0" lang="en-US" sz="980" spc="-1" strike="noStrike">
              <a:solidFill>
                <a:srgbClr val="000000"/>
              </a:solidFill>
              <a:latin typeface="DejaVu Sans"/>
            </a:endParaRPr>
          </a:p>
        </p:txBody>
      </p:sp>
      <p:sp>
        <p:nvSpPr>
          <p:cNvPr id="68" name="Shape 21"/>
          <p:cNvSpPr/>
          <p:nvPr/>
        </p:nvSpPr>
        <p:spPr>
          <a:xfrm>
            <a:off x="8933760" y="1225440"/>
            <a:ext cx="2541600" cy="1124280"/>
          </a:xfrm>
          <a:prstGeom prst="roundRect">
            <a:avLst>
              <a:gd name="adj" fmla="val 6504"/>
            </a:avLst>
          </a:prstGeom>
          <a:solidFill>
            <a:srgbClr val="e9f5ef"/>
          </a:solidFill>
          <a:ln w="1016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69" name="Text 22"/>
          <p:cNvSpPr/>
          <p:nvPr/>
        </p:nvSpPr>
        <p:spPr>
          <a:xfrm>
            <a:off x="9098280" y="1362600"/>
            <a:ext cx="86832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pc="-1" strike="noStrike">
                <a:solidFill>
                  <a:srgbClr val="2f8b62"/>
                </a:solidFill>
                <a:latin typeface="Arial"/>
                <a:ea typeface="Arial"/>
              </a:rPr>
              <a:t>8</a:t>
            </a:r>
            <a:endParaRPr b="0" lang="en-US" sz="2900" spc="-1" strike="noStrike">
              <a:solidFill>
                <a:srgbClr val="000000"/>
              </a:solidFill>
              <a:latin typeface="DejaVu Sans"/>
            </a:endParaRPr>
          </a:p>
        </p:txBody>
      </p:sp>
      <p:sp>
        <p:nvSpPr>
          <p:cNvPr id="70" name="Text 23"/>
          <p:cNvSpPr/>
          <p:nvPr/>
        </p:nvSpPr>
        <p:spPr>
          <a:xfrm>
            <a:off x="9930240" y="1398960"/>
            <a:ext cx="13528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pc="-1" strike="noStrike">
                <a:solidFill>
                  <a:srgbClr val="252a34"/>
                </a:solidFill>
                <a:latin typeface="Arial"/>
                <a:ea typeface="Arial"/>
              </a:rPr>
              <a:t>supported contact gains</a:t>
            </a:r>
            <a:endParaRPr b="0" lang="en-US" sz="1230" spc="-1" strike="noStrike">
              <a:solidFill>
                <a:srgbClr val="000000"/>
              </a:solidFill>
              <a:latin typeface="DejaVu Sans"/>
            </a:endParaRPr>
          </a:p>
        </p:txBody>
      </p:sp>
      <p:sp>
        <p:nvSpPr>
          <p:cNvPr id="71" name="Text 24"/>
          <p:cNvSpPr/>
          <p:nvPr/>
        </p:nvSpPr>
        <p:spPr>
          <a:xfrm>
            <a:off x="9107280" y="1929240"/>
            <a:ext cx="2057040" cy="191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80" spc="-1" strike="noStrike">
                <a:solidFill>
                  <a:srgbClr val="657180"/>
                </a:solidFill>
                <a:latin typeface="Arial"/>
                <a:ea typeface="Arial"/>
              </a:rPr>
              <a:t>Site outcome</a:t>
            </a:r>
            <a:endParaRPr b="0" lang="en-US" sz="980" spc="-1" strike="noStrike">
              <a:solidFill>
                <a:srgbClr val="000000"/>
              </a:solidFill>
              <a:latin typeface="DejaVu Sans"/>
            </a:endParaRPr>
          </a:p>
        </p:txBody>
      </p:sp>
      <p:sp>
        <p:nvSpPr>
          <p:cNvPr id="72" name="Text 25"/>
          <p:cNvSpPr/>
          <p:nvPr/>
        </p:nvSpPr>
        <p:spPr>
          <a:xfrm>
            <a:off x="585360" y="2651760"/>
            <a:ext cx="27428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pc="-1" strike="noStrike">
                <a:solidFill>
                  <a:srgbClr val="252a34"/>
                </a:solidFill>
                <a:latin typeface="Arial"/>
                <a:ea typeface="Arial"/>
              </a:rPr>
              <a:t>3-second reading path</a:t>
            </a:r>
            <a:endParaRPr b="0" lang="en-US" sz="1800" spc="-1" strike="noStrike">
              <a:solidFill>
                <a:srgbClr val="000000"/>
              </a:solidFill>
              <a:latin typeface="DejaVu Sans"/>
            </a:endParaRPr>
          </a:p>
        </p:txBody>
      </p:sp>
      <p:sp>
        <p:nvSpPr>
          <p:cNvPr id="73" name="Shape 26"/>
          <p:cNvSpPr/>
          <p:nvPr/>
        </p:nvSpPr>
        <p:spPr>
          <a:xfrm>
            <a:off x="585360" y="3127320"/>
            <a:ext cx="2422800" cy="1124280"/>
          </a:xfrm>
          <a:prstGeom prst="roundRect">
            <a:avLst>
              <a:gd name="adj" fmla="val 6504"/>
            </a:avLst>
          </a:prstGeom>
          <a:solidFill>
            <a:srgbClr val="ffffff"/>
          </a:solidFill>
          <a:ln w="12700">
            <a:solidFill>
              <a:srgbClr val="65718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74" name="Shape 27"/>
          <p:cNvSpPr/>
          <p:nvPr/>
        </p:nvSpPr>
        <p:spPr>
          <a:xfrm>
            <a:off x="749880" y="3310200"/>
            <a:ext cx="328680" cy="328680"/>
          </a:xfrm>
          <a:prstGeom prst="ellipse">
            <a:avLst/>
          </a:prstGeom>
          <a:solidFill>
            <a:srgbClr val="657180"/>
          </a:solidFill>
          <a:ln w="12700">
            <a:solidFill>
              <a:srgbClr val="65718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75" name="Text 28"/>
          <p:cNvSpPr/>
          <p:nvPr/>
        </p:nvSpPr>
        <p:spPr>
          <a:xfrm>
            <a:off x="749880" y="3319200"/>
            <a:ext cx="3286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1</a:t>
            </a:r>
            <a:endParaRPr b="0" lang="en-US" sz="1000" spc="-1" strike="noStrike">
              <a:solidFill>
                <a:srgbClr val="000000"/>
              </a:solidFill>
              <a:latin typeface="DejaVu Sans"/>
            </a:endParaRPr>
          </a:p>
        </p:txBody>
      </p:sp>
      <p:sp>
        <p:nvSpPr>
          <p:cNvPr id="76" name="Text 29"/>
          <p:cNvSpPr/>
          <p:nvPr/>
        </p:nvSpPr>
        <p:spPr>
          <a:xfrm>
            <a:off x="1197720" y="3227760"/>
            <a:ext cx="15724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pc="-1" strike="noStrike">
                <a:solidFill>
                  <a:srgbClr val="657180"/>
                </a:solidFill>
                <a:latin typeface="Arial"/>
                <a:ea typeface="Arial"/>
              </a:rPr>
              <a:t>Retention</a:t>
            </a:r>
            <a:endParaRPr b="0" lang="en-US" sz="1520" spc="-1" strike="noStrike">
              <a:solidFill>
                <a:srgbClr val="000000"/>
              </a:solidFill>
              <a:latin typeface="DejaVu Sans"/>
            </a:endParaRPr>
          </a:p>
        </p:txBody>
      </p:sp>
      <p:sp>
        <p:nvSpPr>
          <p:cNvPr id="77" name="Text 30"/>
          <p:cNvSpPr/>
          <p:nvPr/>
        </p:nvSpPr>
        <p:spPr>
          <a:xfrm>
            <a:off x="1197720" y="3611880"/>
            <a:ext cx="15724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60" spc="-1" strike="noStrike">
                <a:solidFill>
                  <a:srgbClr val="252a34"/>
                </a:solidFill>
                <a:latin typeface="Arial"/>
                <a:ea typeface="Arial"/>
              </a:rPr>
              <a:t>Filter, not headline</a:t>
            </a:r>
            <a:endParaRPr b="0" lang="en-US" sz="1160" spc="-1" strike="noStrike">
              <a:solidFill>
                <a:srgbClr val="000000"/>
              </a:solidFill>
              <a:latin typeface="DejaVu Sans"/>
            </a:endParaRPr>
          </a:p>
        </p:txBody>
      </p:sp>
      <p:sp>
        <p:nvSpPr>
          <p:cNvPr id="78" name="Shape 31"/>
          <p:cNvSpPr/>
          <p:nvPr/>
        </p:nvSpPr>
        <p:spPr>
          <a:xfrm>
            <a:off x="3090600" y="3502080"/>
            <a:ext cx="209880" cy="310680"/>
          </a:xfrm>
          <a:prstGeom prst="chevron">
            <a:avLst>
              <a:gd name="adj" fmla="val 50000"/>
            </a:avLst>
          </a:prstGeom>
          <a:solidFill>
            <a:srgbClr val="b9c2ca"/>
          </a:solidFill>
          <a:ln w="12700">
            <a:solidFill>
              <a:srgbClr val="b9c2c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79" name="Shape 32"/>
          <p:cNvSpPr/>
          <p:nvPr/>
        </p:nvSpPr>
        <p:spPr>
          <a:xfrm>
            <a:off x="3401640" y="3127320"/>
            <a:ext cx="2422800" cy="1124280"/>
          </a:xfrm>
          <a:prstGeom prst="roundRect">
            <a:avLst>
              <a:gd name="adj" fmla="val 6504"/>
            </a:avLst>
          </a:prstGeom>
          <a:solidFill>
            <a:srgbClr val="ffffff"/>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80" name="Shape 33"/>
          <p:cNvSpPr/>
          <p:nvPr/>
        </p:nvSpPr>
        <p:spPr>
          <a:xfrm>
            <a:off x="3566160" y="3310200"/>
            <a:ext cx="328680" cy="328680"/>
          </a:xfrm>
          <a:prstGeom prst="ellipse">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81" name="Text 34"/>
          <p:cNvSpPr/>
          <p:nvPr/>
        </p:nvSpPr>
        <p:spPr>
          <a:xfrm>
            <a:off x="3566160" y="3319200"/>
            <a:ext cx="3286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2</a:t>
            </a:r>
            <a:endParaRPr b="0" lang="en-US" sz="1000" spc="-1" strike="noStrike">
              <a:solidFill>
                <a:srgbClr val="000000"/>
              </a:solidFill>
              <a:latin typeface="DejaVu Sans"/>
            </a:endParaRPr>
          </a:p>
        </p:txBody>
      </p:sp>
      <p:sp>
        <p:nvSpPr>
          <p:cNvPr id="82" name="Text 35"/>
          <p:cNvSpPr/>
          <p:nvPr/>
        </p:nvSpPr>
        <p:spPr>
          <a:xfrm>
            <a:off x="4014360" y="3227760"/>
            <a:ext cx="1572480" cy="31968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1" lang="en-US" sz="1520" spc="-1" strike="noStrike">
                <a:solidFill>
                  <a:srgbClr val="2583b6"/>
                </a:solidFill>
                <a:latin typeface="Arial"/>
                <a:ea typeface="Arial"/>
              </a:rPr>
              <a:t>Interface fingerprint</a:t>
            </a:r>
            <a:endParaRPr b="0" lang="en-US" sz="1520" spc="-1" strike="noStrike">
              <a:solidFill>
                <a:srgbClr val="000000"/>
              </a:solidFill>
              <a:latin typeface="DejaVu Sans"/>
            </a:endParaRPr>
          </a:p>
        </p:txBody>
      </p:sp>
      <p:sp>
        <p:nvSpPr>
          <p:cNvPr id="83" name="Text 36"/>
          <p:cNvSpPr/>
          <p:nvPr/>
        </p:nvSpPr>
        <p:spPr>
          <a:xfrm>
            <a:off x="4014360" y="3611880"/>
            <a:ext cx="15724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60" spc="-1" strike="noStrike">
                <a:solidFill>
                  <a:srgbClr val="252a34"/>
                </a:solidFill>
                <a:latin typeface="Arial"/>
                <a:ea typeface="Arial"/>
              </a:rPr>
              <a:t>Six distinct interfaces</a:t>
            </a:r>
            <a:endParaRPr b="0" lang="en-US" sz="1160" spc="-1" strike="noStrike">
              <a:solidFill>
                <a:srgbClr val="000000"/>
              </a:solidFill>
              <a:latin typeface="DejaVu Sans"/>
            </a:endParaRPr>
          </a:p>
        </p:txBody>
      </p:sp>
      <p:sp>
        <p:nvSpPr>
          <p:cNvPr id="84" name="Shape 37"/>
          <p:cNvSpPr/>
          <p:nvPr/>
        </p:nvSpPr>
        <p:spPr>
          <a:xfrm>
            <a:off x="5906880" y="3502080"/>
            <a:ext cx="209880" cy="310680"/>
          </a:xfrm>
          <a:prstGeom prst="chevron">
            <a:avLst>
              <a:gd name="adj" fmla="val 50000"/>
            </a:avLst>
          </a:prstGeom>
          <a:solidFill>
            <a:srgbClr val="b9c2ca"/>
          </a:solidFill>
          <a:ln w="12700">
            <a:solidFill>
              <a:srgbClr val="b9c2c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85" name="Shape 38"/>
          <p:cNvSpPr/>
          <p:nvPr/>
        </p:nvSpPr>
        <p:spPr>
          <a:xfrm>
            <a:off x="6217920" y="3127320"/>
            <a:ext cx="2422800" cy="1124280"/>
          </a:xfrm>
          <a:prstGeom prst="roundRect">
            <a:avLst>
              <a:gd name="adj" fmla="val 6504"/>
            </a:avLst>
          </a:prstGeom>
          <a:solidFill>
            <a:srgbClr val="fffff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86" name="Shape 39"/>
          <p:cNvSpPr/>
          <p:nvPr/>
        </p:nvSpPr>
        <p:spPr>
          <a:xfrm>
            <a:off x="6382440" y="3310200"/>
            <a:ext cx="328680" cy="328680"/>
          </a:xfrm>
          <a:prstGeom prst="ellipse">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87" name="Text 40"/>
          <p:cNvSpPr/>
          <p:nvPr/>
        </p:nvSpPr>
        <p:spPr>
          <a:xfrm>
            <a:off x="6382440" y="3319200"/>
            <a:ext cx="3286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3</a:t>
            </a:r>
            <a:endParaRPr b="0" lang="en-US" sz="1000" spc="-1" strike="noStrike">
              <a:solidFill>
                <a:srgbClr val="000000"/>
              </a:solidFill>
              <a:latin typeface="DejaVu Sans"/>
            </a:endParaRPr>
          </a:p>
        </p:txBody>
      </p:sp>
      <p:sp>
        <p:nvSpPr>
          <p:cNvPr id="88" name="Text 41"/>
          <p:cNvSpPr/>
          <p:nvPr/>
        </p:nvSpPr>
        <p:spPr>
          <a:xfrm>
            <a:off x="6830640" y="3227760"/>
            <a:ext cx="15724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pc="-1" strike="noStrike">
                <a:solidFill>
                  <a:srgbClr val="d66a1f"/>
                </a:solidFill>
                <a:latin typeface="Arial"/>
                <a:ea typeface="Arial"/>
              </a:rPr>
              <a:t>L10 vs L20</a:t>
            </a:r>
            <a:endParaRPr b="0" lang="en-US" sz="1520" spc="-1" strike="noStrike">
              <a:solidFill>
                <a:srgbClr val="000000"/>
              </a:solidFill>
              <a:latin typeface="DejaVu Sans"/>
            </a:endParaRPr>
          </a:p>
        </p:txBody>
      </p:sp>
      <p:sp>
        <p:nvSpPr>
          <p:cNvPr id="89" name="Text 42"/>
          <p:cNvSpPr/>
          <p:nvPr/>
        </p:nvSpPr>
        <p:spPr>
          <a:xfrm>
            <a:off x="6830640" y="3611880"/>
            <a:ext cx="1572480" cy="29232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0" lang="en-US" sz="1160" spc="-1" strike="noStrike">
                <a:solidFill>
                  <a:srgbClr val="252a34"/>
                </a:solidFill>
                <a:latin typeface="Arial"/>
                <a:ea typeface="Arial"/>
              </a:rPr>
              <a:t>Length-dependent remodeling</a:t>
            </a:r>
            <a:endParaRPr b="0" lang="en-US" sz="1160" spc="-1" strike="noStrike">
              <a:solidFill>
                <a:srgbClr val="000000"/>
              </a:solidFill>
              <a:latin typeface="DejaVu Sans"/>
            </a:endParaRPr>
          </a:p>
        </p:txBody>
      </p:sp>
      <p:sp>
        <p:nvSpPr>
          <p:cNvPr id="90" name="Shape 43"/>
          <p:cNvSpPr/>
          <p:nvPr/>
        </p:nvSpPr>
        <p:spPr>
          <a:xfrm>
            <a:off x="8723520" y="3502080"/>
            <a:ext cx="209880" cy="310680"/>
          </a:xfrm>
          <a:prstGeom prst="chevron">
            <a:avLst>
              <a:gd name="adj" fmla="val 50000"/>
            </a:avLst>
          </a:prstGeom>
          <a:solidFill>
            <a:srgbClr val="b9c2ca"/>
          </a:solidFill>
          <a:ln w="12700">
            <a:solidFill>
              <a:srgbClr val="b9c2ca"/>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91" name="Shape 44"/>
          <p:cNvSpPr/>
          <p:nvPr/>
        </p:nvSpPr>
        <p:spPr>
          <a:xfrm>
            <a:off x="9034200" y="3127320"/>
            <a:ext cx="2422800" cy="1124280"/>
          </a:xfrm>
          <a:prstGeom prst="roundRect">
            <a:avLst>
              <a:gd name="adj" fmla="val 6504"/>
            </a:avLst>
          </a:prstGeom>
          <a:solidFill>
            <a:srgbClr val="ffffff"/>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92" name="Shape 45"/>
          <p:cNvSpPr/>
          <p:nvPr/>
        </p:nvSpPr>
        <p:spPr>
          <a:xfrm>
            <a:off x="9198720" y="3310200"/>
            <a:ext cx="328680" cy="328680"/>
          </a:xfrm>
          <a:prstGeom prst="ellipse">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93" name="Text 46"/>
          <p:cNvSpPr/>
          <p:nvPr/>
        </p:nvSpPr>
        <p:spPr>
          <a:xfrm>
            <a:off x="9198720" y="3319200"/>
            <a:ext cx="3286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4</a:t>
            </a:r>
            <a:endParaRPr b="0" lang="en-US" sz="1000" spc="-1" strike="noStrike">
              <a:solidFill>
                <a:srgbClr val="000000"/>
              </a:solidFill>
              <a:latin typeface="DejaVu Sans"/>
            </a:endParaRPr>
          </a:p>
        </p:txBody>
      </p:sp>
      <p:sp>
        <p:nvSpPr>
          <p:cNvPr id="94" name="Text 47"/>
          <p:cNvSpPr/>
          <p:nvPr/>
        </p:nvSpPr>
        <p:spPr>
          <a:xfrm>
            <a:off x="9646920" y="3227760"/>
            <a:ext cx="15724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pc="-1" strike="noStrike">
                <a:solidFill>
                  <a:srgbClr val="2f8b62"/>
                </a:solidFill>
                <a:latin typeface="Arial"/>
                <a:ea typeface="Arial"/>
              </a:rPr>
              <a:t>Supported sites</a:t>
            </a:r>
            <a:endParaRPr b="0" lang="en-US" sz="1520" spc="-1" strike="noStrike">
              <a:solidFill>
                <a:srgbClr val="000000"/>
              </a:solidFill>
              <a:latin typeface="DejaVu Sans"/>
            </a:endParaRPr>
          </a:p>
        </p:txBody>
      </p:sp>
      <p:sp>
        <p:nvSpPr>
          <p:cNvPr id="95" name="Text 48"/>
          <p:cNvSpPr/>
          <p:nvPr/>
        </p:nvSpPr>
        <p:spPr>
          <a:xfrm>
            <a:off x="9646920" y="3611880"/>
            <a:ext cx="157248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60" spc="-1" strike="noStrike">
                <a:solidFill>
                  <a:srgbClr val="252a34"/>
                </a:solidFill>
                <a:latin typeface="Arial"/>
                <a:ea typeface="Arial"/>
              </a:rPr>
              <a:t>TfCut1/HiC localization</a:t>
            </a:r>
            <a:endParaRPr b="0" lang="en-US" sz="1160" spc="-1" strike="noStrike">
              <a:solidFill>
                <a:srgbClr val="000000"/>
              </a:solidFill>
              <a:latin typeface="DejaVu Sans"/>
            </a:endParaRPr>
          </a:p>
        </p:txBody>
      </p:sp>
      <p:sp>
        <p:nvSpPr>
          <p:cNvPr id="96" name="Shape 49"/>
          <p:cNvSpPr/>
          <p:nvPr/>
        </p:nvSpPr>
        <p:spPr>
          <a:xfrm>
            <a:off x="585360" y="4718160"/>
            <a:ext cx="11009160" cy="1124280"/>
          </a:xfrm>
          <a:prstGeom prst="roundRect">
            <a:avLst>
              <a:gd name="adj" fmla="val 6504"/>
            </a:avLst>
          </a:prstGeom>
          <a:solidFill>
            <a:srgbClr val="f9eae8"/>
          </a:solidFill>
          <a:ln w="10160">
            <a:solidFill>
              <a:srgbClr val="e9c5c1"/>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97" name="Text 50"/>
          <p:cNvSpPr/>
          <p:nvPr/>
        </p:nvSpPr>
        <p:spPr>
          <a:xfrm>
            <a:off x="831960" y="4928760"/>
            <a:ext cx="1416960" cy="310680"/>
          </a:xfrm>
          <a:prstGeom prst="rect">
            <a:avLst/>
          </a:prstGeom>
          <a:noFill/>
          <a:ln w="0">
            <a:noFill/>
          </a:ln>
        </p:spPr>
        <p:style>
          <a:lnRef idx="0"/>
          <a:fillRef idx="0"/>
          <a:effectRef idx="0"/>
          <a:fontRef idx="minor"/>
        </p:style>
        <p:txBody>
          <a:bodyPr lIns="0" rIns="0" tIns="0" bIns="0" anchor="ctr">
            <a:normAutofit fontScale="68333"/>
          </a:bodyPr>
          <a:p>
            <a:pPr defTabSz="914400">
              <a:lnSpc>
                <a:spcPct val="100000"/>
              </a:lnSpc>
              <a:tabLst>
                <a:tab algn="l" pos="0"/>
              </a:tabLst>
            </a:pPr>
            <a:r>
              <a:rPr b="1" lang="en-US" sz="1550" spc="-1" strike="noStrike">
                <a:solidFill>
                  <a:srgbClr val="c24f45"/>
                </a:solidFill>
                <a:latin typeface="Arial"/>
                <a:ea typeface="Arial"/>
              </a:rPr>
              <a:t>Claims the graphic must not imply</a:t>
            </a:r>
            <a:endParaRPr b="0" lang="en-US" sz="1550" spc="-1" strike="noStrike">
              <a:solidFill>
                <a:srgbClr val="000000"/>
              </a:solidFill>
              <a:latin typeface="DejaVu Sans"/>
            </a:endParaRPr>
          </a:p>
        </p:txBody>
      </p:sp>
      <p:sp>
        <p:nvSpPr>
          <p:cNvPr id="98" name="Shape 51"/>
          <p:cNvSpPr/>
          <p:nvPr/>
        </p:nvSpPr>
        <p:spPr>
          <a:xfrm>
            <a:off x="2468880" y="4965120"/>
            <a:ext cx="246600" cy="246600"/>
          </a:xfrm>
          <a:prstGeom prst="ellipse">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99" name="Text 52"/>
          <p:cNvSpPr/>
          <p:nvPr/>
        </p:nvSpPr>
        <p:spPr>
          <a:xfrm>
            <a:off x="2468880" y="4956120"/>
            <a:ext cx="246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pc="-1" strike="noStrike">
                <a:solidFill>
                  <a:srgbClr val="ffffff"/>
                </a:solidFill>
                <a:latin typeface="Arial"/>
                <a:ea typeface="Arial"/>
              </a:rPr>
              <a:t>×</a:t>
            </a:r>
            <a:endParaRPr b="0" lang="en-US" sz="1050" spc="-1" strike="noStrike">
              <a:solidFill>
                <a:srgbClr val="000000"/>
              </a:solidFill>
              <a:latin typeface="DejaVu Sans"/>
            </a:endParaRPr>
          </a:p>
        </p:txBody>
      </p:sp>
      <p:sp>
        <p:nvSpPr>
          <p:cNvPr id="100" name="Text 53"/>
          <p:cNvSpPr/>
          <p:nvPr/>
        </p:nvSpPr>
        <p:spPr>
          <a:xfrm>
            <a:off x="2816280" y="4910400"/>
            <a:ext cx="164556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40" spc="-1" strike="noStrike">
                <a:solidFill>
                  <a:srgbClr val="252a34"/>
                </a:solidFill>
                <a:latin typeface="Arial"/>
                <a:ea typeface="Arial"/>
              </a:rPr>
              <a:t>Stronger binding</a:t>
            </a:r>
            <a:endParaRPr b="0" lang="en-US" sz="1240" spc="-1" strike="noStrike">
              <a:solidFill>
                <a:srgbClr val="000000"/>
              </a:solidFill>
              <a:latin typeface="DejaVu Sans"/>
            </a:endParaRPr>
          </a:p>
        </p:txBody>
      </p:sp>
      <p:sp>
        <p:nvSpPr>
          <p:cNvPr id="101" name="Shape 54"/>
          <p:cNvSpPr/>
          <p:nvPr/>
        </p:nvSpPr>
        <p:spPr>
          <a:xfrm>
            <a:off x="4608720" y="4965120"/>
            <a:ext cx="246600" cy="246600"/>
          </a:xfrm>
          <a:prstGeom prst="ellipse">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02" name="Text 55"/>
          <p:cNvSpPr/>
          <p:nvPr/>
        </p:nvSpPr>
        <p:spPr>
          <a:xfrm>
            <a:off x="4608720" y="4956120"/>
            <a:ext cx="246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pc="-1" strike="noStrike">
                <a:solidFill>
                  <a:srgbClr val="ffffff"/>
                </a:solidFill>
                <a:latin typeface="Arial"/>
                <a:ea typeface="Arial"/>
              </a:rPr>
              <a:t>×</a:t>
            </a:r>
            <a:endParaRPr b="0" lang="en-US" sz="1050" spc="-1" strike="noStrike">
              <a:solidFill>
                <a:srgbClr val="000000"/>
              </a:solidFill>
              <a:latin typeface="DejaVu Sans"/>
            </a:endParaRPr>
          </a:p>
        </p:txBody>
      </p:sp>
      <p:sp>
        <p:nvSpPr>
          <p:cNvPr id="103" name="Text 56"/>
          <p:cNvSpPr/>
          <p:nvPr/>
        </p:nvSpPr>
        <p:spPr>
          <a:xfrm>
            <a:off x="4956120" y="4910400"/>
            <a:ext cx="164556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40" spc="-1" strike="noStrike">
                <a:solidFill>
                  <a:srgbClr val="252a34"/>
                </a:solidFill>
                <a:latin typeface="Arial"/>
                <a:ea typeface="Arial"/>
              </a:rPr>
              <a:t>Higher activity</a:t>
            </a:r>
            <a:endParaRPr b="0" lang="en-US" sz="1240" spc="-1" strike="noStrike">
              <a:solidFill>
                <a:srgbClr val="000000"/>
              </a:solidFill>
              <a:latin typeface="DejaVu Sans"/>
            </a:endParaRPr>
          </a:p>
        </p:txBody>
      </p:sp>
      <p:sp>
        <p:nvSpPr>
          <p:cNvPr id="104" name="Shape 57"/>
          <p:cNvSpPr/>
          <p:nvPr/>
        </p:nvSpPr>
        <p:spPr>
          <a:xfrm>
            <a:off x="6748200" y="4965120"/>
            <a:ext cx="246600" cy="246600"/>
          </a:xfrm>
          <a:prstGeom prst="ellipse">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05" name="Text 58"/>
          <p:cNvSpPr/>
          <p:nvPr/>
        </p:nvSpPr>
        <p:spPr>
          <a:xfrm>
            <a:off x="6748200" y="4956120"/>
            <a:ext cx="246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pc="-1" strike="noStrike">
                <a:solidFill>
                  <a:srgbClr val="ffffff"/>
                </a:solidFill>
                <a:latin typeface="Arial"/>
                <a:ea typeface="Arial"/>
              </a:rPr>
              <a:t>×</a:t>
            </a:r>
            <a:endParaRPr b="0" lang="en-US" sz="1050" spc="-1" strike="noStrike">
              <a:solidFill>
                <a:srgbClr val="000000"/>
              </a:solidFill>
              <a:latin typeface="DejaVu Sans"/>
            </a:endParaRPr>
          </a:p>
        </p:txBody>
      </p:sp>
      <p:sp>
        <p:nvSpPr>
          <p:cNvPr id="106" name="Text 59"/>
          <p:cNvSpPr/>
          <p:nvPr/>
        </p:nvSpPr>
        <p:spPr>
          <a:xfrm>
            <a:off x="7095600" y="4910400"/>
            <a:ext cx="1645560" cy="319680"/>
          </a:xfrm>
          <a:prstGeom prst="rect">
            <a:avLst/>
          </a:prstGeom>
          <a:noFill/>
          <a:ln w="0">
            <a:noFill/>
          </a:ln>
        </p:spPr>
        <p:style>
          <a:lnRef idx="0"/>
          <a:fillRef idx="0"/>
          <a:effectRef idx="0"/>
          <a:fontRef idx="minor"/>
        </p:style>
        <p:txBody>
          <a:bodyPr lIns="0" rIns="0" tIns="0" bIns="0" anchor="ctr">
            <a:normAutofit fontScale="96666" lnSpcReduction="10000"/>
          </a:bodyPr>
          <a:p>
            <a:pPr defTabSz="914400">
              <a:lnSpc>
                <a:spcPct val="100000"/>
              </a:lnSpc>
              <a:tabLst>
                <a:tab algn="l" pos="0"/>
              </a:tabLst>
            </a:pPr>
            <a:r>
              <a:rPr b="1" lang="en-US" sz="1240" spc="-1" strike="noStrike">
                <a:solidFill>
                  <a:srgbClr val="252a34"/>
                </a:solidFill>
                <a:latin typeface="Arial"/>
                <a:ea typeface="Arial"/>
              </a:rPr>
              <a:t>Established mechanism</a:t>
            </a:r>
            <a:endParaRPr b="0" lang="en-US" sz="1240" spc="-1" strike="noStrike">
              <a:solidFill>
                <a:srgbClr val="000000"/>
              </a:solidFill>
              <a:latin typeface="DejaVu Sans"/>
            </a:endParaRPr>
          </a:p>
        </p:txBody>
      </p:sp>
      <p:sp>
        <p:nvSpPr>
          <p:cNvPr id="107" name="Shape 60"/>
          <p:cNvSpPr/>
          <p:nvPr/>
        </p:nvSpPr>
        <p:spPr>
          <a:xfrm>
            <a:off x="8888040" y="4965120"/>
            <a:ext cx="246600" cy="246600"/>
          </a:xfrm>
          <a:prstGeom prst="ellipse">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08" name="Text 61"/>
          <p:cNvSpPr/>
          <p:nvPr/>
        </p:nvSpPr>
        <p:spPr>
          <a:xfrm>
            <a:off x="8888040" y="4956120"/>
            <a:ext cx="246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pc="-1" strike="noStrike">
                <a:solidFill>
                  <a:srgbClr val="ffffff"/>
                </a:solidFill>
                <a:latin typeface="Arial"/>
                <a:ea typeface="Arial"/>
              </a:rPr>
              <a:t>×</a:t>
            </a:r>
            <a:endParaRPr b="0" lang="en-US" sz="1050" spc="-1" strike="noStrike">
              <a:solidFill>
                <a:srgbClr val="000000"/>
              </a:solidFill>
              <a:latin typeface="DejaVu Sans"/>
            </a:endParaRPr>
          </a:p>
        </p:txBody>
      </p:sp>
      <p:sp>
        <p:nvSpPr>
          <p:cNvPr id="109" name="Text 62"/>
          <p:cNvSpPr/>
          <p:nvPr/>
        </p:nvSpPr>
        <p:spPr>
          <a:xfrm>
            <a:off x="9235440" y="4910400"/>
            <a:ext cx="164556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40" spc="-1" strike="noStrike">
                <a:solidFill>
                  <a:srgbClr val="252a34"/>
                </a:solidFill>
                <a:latin typeface="Arial"/>
                <a:ea typeface="Arial"/>
              </a:rPr>
              <a:t>Solid-PET behavior</a:t>
            </a:r>
            <a:endParaRPr b="0" lang="en-US" sz="1240" spc="-1" strike="noStrike">
              <a:solidFill>
                <a:srgbClr val="000000"/>
              </a:solidFill>
              <a:latin typeface="DejaVu Sans"/>
            </a:endParaRPr>
          </a:p>
        </p:txBody>
      </p:sp>
      <p:sp>
        <p:nvSpPr>
          <p:cNvPr id="110" name="Text 63"/>
          <p:cNvSpPr/>
          <p:nvPr/>
        </p:nvSpPr>
        <p:spPr>
          <a:xfrm>
            <a:off x="2468880" y="5321880"/>
            <a:ext cx="82108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30" spc="-1" strike="noStrike">
                <a:solidFill>
                  <a:srgbClr val="657180"/>
                </a:solidFill>
                <a:latin typeface="Arial"/>
                <a:ea typeface="Arial"/>
              </a:rPr>
              <a:t>A TOC graphic compresses the main conclusion; it should not retell Methods or pre-empt future validation.</a:t>
            </a:r>
            <a:endParaRPr b="0" lang="en-US" sz="1130" spc="-1" strike="noStrike">
              <a:solidFill>
                <a:srgbClr val="000000"/>
              </a:solidFill>
              <a:latin typeface="DejaVu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11" name="Text 0"/>
          <p:cNvSpPr/>
          <p:nvPr/>
        </p:nvSpPr>
        <p:spPr>
          <a:xfrm>
            <a:off x="530280" y="219600"/>
            <a:ext cx="71319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pc="128" strike="noStrike">
                <a:solidFill>
                  <a:srgbClr val="657180"/>
                </a:solidFill>
                <a:latin typeface="Arial"/>
                <a:ea typeface="Arial"/>
              </a:rPr>
              <a:t>EARLY DIRECTIONS</a:t>
            </a:r>
            <a:endParaRPr b="0" lang="en-US" sz="950" spc="-1" strike="noStrike">
              <a:solidFill>
                <a:srgbClr val="000000"/>
              </a:solidFill>
              <a:latin typeface="DejaVu Sans"/>
            </a:endParaRPr>
          </a:p>
        </p:txBody>
      </p:sp>
      <p:sp>
        <p:nvSpPr>
          <p:cNvPr id="112" name="Text 1"/>
          <p:cNvSpPr/>
          <p:nvPr/>
        </p:nvSpPr>
        <p:spPr>
          <a:xfrm>
            <a:off x="530280" y="484560"/>
            <a:ext cx="105152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850" spc="-1" strike="noStrike">
                <a:solidFill>
                  <a:srgbClr val="252a34"/>
                </a:solidFill>
                <a:latin typeface="Arial"/>
                <a:ea typeface="Arial"/>
              </a:rPr>
              <a:t>Options A–B | Molecular funnel vs icon schematic</a:t>
            </a:r>
            <a:endParaRPr b="0" lang="en-US" sz="2850" spc="-1" strike="noStrike">
              <a:solidFill>
                <a:srgbClr val="000000"/>
              </a:solidFill>
              <a:latin typeface="DejaVu Sans"/>
            </a:endParaRPr>
          </a:p>
        </p:txBody>
      </p:sp>
      <p:sp>
        <p:nvSpPr>
          <p:cNvPr id="113" name="Shape 2"/>
          <p:cNvSpPr/>
          <p:nvPr/>
        </p:nvSpPr>
        <p:spPr>
          <a:xfrm>
            <a:off x="10716840" y="2833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14" name="Text 3"/>
          <p:cNvSpPr/>
          <p:nvPr/>
        </p:nvSpPr>
        <p:spPr>
          <a:xfrm>
            <a:off x="1071684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000000"/>
              </a:solidFill>
              <a:latin typeface="DejaVu Sans"/>
            </a:endParaRPr>
          </a:p>
        </p:txBody>
      </p:sp>
      <p:sp>
        <p:nvSpPr>
          <p:cNvPr id="115" name="Shape 4"/>
          <p:cNvSpPr/>
          <p:nvPr/>
        </p:nvSpPr>
        <p:spPr>
          <a:xfrm>
            <a:off x="11256120" y="2833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16" name="Text 5"/>
          <p:cNvSpPr/>
          <p:nvPr/>
        </p:nvSpPr>
        <p:spPr>
          <a:xfrm>
            <a:off x="1125612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000000"/>
              </a:solidFill>
              <a:latin typeface="DejaVu Sans"/>
            </a:endParaRPr>
          </a:p>
        </p:txBody>
      </p:sp>
      <p:sp>
        <p:nvSpPr>
          <p:cNvPr id="117" name="Shape 6"/>
          <p:cNvSpPr/>
          <p:nvPr/>
        </p:nvSpPr>
        <p:spPr>
          <a:xfrm>
            <a:off x="11192040" y="397440"/>
            <a:ext cx="73080" cy="360"/>
          </a:xfrm>
          <a:prstGeom prst="line">
            <a:avLst/>
          </a:prstGeom>
          <a:ln w="15240">
            <a:solidFill>
              <a:srgbClr val="d7de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DejaVu Sans"/>
            </a:endParaRPr>
          </a:p>
        </p:txBody>
      </p:sp>
      <p:sp>
        <p:nvSpPr>
          <p:cNvPr id="118" name="Text 7"/>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8a96a3"/>
                </a:solidFill>
                <a:latin typeface="Arial"/>
                <a:ea typeface="Arial"/>
              </a:rPr>
              <a:t>PETase manuscript · TOC graphic review</a:t>
            </a:r>
            <a:endParaRPr b="0" lang="en-US" sz="880" spc="-1" strike="noStrike">
              <a:solidFill>
                <a:srgbClr val="000000"/>
              </a:solidFill>
              <a:latin typeface="DejaVu Sans"/>
            </a:endParaRPr>
          </a:p>
        </p:txBody>
      </p:sp>
      <p:sp>
        <p:nvSpPr>
          <p:cNvPr id="119" name="Text 8"/>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8a96a3"/>
                </a:solidFill>
                <a:latin typeface="Arial"/>
                <a:ea typeface="Arial"/>
              </a:rPr>
              <a:t>03</a:t>
            </a:r>
            <a:endParaRPr b="0" lang="en-US" sz="920" spc="-1" strike="noStrike">
              <a:solidFill>
                <a:srgbClr val="000000"/>
              </a:solidFill>
              <a:latin typeface="DejaVu Sans"/>
            </a:endParaRPr>
          </a:p>
        </p:txBody>
      </p:sp>
      <p:sp>
        <p:nvSpPr>
          <p:cNvPr id="120" name="Shape 9"/>
          <p:cNvSpPr/>
          <p:nvPr/>
        </p:nvSpPr>
        <p:spPr>
          <a:xfrm>
            <a:off x="567000" y="1143000"/>
            <a:ext cx="347040" cy="347040"/>
          </a:xfrm>
          <a:prstGeom prst="ellipse">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21" name="Text 10"/>
          <p:cNvSpPr/>
          <p:nvPr/>
        </p:nvSpPr>
        <p:spPr>
          <a:xfrm>
            <a:off x="567000" y="1152000"/>
            <a:ext cx="3470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pc="-1" strike="noStrike">
                <a:solidFill>
                  <a:srgbClr val="ffffff"/>
                </a:solidFill>
                <a:latin typeface="Arial"/>
                <a:ea typeface="Arial"/>
              </a:rPr>
              <a:t>A</a:t>
            </a:r>
            <a:endParaRPr b="0" lang="en-US" sz="1150" spc="-1" strike="noStrike">
              <a:solidFill>
                <a:srgbClr val="000000"/>
              </a:solidFill>
              <a:latin typeface="DejaVu Sans"/>
            </a:endParaRPr>
          </a:p>
        </p:txBody>
      </p:sp>
      <p:sp>
        <p:nvSpPr>
          <p:cNvPr id="122" name="Text 11"/>
          <p:cNvSpPr/>
          <p:nvPr/>
        </p:nvSpPr>
        <p:spPr>
          <a:xfrm>
            <a:off x="1024200" y="112464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50" spc="-1" strike="noStrike">
                <a:solidFill>
                  <a:srgbClr val="252a34"/>
                </a:solidFill>
                <a:latin typeface="Arial"/>
                <a:ea typeface="Arial"/>
              </a:rPr>
              <a:t>Molecular funnel</a:t>
            </a:r>
            <a:endParaRPr b="0" lang="en-US" sz="1850" spc="-1" strike="noStrike">
              <a:solidFill>
                <a:srgbClr val="000000"/>
              </a:solidFill>
              <a:latin typeface="DejaVu Sans"/>
            </a:endParaRPr>
          </a:p>
        </p:txBody>
      </p:sp>
      <p:sp>
        <p:nvSpPr>
          <p:cNvPr id="123" name="Shape 12"/>
          <p:cNvSpPr/>
          <p:nvPr/>
        </p:nvSpPr>
        <p:spPr>
          <a:xfrm>
            <a:off x="567000" y="1636920"/>
            <a:ext cx="5412960" cy="2916720"/>
          </a:xfrm>
          <a:prstGeom prst="roundRect">
            <a:avLst>
              <a:gd name="adj" fmla="val 2508"/>
            </a:avLst>
          </a:prstGeom>
          <a:solidFill>
            <a:srgbClr val="ffffff"/>
          </a:solidFill>
          <a:ln w="10160">
            <a:solidFill>
              <a:srgbClr val="d8dee4"/>
            </a:solidFill>
            <a:round/>
          </a:ln>
          <a:effectLst>
            <a:outerShdw algn="bl" blurRad="25560" dir="8100000" dist="12218"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pic>
        <p:nvPicPr>
          <p:cNvPr id="124" name="Image 0" descr="Option A: Molecular funnel"/>
          <p:cNvPicPr/>
          <p:nvPr/>
        </p:nvPicPr>
        <p:blipFill>
          <a:blip r:embed="rId1"/>
          <a:stretch/>
        </p:blipFill>
        <p:spPr>
          <a:xfrm>
            <a:off x="631080" y="1700640"/>
            <a:ext cx="5284800" cy="2788560"/>
          </a:xfrm>
          <a:prstGeom prst="rect">
            <a:avLst/>
          </a:prstGeom>
          <a:ln w="0">
            <a:noFill/>
          </a:ln>
        </p:spPr>
      </p:pic>
      <p:sp>
        <p:nvSpPr>
          <p:cNvPr id="125" name="Shape 13"/>
          <p:cNvSpPr/>
          <p:nvPr/>
        </p:nvSpPr>
        <p:spPr>
          <a:xfrm>
            <a:off x="3886200" y="1170360"/>
            <a:ext cx="932400" cy="292320"/>
          </a:xfrm>
          <a:prstGeom prst="roundRect">
            <a:avLst>
              <a:gd name="adj" fmla="val 25000"/>
            </a:avLst>
          </a:prstGeom>
          <a:solidFill>
            <a:srgbClr val="2583b6"/>
          </a:solidFill>
          <a:ln w="762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26" name="Text 14"/>
          <p:cNvSpPr/>
          <p:nvPr/>
        </p:nvSpPr>
        <p:spPr>
          <a:xfrm>
            <a:off x="3940920" y="1179720"/>
            <a:ext cx="82260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ffffff"/>
                </a:solidFill>
                <a:latin typeface="Arial"/>
                <a:ea typeface="Arial"/>
              </a:rPr>
              <a:t>Structure-rich</a:t>
            </a:r>
            <a:endParaRPr b="0" lang="en-US" sz="960" spc="-1" strike="noStrike">
              <a:solidFill>
                <a:srgbClr val="000000"/>
              </a:solidFill>
              <a:latin typeface="DejaVu Sans"/>
            </a:endParaRPr>
          </a:p>
        </p:txBody>
      </p:sp>
      <p:sp>
        <p:nvSpPr>
          <p:cNvPr id="127" name="Shape 15"/>
          <p:cNvSpPr/>
          <p:nvPr/>
        </p:nvSpPr>
        <p:spPr>
          <a:xfrm>
            <a:off x="4910400" y="1170360"/>
            <a:ext cx="1023840" cy="292320"/>
          </a:xfrm>
          <a:prstGeom prst="roundRect">
            <a:avLst>
              <a:gd name="adj" fmla="val 25000"/>
            </a:avLst>
          </a:prstGeom>
          <a:solidFill>
            <a:srgbClr val="f9eae8"/>
          </a:solidFill>
          <a:ln w="7620">
            <a:solidFill>
              <a:srgbClr val="e8c3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128" name="Text 16"/>
          <p:cNvSpPr/>
          <p:nvPr/>
        </p:nvSpPr>
        <p:spPr>
          <a:xfrm>
            <a:off x="4965120" y="1179720"/>
            <a:ext cx="91404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c24f45"/>
                </a:solidFill>
                <a:latin typeface="Arial"/>
                <a:ea typeface="Arial"/>
              </a:rPr>
              <a:t>Overloaded</a:t>
            </a:r>
            <a:endParaRPr b="0" lang="en-US" sz="960" spc="-1" strike="noStrike">
              <a:solidFill>
                <a:srgbClr val="000000"/>
              </a:solidFill>
              <a:latin typeface="DejaVu Sans"/>
            </a:endParaRPr>
          </a:p>
        </p:txBody>
      </p:sp>
      <p:sp>
        <p:nvSpPr>
          <p:cNvPr id="129" name="Shape 17"/>
          <p:cNvSpPr/>
          <p:nvPr/>
        </p:nvSpPr>
        <p:spPr>
          <a:xfrm>
            <a:off x="594360" y="4782240"/>
            <a:ext cx="109440" cy="109440"/>
          </a:xfrm>
          <a:prstGeom prst="roundRect">
            <a:avLst>
              <a:gd name="adj" fmla="val 25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30" name="Text 18"/>
          <p:cNvSpPr/>
          <p:nvPr/>
        </p:nvSpPr>
        <p:spPr>
          <a:xfrm>
            <a:off x="777240" y="473652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583b6"/>
                </a:solidFill>
                <a:latin typeface="Arial"/>
                <a:ea typeface="Arial"/>
              </a:rPr>
              <a:t>Intent</a:t>
            </a:r>
            <a:endParaRPr b="0" lang="en-US" sz="1120" spc="-1" strike="noStrike">
              <a:solidFill>
                <a:srgbClr val="000000"/>
              </a:solidFill>
              <a:latin typeface="DejaVu Sans"/>
            </a:endParaRPr>
          </a:p>
        </p:txBody>
      </p:sp>
      <p:sp>
        <p:nvSpPr>
          <p:cNvPr id="131" name="Text 19"/>
          <p:cNvSpPr/>
          <p:nvPr/>
        </p:nvSpPr>
        <p:spPr>
          <a:xfrm>
            <a:off x="1618560" y="4727520"/>
            <a:ext cx="4297320" cy="3106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Six enzymes → TfCut1/HiC → local contacts</a:t>
            </a:r>
            <a:endParaRPr b="0" lang="en-US" sz="1110" spc="-1" strike="noStrike">
              <a:solidFill>
                <a:srgbClr val="000000"/>
              </a:solidFill>
              <a:latin typeface="DejaVu Sans"/>
            </a:endParaRPr>
          </a:p>
        </p:txBody>
      </p:sp>
      <p:sp>
        <p:nvSpPr>
          <p:cNvPr id="132" name="Shape 20"/>
          <p:cNvSpPr/>
          <p:nvPr/>
        </p:nvSpPr>
        <p:spPr>
          <a:xfrm>
            <a:off x="594360" y="5166360"/>
            <a:ext cx="109440" cy="109440"/>
          </a:xfrm>
          <a:prstGeom prst="roundRect">
            <a:avLst>
              <a:gd name="adj" fmla="val 25000"/>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33" name="Text 21"/>
          <p:cNvSpPr/>
          <p:nvPr/>
        </p:nvSpPr>
        <p:spPr>
          <a:xfrm>
            <a:off x="777240" y="512064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f8b62"/>
                </a:solidFill>
                <a:latin typeface="Arial"/>
                <a:ea typeface="Arial"/>
              </a:rPr>
              <a:t>Appeal</a:t>
            </a:r>
            <a:endParaRPr b="0" lang="en-US" sz="1120" spc="-1" strike="noStrike">
              <a:solidFill>
                <a:srgbClr val="000000"/>
              </a:solidFill>
              <a:latin typeface="DejaVu Sans"/>
            </a:endParaRPr>
          </a:p>
        </p:txBody>
      </p:sp>
      <p:sp>
        <p:nvSpPr>
          <p:cNvPr id="134" name="Text 22"/>
          <p:cNvSpPr/>
          <p:nvPr/>
        </p:nvSpPr>
        <p:spPr>
          <a:xfrm>
            <a:off x="1618560" y="5111640"/>
            <a:ext cx="4297320" cy="3106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Real coordinates, clear molecular identity, and a complete narrative</a:t>
            </a:r>
            <a:endParaRPr b="0" lang="en-US" sz="1110" spc="-1" strike="noStrike">
              <a:solidFill>
                <a:srgbClr val="000000"/>
              </a:solidFill>
              <a:latin typeface="DejaVu Sans"/>
            </a:endParaRPr>
          </a:p>
        </p:txBody>
      </p:sp>
      <p:sp>
        <p:nvSpPr>
          <p:cNvPr id="135" name="Shape 23"/>
          <p:cNvSpPr/>
          <p:nvPr/>
        </p:nvSpPr>
        <p:spPr>
          <a:xfrm>
            <a:off x="594360" y="5550480"/>
            <a:ext cx="109440" cy="109440"/>
          </a:xfrm>
          <a:prstGeom prst="roundRect">
            <a:avLst>
              <a:gd name="adj" fmla="val 25000"/>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36" name="Text 24"/>
          <p:cNvSpPr/>
          <p:nvPr/>
        </p:nvSpPr>
        <p:spPr>
          <a:xfrm>
            <a:off x="777240" y="550476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c24f45"/>
                </a:solidFill>
                <a:latin typeface="Arial"/>
                <a:ea typeface="Arial"/>
              </a:rPr>
              <a:t>Main risk</a:t>
            </a:r>
            <a:endParaRPr b="0" lang="en-US" sz="1120" spc="-1" strike="noStrike">
              <a:solidFill>
                <a:srgbClr val="000000"/>
              </a:solidFill>
              <a:latin typeface="DejaVu Sans"/>
            </a:endParaRPr>
          </a:p>
        </p:txBody>
      </p:sp>
      <p:sp>
        <p:nvSpPr>
          <p:cNvPr id="137" name="Text 25"/>
          <p:cNvSpPr/>
          <p:nvPr/>
        </p:nvSpPr>
        <p:spPr>
          <a:xfrm>
            <a:off x="1618560" y="5495400"/>
            <a:ext cx="4297320" cy="310680"/>
          </a:xfrm>
          <a:prstGeom prst="rect">
            <a:avLst/>
          </a:prstGeom>
          <a:noFill/>
          <a:ln w="0">
            <a:noFill/>
          </a:ln>
        </p:spPr>
        <p:style>
          <a:lnRef idx="0"/>
          <a:fillRef idx="0"/>
          <a:effectRef idx="0"/>
          <a:fontRef idx="minor"/>
        </p:style>
        <p:txBody>
          <a:bodyPr lIns="0" rIns="0" tIns="0" bIns="0" anchor="t">
            <a:normAutofit fontScale="87222"/>
          </a:bodyPr>
          <a:p>
            <a:pPr defTabSz="914400">
              <a:lnSpc>
                <a:spcPct val="100000"/>
              </a:lnSpc>
              <a:tabLst>
                <a:tab algn="l" pos="0"/>
              </a:tabLst>
            </a:pPr>
            <a:r>
              <a:rPr b="0" lang="en-US" sz="1110" spc="-1" strike="noStrike">
                <a:solidFill>
                  <a:srgbClr val="252a34"/>
                </a:solidFill>
                <a:latin typeface="Arial"/>
                <a:ea typeface="Arial"/>
              </a:rPr>
              <a:t>Ten molecular views are unreadable; single frames and local contacts carry too much evidentiary weight</a:t>
            </a:r>
            <a:endParaRPr b="0" lang="en-US" sz="1110" spc="-1" strike="noStrike">
              <a:solidFill>
                <a:srgbClr val="000000"/>
              </a:solidFill>
              <a:latin typeface="DejaVu Sans"/>
            </a:endParaRPr>
          </a:p>
        </p:txBody>
      </p:sp>
      <p:sp>
        <p:nvSpPr>
          <p:cNvPr id="138" name="Shape 26"/>
          <p:cNvSpPr/>
          <p:nvPr/>
        </p:nvSpPr>
        <p:spPr>
          <a:xfrm>
            <a:off x="594360" y="5934600"/>
            <a:ext cx="109440" cy="109440"/>
          </a:xfrm>
          <a:prstGeom prst="roundRect">
            <a:avLst>
              <a:gd name="adj" fmla="val 25000"/>
            </a:avLst>
          </a:prstGeom>
          <a:solidFill>
            <a:srgbClr val="657180"/>
          </a:solidFill>
          <a:ln w="12700">
            <a:solidFill>
              <a:srgbClr val="65718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39" name="Text 27"/>
          <p:cNvSpPr/>
          <p:nvPr/>
        </p:nvSpPr>
        <p:spPr>
          <a:xfrm>
            <a:off x="777240" y="588888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657180"/>
                </a:solidFill>
                <a:latin typeface="Arial"/>
                <a:ea typeface="Arial"/>
              </a:rPr>
              <a:t>Best use</a:t>
            </a:r>
            <a:endParaRPr b="0" lang="en-US" sz="1120" spc="-1" strike="noStrike">
              <a:solidFill>
                <a:srgbClr val="000000"/>
              </a:solidFill>
              <a:latin typeface="DejaVu Sans"/>
            </a:endParaRPr>
          </a:p>
        </p:txBody>
      </p:sp>
      <p:sp>
        <p:nvSpPr>
          <p:cNvPr id="140" name="Text 28"/>
          <p:cNvSpPr/>
          <p:nvPr/>
        </p:nvSpPr>
        <p:spPr>
          <a:xfrm>
            <a:off x="1618560" y="5879520"/>
            <a:ext cx="4297320" cy="3106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Useful for an internal overview; not preferred for the final TOC</a:t>
            </a:r>
            <a:endParaRPr b="0" lang="en-US" sz="1110" spc="-1" strike="noStrike">
              <a:solidFill>
                <a:srgbClr val="000000"/>
              </a:solidFill>
              <a:latin typeface="DejaVu Sans"/>
            </a:endParaRPr>
          </a:p>
        </p:txBody>
      </p:sp>
      <p:sp>
        <p:nvSpPr>
          <p:cNvPr id="141" name="Shape 29"/>
          <p:cNvSpPr/>
          <p:nvPr/>
        </p:nvSpPr>
        <p:spPr>
          <a:xfrm>
            <a:off x="6199560" y="1143000"/>
            <a:ext cx="347040" cy="347040"/>
          </a:xfrm>
          <a:prstGeom prst="ellipse">
            <a:avLst/>
          </a:prstGeom>
          <a:solidFill>
            <a:srgbClr val="a87908"/>
          </a:solidFill>
          <a:ln w="12700">
            <a:solidFill>
              <a:srgbClr val="a8790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42" name="Text 30"/>
          <p:cNvSpPr/>
          <p:nvPr/>
        </p:nvSpPr>
        <p:spPr>
          <a:xfrm>
            <a:off x="6199560" y="1152000"/>
            <a:ext cx="3470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pc="-1" strike="noStrike">
                <a:solidFill>
                  <a:srgbClr val="ffffff"/>
                </a:solidFill>
                <a:latin typeface="Arial"/>
                <a:ea typeface="Arial"/>
              </a:rPr>
              <a:t>B</a:t>
            </a:r>
            <a:endParaRPr b="0" lang="en-US" sz="1150" spc="-1" strike="noStrike">
              <a:solidFill>
                <a:srgbClr val="000000"/>
              </a:solidFill>
              <a:latin typeface="DejaVu Sans"/>
            </a:endParaRPr>
          </a:p>
        </p:txBody>
      </p:sp>
      <p:sp>
        <p:nvSpPr>
          <p:cNvPr id="143" name="Text 31"/>
          <p:cNvSpPr/>
          <p:nvPr/>
        </p:nvSpPr>
        <p:spPr>
          <a:xfrm>
            <a:off x="6656760" y="112464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50" spc="-1" strike="noStrike">
                <a:solidFill>
                  <a:srgbClr val="252a34"/>
                </a:solidFill>
                <a:latin typeface="Arial"/>
                <a:ea typeface="Arial"/>
              </a:rPr>
              <a:t>Icon schematic</a:t>
            </a:r>
            <a:endParaRPr b="0" lang="en-US" sz="1850" spc="-1" strike="noStrike">
              <a:solidFill>
                <a:srgbClr val="000000"/>
              </a:solidFill>
              <a:latin typeface="DejaVu Sans"/>
            </a:endParaRPr>
          </a:p>
        </p:txBody>
      </p:sp>
      <p:sp>
        <p:nvSpPr>
          <p:cNvPr id="144" name="Shape 32"/>
          <p:cNvSpPr/>
          <p:nvPr/>
        </p:nvSpPr>
        <p:spPr>
          <a:xfrm>
            <a:off x="6199560" y="1636920"/>
            <a:ext cx="5412960" cy="2916720"/>
          </a:xfrm>
          <a:prstGeom prst="roundRect">
            <a:avLst>
              <a:gd name="adj" fmla="val 2508"/>
            </a:avLst>
          </a:prstGeom>
          <a:solidFill>
            <a:srgbClr val="ffffff"/>
          </a:solidFill>
          <a:ln w="10160">
            <a:solidFill>
              <a:srgbClr val="d8dee4"/>
            </a:solidFill>
            <a:round/>
          </a:ln>
          <a:effectLst>
            <a:outerShdw algn="bl" blurRad="25560" dir="8100000" dist="12218"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pic>
        <p:nvPicPr>
          <p:cNvPr id="145" name="Image 1" descr="Option B: Icon schematic"/>
          <p:cNvPicPr/>
          <p:nvPr/>
        </p:nvPicPr>
        <p:blipFill>
          <a:blip r:embed="rId2"/>
          <a:stretch/>
        </p:blipFill>
        <p:spPr>
          <a:xfrm>
            <a:off x="6263640" y="1700640"/>
            <a:ext cx="5284800" cy="2788560"/>
          </a:xfrm>
          <a:prstGeom prst="rect">
            <a:avLst/>
          </a:prstGeom>
          <a:ln w="0">
            <a:noFill/>
          </a:ln>
        </p:spPr>
      </p:pic>
      <p:sp>
        <p:nvSpPr>
          <p:cNvPr id="146" name="Shape 33"/>
          <p:cNvSpPr/>
          <p:nvPr/>
        </p:nvSpPr>
        <p:spPr>
          <a:xfrm>
            <a:off x="9518760" y="1170360"/>
            <a:ext cx="932400" cy="292320"/>
          </a:xfrm>
          <a:prstGeom prst="roundRect">
            <a:avLst>
              <a:gd name="adj" fmla="val 25000"/>
            </a:avLst>
          </a:prstGeom>
          <a:solidFill>
            <a:srgbClr val="a87908"/>
          </a:solidFill>
          <a:ln w="7620">
            <a:solidFill>
              <a:srgbClr val="a8790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47" name="Text 34"/>
          <p:cNvSpPr/>
          <p:nvPr/>
        </p:nvSpPr>
        <p:spPr>
          <a:xfrm>
            <a:off x="9573840" y="1179720"/>
            <a:ext cx="82260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ffffff"/>
                </a:solidFill>
                <a:latin typeface="Arial"/>
                <a:ea typeface="Arial"/>
              </a:rPr>
              <a:t>Fastest read</a:t>
            </a:r>
            <a:endParaRPr b="0" lang="en-US" sz="960" spc="-1" strike="noStrike">
              <a:solidFill>
                <a:srgbClr val="000000"/>
              </a:solidFill>
              <a:latin typeface="DejaVu Sans"/>
            </a:endParaRPr>
          </a:p>
        </p:txBody>
      </p:sp>
      <p:sp>
        <p:nvSpPr>
          <p:cNvPr id="148" name="Shape 35"/>
          <p:cNvSpPr/>
          <p:nvPr/>
        </p:nvSpPr>
        <p:spPr>
          <a:xfrm>
            <a:off x="10542960" y="1170360"/>
            <a:ext cx="1023840" cy="292320"/>
          </a:xfrm>
          <a:prstGeom prst="roundRect">
            <a:avLst>
              <a:gd name="adj" fmla="val 25000"/>
            </a:avLst>
          </a:prstGeom>
          <a:solidFill>
            <a:srgbClr val="f9eae8"/>
          </a:solidFill>
          <a:ln w="7620">
            <a:solidFill>
              <a:srgbClr val="e8c3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149" name="Text 36"/>
          <p:cNvSpPr/>
          <p:nvPr/>
        </p:nvSpPr>
        <p:spPr>
          <a:xfrm>
            <a:off x="10598040" y="1179720"/>
            <a:ext cx="91404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c24f45"/>
                </a:solidFill>
                <a:latin typeface="Arial"/>
                <a:ea typeface="Arial"/>
              </a:rPr>
              <a:t>Weak data link</a:t>
            </a:r>
            <a:endParaRPr b="0" lang="en-US" sz="960" spc="-1" strike="noStrike">
              <a:solidFill>
                <a:srgbClr val="000000"/>
              </a:solidFill>
              <a:latin typeface="DejaVu Sans"/>
            </a:endParaRPr>
          </a:p>
        </p:txBody>
      </p:sp>
      <p:sp>
        <p:nvSpPr>
          <p:cNvPr id="150" name="Shape 37"/>
          <p:cNvSpPr/>
          <p:nvPr/>
        </p:nvSpPr>
        <p:spPr>
          <a:xfrm>
            <a:off x="6226920" y="4782240"/>
            <a:ext cx="109440" cy="109440"/>
          </a:xfrm>
          <a:prstGeom prst="roundRect">
            <a:avLst>
              <a:gd name="adj" fmla="val 25000"/>
            </a:avLst>
          </a:prstGeom>
          <a:solidFill>
            <a:srgbClr val="a87908"/>
          </a:solidFill>
          <a:ln w="12700">
            <a:solidFill>
              <a:srgbClr val="a8790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51" name="Text 38"/>
          <p:cNvSpPr/>
          <p:nvPr/>
        </p:nvSpPr>
        <p:spPr>
          <a:xfrm>
            <a:off x="6409800" y="473652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a87908"/>
                </a:solidFill>
                <a:latin typeface="Arial"/>
                <a:ea typeface="Arial"/>
              </a:rPr>
              <a:t>Intent</a:t>
            </a:r>
            <a:endParaRPr b="0" lang="en-US" sz="1120" spc="-1" strike="noStrike">
              <a:solidFill>
                <a:srgbClr val="000000"/>
              </a:solidFill>
              <a:latin typeface="DejaVu Sans"/>
            </a:endParaRPr>
          </a:p>
        </p:txBody>
      </p:sp>
      <p:sp>
        <p:nvSpPr>
          <p:cNvPr id="152" name="Text 39"/>
          <p:cNvSpPr/>
          <p:nvPr/>
        </p:nvSpPr>
        <p:spPr>
          <a:xfrm>
            <a:off x="7251120" y="4727520"/>
            <a:ext cx="4297320" cy="3106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Distinct interfaces + short/long PET + local targets</a:t>
            </a:r>
            <a:endParaRPr b="0" lang="en-US" sz="1110" spc="-1" strike="noStrike">
              <a:solidFill>
                <a:srgbClr val="000000"/>
              </a:solidFill>
              <a:latin typeface="DejaVu Sans"/>
            </a:endParaRPr>
          </a:p>
        </p:txBody>
      </p:sp>
      <p:sp>
        <p:nvSpPr>
          <p:cNvPr id="153" name="Shape 40"/>
          <p:cNvSpPr/>
          <p:nvPr/>
        </p:nvSpPr>
        <p:spPr>
          <a:xfrm>
            <a:off x="6226920" y="5166360"/>
            <a:ext cx="109440" cy="109440"/>
          </a:xfrm>
          <a:prstGeom prst="roundRect">
            <a:avLst>
              <a:gd name="adj" fmla="val 25000"/>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54" name="Text 41"/>
          <p:cNvSpPr/>
          <p:nvPr/>
        </p:nvSpPr>
        <p:spPr>
          <a:xfrm>
            <a:off x="6409800" y="512064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f8b62"/>
                </a:solidFill>
                <a:latin typeface="Arial"/>
                <a:ea typeface="Arial"/>
              </a:rPr>
              <a:t>Appeal</a:t>
            </a:r>
            <a:endParaRPr b="0" lang="en-US" sz="1120" spc="-1" strike="noStrike">
              <a:solidFill>
                <a:srgbClr val="000000"/>
              </a:solidFill>
              <a:latin typeface="DejaVu Sans"/>
            </a:endParaRPr>
          </a:p>
        </p:txBody>
      </p:sp>
      <p:sp>
        <p:nvSpPr>
          <p:cNvPr id="155" name="Text 42"/>
          <p:cNvSpPr/>
          <p:nvPr/>
        </p:nvSpPr>
        <p:spPr>
          <a:xfrm>
            <a:off x="7251120" y="5111640"/>
            <a:ext cx="4297320" cy="310680"/>
          </a:xfrm>
          <a:prstGeom prst="rect">
            <a:avLst/>
          </a:prstGeom>
          <a:noFill/>
          <a:ln w="0">
            <a:noFill/>
          </a:ln>
        </p:spPr>
        <p:style>
          <a:lnRef idx="0"/>
          <a:fillRef idx="0"/>
          <a:effectRef idx="0"/>
          <a:fontRef idx="minor"/>
        </p:style>
        <p:txBody>
          <a:bodyPr lIns="0" rIns="0" tIns="0" bIns="0" anchor="t">
            <a:normAutofit fontScale="96666"/>
          </a:bodyPr>
          <a:p>
            <a:pPr defTabSz="914400">
              <a:lnSpc>
                <a:spcPct val="100000"/>
              </a:lnSpc>
              <a:tabLst>
                <a:tab algn="l" pos="0"/>
              </a:tabLst>
            </a:pPr>
            <a:r>
              <a:rPr b="0" lang="en-US" sz="1110" spc="-1" strike="noStrike">
                <a:solidFill>
                  <a:srgbClr val="252a34"/>
                </a:solidFill>
                <a:latin typeface="Arial"/>
                <a:ea typeface="Arial"/>
              </a:rPr>
              <a:t>Clean silhouettes, prominent L10/L20, and fast thumbnail recognition</a:t>
            </a:r>
            <a:endParaRPr b="0" lang="en-US" sz="1110" spc="-1" strike="noStrike">
              <a:solidFill>
                <a:srgbClr val="000000"/>
              </a:solidFill>
              <a:latin typeface="DejaVu Sans"/>
            </a:endParaRPr>
          </a:p>
        </p:txBody>
      </p:sp>
      <p:sp>
        <p:nvSpPr>
          <p:cNvPr id="156" name="Shape 43"/>
          <p:cNvSpPr/>
          <p:nvPr/>
        </p:nvSpPr>
        <p:spPr>
          <a:xfrm>
            <a:off x="6226920" y="5550480"/>
            <a:ext cx="109440" cy="109440"/>
          </a:xfrm>
          <a:prstGeom prst="roundRect">
            <a:avLst>
              <a:gd name="adj" fmla="val 25000"/>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57" name="Text 44"/>
          <p:cNvSpPr/>
          <p:nvPr/>
        </p:nvSpPr>
        <p:spPr>
          <a:xfrm>
            <a:off x="6409800" y="550476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c24f45"/>
                </a:solidFill>
                <a:latin typeface="Arial"/>
                <a:ea typeface="Arial"/>
              </a:rPr>
              <a:t>Main risk</a:t>
            </a:r>
            <a:endParaRPr b="0" lang="en-US" sz="1120" spc="-1" strike="noStrike">
              <a:solidFill>
                <a:srgbClr val="000000"/>
              </a:solidFill>
              <a:latin typeface="DejaVu Sans"/>
            </a:endParaRPr>
          </a:p>
        </p:txBody>
      </p:sp>
      <p:sp>
        <p:nvSpPr>
          <p:cNvPr id="158" name="Text 45"/>
          <p:cNvSpPr/>
          <p:nvPr/>
        </p:nvSpPr>
        <p:spPr>
          <a:xfrm>
            <a:off x="7251120" y="5495400"/>
            <a:ext cx="4297320" cy="310680"/>
          </a:xfrm>
          <a:prstGeom prst="rect">
            <a:avLst/>
          </a:prstGeom>
          <a:noFill/>
          <a:ln w="0">
            <a:noFill/>
          </a:ln>
        </p:spPr>
        <p:style>
          <a:lnRef idx="0"/>
          <a:fillRef idx="0"/>
          <a:effectRef idx="0"/>
          <a:fontRef idx="minor"/>
        </p:style>
        <p:txBody>
          <a:bodyPr lIns="0" rIns="0" tIns="0" bIns="0" anchor="t">
            <a:normAutofit fontScale="87222"/>
          </a:bodyPr>
          <a:p>
            <a:pPr defTabSz="914400">
              <a:lnSpc>
                <a:spcPct val="100000"/>
              </a:lnSpc>
              <a:tabLst>
                <a:tab algn="l" pos="0"/>
              </a:tabLst>
            </a:pPr>
            <a:r>
              <a:rPr b="0" lang="en-US" sz="1110" spc="-1" strike="noStrike">
                <a:solidFill>
                  <a:srgbClr val="252a34"/>
                </a:solidFill>
                <a:latin typeface="Arial"/>
                <a:ea typeface="Arial"/>
              </a:rPr>
              <a:t>Schematic hotspots and H-bond/F210 icons can look mechanistically established</a:t>
            </a:r>
            <a:endParaRPr b="0" lang="en-US" sz="1110" spc="-1" strike="noStrike">
              <a:solidFill>
                <a:srgbClr val="000000"/>
              </a:solidFill>
              <a:latin typeface="DejaVu Sans"/>
            </a:endParaRPr>
          </a:p>
        </p:txBody>
      </p:sp>
      <p:sp>
        <p:nvSpPr>
          <p:cNvPr id="159" name="Shape 46"/>
          <p:cNvSpPr/>
          <p:nvPr/>
        </p:nvSpPr>
        <p:spPr>
          <a:xfrm>
            <a:off x="6226920" y="5934600"/>
            <a:ext cx="109440" cy="109440"/>
          </a:xfrm>
          <a:prstGeom prst="roundRect">
            <a:avLst>
              <a:gd name="adj" fmla="val 25000"/>
            </a:avLst>
          </a:prstGeom>
          <a:solidFill>
            <a:srgbClr val="657180"/>
          </a:solidFill>
          <a:ln w="12700">
            <a:solidFill>
              <a:srgbClr val="65718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60" name="Text 47"/>
          <p:cNvSpPr/>
          <p:nvPr/>
        </p:nvSpPr>
        <p:spPr>
          <a:xfrm>
            <a:off x="6409800" y="588888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657180"/>
                </a:solidFill>
                <a:latin typeface="Arial"/>
                <a:ea typeface="Arial"/>
              </a:rPr>
              <a:t>Best use</a:t>
            </a:r>
            <a:endParaRPr b="0" lang="en-US" sz="1120" spc="-1" strike="noStrike">
              <a:solidFill>
                <a:srgbClr val="000000"/>
              </a:solidFill>
              <a:latin typeface="DejaVu Sans"/>
            </a:endParaRPr>
          </a:p>
        </p:txBody>
      </p:sp>
      <p:sp>
        <p:nvSpPr>
          <p:cNvPr id="161" name="Text 48"/>
          <p:cNvSpPr/>
          <p:nvPr/>
        </p:nvSpPr>
        <p:spPr>
          <a:xfrm>
            <a:off x="7251120" y="5879520"/>
            <a:ext cx="4297320" cy="310680"/>
          </a:xfrm>
          <a:prstGeom prst="rect">
            <a:avLst/>
          </a:prstGeom>
          <a:noFill/>
          <a:ln w="0">
            <a:noFill/>
          </a:ln>
        </p:spPr>
        <p:style>
          <a:lnRef idx="0"/>
          <a:fillRef idx="0"/>
          <a:effectRef idx="0"/>
          <a:fontRef idx="minor"/>
        </p:style>
        <p:txBody>
          <a:bodyPr lIns="0" rIns="0" tIns="0" bIns="0" anchor="t">
            <a:normAutofit fontScale="87222"/>
          </a:bodyPr>
          <a:p>
            <a:pPr defTabSz="914400">
              <a:lnSpc>
                <a:spcPct val="100000"/>
              </a:lnSpc>
              <a:tabLst>
                <a:tab algn="l" pos="0"/>
              </a:tabLst>
            </a:pPr>
            <a:r>
              <a:rPr b="0" lang="en-US" sz="1110" spc="-1" strike="noStrike">
                <a:solidFill>
                  <a:srgbClr val="252a34"/>
                </a:solidFill>
                <a:latin typeface="Arial"/>
                <a:ea typeface="Arial"/>
              </a:rPr>
              <a:t>Good for a talk cover or concept sketch; weak as a data-led submission graphic</a:t>
            </a:r>
            <a:endParaRPr b="0" lang="en-US" sz="1110" spc="-1" strike="noStrike">
              <a:solidFill>
                <a:srgbClr val="000000"/>
              </a:solidFill>
              <a:latin typeface="DejaVu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162" name="Text 0"/>
          <p:cNvSpPr/>
          <p:nvPr/>
        </p:nvSpPr>
        <p:spPr>
          <a:xfrm>
            <a:off x="530280" y="219600"/>
            <a:ext cx="71319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pc="128" strike="noStrike">
                <a:solidFill>
                  <a:srgbClr val="657180"/>
                </a:solidFill>
                <a:latin typeface="Arial"/>
                <a:ea typeface="Arial"/>
              </a:rPr>
              <a:t>MOLECULAR GRID</a:t>
            </a:r>
            <a:endParaRPr b="0" lang="en-US" sz="950" spc="-1" strike="noStrike">
              <a:solidFill>
                <a:srgbClr val="000000"/>
              </a:solidFill>
              <a:latin typeface="DejaVu Sans"/>
            </a:endParaRPr>
          </a:p>
        </p:txBody>
      </p:sp>
      <p:sp>
        <p:nvSpPr>
          <p:cNvPr id="163" name="Text 1"/>
          <p:cNvSpPr/>
          <p:nvPr/>
        </p:nvSpPr>
        <p:spPr>
          <a:xfrm>
            <a:off x="530280" y="484560"/>
            <a:ext cx="105152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850" spc="-1" strike="noStrike">
                <a:solidFill>
                  <a:srgbClr val="252a34"/>
                </a:solidFill>
                <a:latin typeface="Arial"/>
                <a:ea typeface="Arial"/>
              </a:rPr>
              <a:t>Option C | Molecular grid: most complete, most crowded</a:t>
            </a:r>
            <a:endParaRPr b="0" lang="en-US" sz="2850" spc="-1" strike="noStrike">
              <a:solidFill>
                <a:srgbClr val="000000"/>
              </a:solidFill>
              <a:latin typeface="DejaVu Sans"/>
            </a:endParaRPr>
          </a:p>
        </p:txBody>
      </p:sp>
      <p:sp>
        <p:nvSpPr>
          <p:cNvPr id="164" name="Shape 2"/>
          <p:cNvSpPr/>
          <p:nvPr/>
        </p:nvSpPr>
        <p:spPr>
          <a:xfrm>
            <a:off x="10716840" y="2833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65" name="Text 3"/>
          <p:cNvSpPr/>
          <p:nvPr/>
        </p:nvSpPr>
        <p:spPr>
          <a:xfrm>
            <a:off x="1071684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000000"/>
              </a:solidFill>
              <a:latin typeface="DejaVu Sans"/>
            </a:endParaRPr>
          </a:p>
        </p:txBody>
      </p:sp>
      <p:sp>
        <p:nvSpPr>
          <p:cNvPr id="166" name="Shape 4"/>
          <p:cNvSpPr/>
          <p:nvPr/>
        </p:nvSpPr>
        <p:spPr>
          <a:xfrm>
            <a:off x="11256120" y="2833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67" name="Text 5"/>
          <p:cNvSpPr/>
          <p:nvPr/>
        </p:nvSpPr>
        <p:spPr>
          <a:xfrm>
            <a:off x="1125612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000000"/>
              </a:solidFill>
              <a:latin typeface="DejaVu Sans"/>
            </a:endParaRPr>
          </a:p>
        </p:txBody>
      </p:sp>
      <p:sp>
        <p:nvSpPr>
          <p:cNvPr id="168" name="Shape 6"/>
          <p:cNvSpPr/>
          <p:nvPr/>
        </p:nvSpPr>
        <p:spPr>
          <a:xfrm>
            <a:off x="11192040" y="397440"/>
            <a:ext cx="73080" cy="360"/>
          </a:xfrm>
          <a:prstGeom prst="line">
            <a:avLst/>
          </a:prstGeom>
          <a:ln w="15240">
            <a:solidFill>
              <a:srgbClr val="d7de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DejaVu Sans"/>
            </a:endParaRPr>
          </a:p>
        </p:txBody>
      </p:sp>
      <p:sp>
        <p:nvSpPr>
          <p:cNvPr id="169" name="Text 7"/>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8a96a3"/>
                </a:solidFill>
                <a:latin typeface="Arial"/>
                <a:ea typeface="Arial"/>
              </a:rPr>
              <a:t>PETase manuscript · TOC graphic review</a:t>
            </a:r>
            <a:endParaRPr b="0" lang="en-US" sz="880" spc="-1" strike="noStrike">
              <a:solidFill>
                <a:srgbClr val="000000"/>
              </a:solidFill>
              <a:latin typeface="DejaVu Sans"/>
            </a:endParaRPr>
          </a:p>
        </p:txBody>
      </p:sp>
      <p:sp>
        <p:nvSpPr>
          <p:cNvPr id="170" name="Text 8"/>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8a96a3"/>
                </a:solidFill>
                <a:latin typeface="Arial"/>
                <a:ea typeface="Arial"/>
              </a:rPr>
              <a:t>04</a:t>
            </a:r>
            <a:endParaRPr b="0" lang="en-US" sz="920" spc="-1" strike="noStrike">
              <a:solidFill>
                <a:srgbClr val="000000"/>
              </a:solidFill>
              <a:latin typeface="DejaVu Sans"/>
            </a:endParaRPr>
          </a:p>
        </p:txBody>
      </p:sp>
      <p:sp>
        <p:nvSpPr>
          <p:cNvPr id="171" name="Shape 9"/>
          <p:cNvSpPr/>
          <p:nvPr/>
        </p:nvSpPr>
        <p:spPr>
          <a:xfrm>
            <a:off x="576000" y="1143000"/>
            <a:ext cx="347040" cy="347040"/>
          </a:xfrm>
          <a:prstGeom prst="ellipse">
            <a:avLst/>
          </a:prstGeom>
          <a:solidFill>
            <a:srgbClr val="8064a2"/>
          </a:solidFill>
          <a:ln w="12700">
            <a:solidFill>
              <a:srgbClr val="8064a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72" name="Text 10"/>
          <p:cNvSpPr/>
          <p:nvPr/>
        </p:nvSpPr>
        <p:spPr>
          <a:xfrm>
            <a:off x="576000" y="1152000"/>
            <a:ext cx="3470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pc="-1" strike="noStrike">
                <a:solidFill>
                  <a:srgbClr val="ffffff"/>
                </a:solidFill>
                <a:latin typeface="Arial"/>
                <a:ea typeface="Arial"/>
              </a:rPr>
              <a:t>C</a:t>
            </a:r>
            <a:endParaRPr b="0" lang="en-US" sz="1150" spc="-1" strike="noStrike">
              <a:solidFill>
                <a:srgbClr val="000000"/>
              </a:solidFill>
              <a:latin typeface="DejaVu Sans"/>
            </a:endParaRPr>
          </a:p>
        </p:txBody>
      </p:sp>
      <p:sp>
        <p:nvSpPr>
          <p:cNvPr id="173" name="Text 11"/>
          <p:cNvSpPr/>
          <p:nvPr/>
        </p:nvSpPr>
        <p:spPr>
          <a:xfrm>
            <a:off x="1033200" y="112464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50" spc="-1" strike="noStrike">
                <a:solidFill>
                  <a:srgbClr val="252a34"/>
                </a:solidFill>
                <a:latin typeface="Arial"/>
                <a:ea typeface="Arial"/>
              </a:rPr>
              <a:t>Six structures + four local events</a:t>
            </a:r>
            <a:endParaRPr b="0" lang="en-US" sz="1850" spc="-1" strike="noStrike">
              <a:solidFill>
                <a:srgbClr val="000000"/>
              </a:solidFill>
              <a:latin typeface="DejaVu Sans"/>
            </a:endParaRPr>
          </a:p>
        </p:txBody>
      </p:sp>
      <p:sp>
        <p:nvSpPr>
          <p:cNvPr id="174" name="Shape 12"/>
          <p:cNvSpPr/>
          <p:nvPr/>
        </p:nvSpPr>
        <p:spPr>
          <a:xfrm>
            <a:off x="576000" y="1618560"/>
            <a:ext cx="7452000" cy="4014000"/>
          </a:xfrm>
          <a:prstGeom prst="roundRect">
            <a:avLst>
              <a:gd name="adj" fmla="val 1822"/>
            </a:avLst>
          </a:prstGeom>
          <a:solidFill>
            <a:srgbClr val="ffffff"/>
          </a:solidFill>
          <a:ln w="10160">
            <a:solidFill>
              <a:srgbClr val="d8dee4"/>
            </a:solidFill>
            <a:round/>
          </a:ln>
          <a:effectLst>
            <a:outerShdw algn="bl" blurRad="25560" dir="8100000" dist="12218"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pic>
        <p:nvPicPr>
          <p:cNvPr id="175" name="Image 0" descr="Option C: molecular grid"/>
          <p:cNvPicPr/>
          <p:nvPr/>
        </p:nvPicPr>
        <p:blipFill>
          <a:blip r:embed="rId1"/>
          <a:stretch/>
        </p:blipFill>
        <p:spPr>
          <a:xfrm>
            <a:off x="649080" y="1691640"/>
            <a:ext cx="7305840" cy="3867480"/>
          </a:xfrm>
          <a:prstGeom prst="rect">
            <a:avLst/>
          </a:prstGeom>
          <a:ln w="0">
            <a:noFill/>
          </a:ln>
        </p:spPr>
      </p:pic>
      <p:sp>
        <p:nvSpPr>
          <p:cNvPr id="176" name="Shape 13"/>
          <p:cNvSpPr/>
          <p:nvPr/>
        </p:nvSpPr>
        <p:spPr>
          <a:xfrm>
            <a:off x="8321040" y="1143000"/>
            <a:ext cx="3254760" cy="5028840"/>
          </a:xfrm>
          <a:prstGeom prst="roundRect">
            <a:avLst>
              <a:gd name="adj" fmla="val 2809"/>
            </a:avLst>
          </a:prstGeom>
          <a:solidFill>
            <a:srgbClr val="ffffff"/>
          </a:solidFill>
          <a:ln w="10160">
            <a:solidFill>
              <a:srgbClr val="d8dee4"/>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177" name="Shape 14"/>
          <p:cNvSpPr/>
          <p:nvPr/>
        </p:nvSpPr>
        <p:spPr>
          <a:xfrm>
            <a:off x="8595360" y="1389960"/>
            <a:ext cx="1243080" cy="292320"/>
          </a:xfrm>
          <a:prstGeom prst="roundRect">
            <a:avLst>
              <a:gd name="adj" fmla="val 25000"/>
            </a:avLst>
          </a:prstGeom>
          <a:solidFill>
            <a:srgbClr val="8064a2"/>
          </a:solidFill>
          <a:ln w="7620">
            <a:solidFill>
              <a:srgbClr val="8064a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78" name="Text 15"/>
          <p:cNvSpPr/>
          <p:nvPr/>
        </p:nvSpPr>
        <p:spPr>
          <a:xfrm>
            <a:off x="8650080" y="1398960"/>
            <a:ext cx="113364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ffffff"/>
                </a:solidFill>
                <a:latin typeface="Arial"/>
                <a:ea typeface="Arial"/>
              </a:rPr>
              <a:t>Structure-rich</a:t>
            </a:r>
            <a:endParaRPr b="0" lang="en-US" sz="960" spc="-1" strike="noStrike">
              <a:solidFill>
                <a:srgbClr val="000000"/>
              </a:solidFill>
              <a:latin typeface="DejaVu Sans"/>
            </a:endParaRPr>
          </a:p>
        </p:txBody>
      </p:sp>
      <p:sp>
        <p:nvSpPr>
          <p:cNvPr id="179" name="Shape 16"/>
          <p:cNvSpPr/>
          <p:nvPr/>
        </p:nvSpPr>
        <p:spPr>
          <a:xfrm>
            <a:off x="9966960" y="1389960"/>
            <a:ext cx="1225080" cy="292320"/>
          </a:xfrm>
          <a:prstGeom prst="roundRect">
            <a:avLst>
              <a:gd name="adj" fmla="val 25000"/>
            </a:avLst>
          </a:prstGeom>
          <a:solidFill>
            <a:srgbClr val="f9eae8"/>
          </a:solidFill>
          <a:ln w="7620">
            <a:solidFill>
              <a:srgbClr val="e8c3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180" name="Text 17"/>
          <p:cNvSpPr/>
          <p:nvPr/>
        </p:nvSpPr>
        <p:spPr>
          <a:xfrm>
            <a:off x="10021680" y="1398960"/>
            <a:ext cx="111528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c24f45"/>
                </a:solidFill>
                <a:latin typeface="Arial"/>
                <a:ea typeface="Arial"/>
              </a:rPr>
              <a:t>Poor thumbnail</a:t>
            </a:r>
            <a:endParaRPr b="0" lang="en-US" sz="960" spc="-1" strike="noStrike">
              <a:solidFill>
                <a:srgbClr val="000000"/>
              </a:solidFill>
              <a:latin typeface="DejaVu Sans"/>
            </a:endParaRPr>
          </a:p>
        </p:txBody>
      </p:sp>
      <p:sp>
        <p:nvSpPr>
          <p:cNvPr id="181" name="Shape 18"/>
          <p:cNvSpPr/>
          <p:nvPr/>
        </p:nvSpPr>
        <p:spPr>
          <a:xfrm>
            <a:off x="8577000" y="1956960"/>
            <a:ext cx="109440" cy="109440"/>
          </a:xfrm>
          <a:prstGeom prst="roundRect">
            <a:avLst>
              <a:gd name="adj" fmla="val 25000"/>
            </a:avLst>
          </a:prstGeom>
          <a:solidFill>
            <a:srgbClr val="8064a2"/>
          </a:solidFill>
          <a:ln w="12700">
            <a:solidFill>
              <a:srgbClr val="8064a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82" name="Text 19"/>
          <p:cNvSpPr/>
          <p:nvPr/>
        </p:nvSpPr>
        <p:spPr>
          <a:xfrm>
            <a:off x="8759880" y="191124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8064a2"/>
                </a:solidFill>
                <a:latin typeface="Arial"/>
                <a:ea typeface="Arial"/>
              </a:rPr>
              <a:t>Intent</a:t>
            </a:r>
            <a:endParaRPr b="0" lang="en-US" sz="1120" spc="-1" strike="noStrike">
              <a:solidFill>
                <a:srgbClr val="000000"/>
              </a:solidFill>
              <a:latin typeface="DejaVu Sans"/>
            </a:endParaRPr>
          </a:p>
        </p:txBody>
      </p:sp>
      <p:sp>
        <p:nvSpPr>
          <p:cNvPr id="183" name="Text 20"/>
          <p:cNvSpPr/>
          <p:nvPr/>
        </p:nvSpPr>
        <p:spPr>
          <a:xfrm>
            <a:off x="9601200" y="1901880"/>
            <a:ext cx="1672920" cy="5666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Six interfaces, chain-length shifts, and four local events.</a:t>
            </a:r>
            <a:endParaRPr b="0" lang="en-US" sz="1110" spc="-1" strike="noStrike">
              <a:solidFill>
                <a:srgbClr val="000000"/>
              </a:solidFill>
              <a:latin typeface="DejaVu Sans"/>
            </a:endParaRPr>
          </a:p>
        </p:txBody>
      </p:sp>
      <p:sp>
        <p:nvSpPr>
          <p:cNvPr id="184" name="Shape 21"/>
          <p:cNvSpPr/>
          <p:nvPr/>
        </p:nvSpPr>
        <p:spPr>
          <a:xfrm>
            <a:off x="8577000" y="2633400"/>
            <a:ext cx="109440" cy="109440"/>
          </a:xfrm>
          <a:prstGeom prst="roundRect">
            <a:avLst>
              <a:gd name="adj" fmla="val 25000"/>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85" name="Text 22"/>
          <p:cNvSpPr/>
          <p:nvPr/>
        </p:nvSpPr>
        <p:spPr>
          <a:xfrm>
            <a:off x="8759880" y="258768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f8b62"/>
                </a:solidFill>
                <a:latin typeface="Arial"/>
                <a:ea typeface="Arial"/>
              </a:rPr>
              <a:t>Strength</a:t>
            </a:r>
            <a:endParaRPr b="0" lang="en-US" sz="1120" spc="-1" strike="noStrike">
              <a:solidFill>
                <a:srgbClr val="000000"/>
              </a:solidFill>
              <a:latin typeface="DejaVu Sans"/>
            </a:endParaRPr>
          </a:p>
        </p:txBody>
      </p:sp>
      <p:sp>
        <p:nvSpPr>
          <p:cNvPr id="186" name="Text 23"/>
          <p:cNvSpPr/>
          <p:nvPr/>
        </p:nvSpPr>
        <p:spPr>
          <a:xfrm>
            <a:off x="9601200" y="2578680"/>
            <a:ext cx="1672920" cy="5666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Rich in real structures; easy to audit internally.</a:t>
            </a:r>
            <a:endParaRPr b="0" lang="en-US" sz="1110" spc="-1" strike="noStrike">
              <a:solidFill>
                <a:srgbClr val="000000"/>
              </a:solidFill>
              <a:latin typeface="DejaVu Sans"/>
            </a:endParaRPr>
          </a:p>
        </p:txBody>
      </p:sp>
      <p:sp>
        <p:nvSpPr>
          <p:cNvPr id="187" name="Shape 24"/>
          <p:cNvSpPr/>
          <p:nvPr/>
        </p:nvSpPr>
        <p:spPr>
          <a:xfrm>
            <a:off x="8577000" y="3310200"/>
            <a:ext cx="109440" cy="109440"/>
          </a:xfrm>
          <a:prstGeom prst="roundRect">
            <a:avLst>
              <a:gd name="adj" fmla="val 25000"/>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188" name="Text 25"/>
          <p:cNvSpPr/>
          <p:nvPr/>
        </p:nvSpPr>
        <p:spPr>
          <a:xfrm>
            <a:off x="8759880" y="326448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c24f45"/>
                </a:solidFill>
                <a:latin typeface="Arial"/>
                <a:ea typeface="Arial"/>
              </a:rPr>
              <a:t>Risk</a:t>
            </a:r>
            <a:endParaRPr b="0" lang="en-US" sz="1120" spc="-1" strike="noStrike">
              <a:solidFill>
                <a:srgbClr val="000000"/>
              </a:solidFill>
              <a:latin typeface="DejaVu Sans"/>
            </a:endParaRPr>
          </a:p>
        </p:txBody>
      </p:sp>
      <p:sp>
        <p:nvSpPr>
          <p:cNvPr id="189" name="Text 26"/>
          <p:cNvSpPr/>
          <p:nvPr/>
        </p:nvSpPr>
        <p:spPr>
          <a:xfrm>
            <a:off x="9601200" y="3255120"/>
            <a:ext cx="1672920" cy="8226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Flat hierarchy; close-ups overpower population evidence; labels compete at final size.</a:t>
            </a:r>
            <a:endParaRPr b="0" lang="en-US" sz="1110" spc="-1" strike="noStrike">
              <a:solidFill>
                <a:srgbClr val="000000"/>
              </a:solidFill>
              <a:latin typeface="DejaVu Sans"/>
            </a:endParaRPr>
          </a:p>
        </p:txBody>
      </p:sp>
      <p:sp>
        <p:nvSpPr>
          <p:cNvPr id="190" name="Text 27"/>
          <p:cNvSpPr/>
          <p:nvPr/>
        </p:nvSpPr>
        <p:spPr>
          <a:xfrm>
            <a:off x="8595360" y="4325040"/>
            <a:ext cx="255996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pc="-1" strike="noStrike">
                <a:solidFill>
                  <a:srgbClr val="252a34"/>
                </a:solidFill>
                <a:latin typeface="Arial"/>
                <a:ea typeface="Arial"/>
              </a:rPr>
              <a:t>Verdict</a:t>
            </a:r>
            <a:endParaRPr b="0" lang="en-US" sz="1450" spc="-1" strike="noStrike">
              <a:solidFill>
                <a:srgbClr val="000000"/>
              </a:solidFill>
              <a:latin typeface="DejaVu Sans"/>
            </a:endParaRPr>
          </a:p>
        </p:txBody>
      </p:sp>
      <p:sp>
        <p:nvSpPr>
          <p:cNvPr id="191" name="Text 28"/>
          <p:cNvSpPr/>
          <p:nvPr/>
        </p:nvSpPr>
        <p:spPr>
          <a:xfrm>
            <a:off x="8595360" y="4645080"/>
            <a:ext cx="2587320" cy="5209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320" spc="-1" strike="noStrike">
                <a:solidFill>
                  <a:srgbClr val="252a34"/>
                </a:solidFill>
                <a:latin typeface="Arial"/>
                <a:ea typeface="Arial"/>
              </a:rPr>
              <a:t>A miniature results figure, not a single-message TOC graphic.</a:t>
            </a:r>
            <a:endParaRPr b="0" lang="en-US" sz="1320" spc="-1" strike="noStrike">
              <a:solidFill>
                <a:srgbClr val="000000"/>
              </a:solidFill>
              <a:latin typeface="DejaVu Sans"/>
            </a:endParaRPr>
          </a:p>
        </p:txBody>
      </p:sp>
      <p:sp>
        <p:nvSpPr>
          <p:cNvPr id="192" name="Text 29"/>
          <p:cNvSpPr/>
          <p:nvPr/>
        </p:nvSpPr>
        <p:spPr>
          <a:xfrm>
            <a:off x="8549640" y="525780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Scientific fidelity</a:t>
            </a:r>
            <a:endParaRPr b="0" lang="en-US" sz="1120" spc="-1" strike="noStrike">
              <a:solidFill>
                <a:srgbClr val="000000"/>
              </a:solidFill>
              <a:latin typeface="DejaVu Sans"/>
            </a:endParaRPr>
          </a:p>
        </p:txBody>
      </p:sp>
      <p:sp>
        <p:nvSpPr>
          <p:cNvPr id="193" name="Shape 30"/>
          <p:cNvSpPr/>
          <p:nvPr/>
        </p:nvSpPr>
        <p:spPr>
          <a:xfrm>
            <a:off x="10031040" y="5303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194" name="Shape 31"/>
          <p:cNvSpPr/>
          <p:nvPr/>
        </p:nvSpPr>
        <p:spPr>
          <a:xfrm>
            <a:off x="10031040" y="530352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195" name="Shape 32"/>
          <p:cNvSpPr/>
          <p:nvPr/>
        </p:nvSpPr>
        <p:spPr>
          <a:xfrm>
            <a:off x="10278000" y="5303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196" name="Shape 33"/>
          <p:cNvSpPr/>
          <p:nvPr/>
        </p:nvSpPr>
        <p:spPr>
          <a:xfrm>
            <a:off x="10278000" y="530352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197" name="Shape 34"/>
          <p:cNvSpPr/>
          <p:nvPr/>
        </p:nvSpPr>
        <p:spPr>
          <a:xfrm>
            <a:off x="10524600" y="5303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198" name="Shape 35"/>
          <p:cNvSpPr/>
          <p:nvPr/>
        </p:nvSpPr>
        <p:spPr>
          <a:xfrm>
            <a:off x="10524600" y="530352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199" name="Shape 36"/>
          <p:cNvSpPr/>
          <p:nvPr/>
        </p:nvSpPr>
        <p:spPr>
          <a:xfrm>
            <a:off x="10771560" y="5303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00" name="Shape 37"/>
          <p:cNvSpPr/>
          <p:nvPr/>
        </p:nvSpPr>
        <p:spPr>
          <a:xfrm>
            <a:off x="11018520" y="5303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01" name="Text 38"/>
          <p:cNvSpPr/>
          <p:nvPr/>
        </p:nvSpPr>
        <p:spPr>
          <a:xfrm>
            <a:off x="11292840" y="524880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3.0</a:t>
            </a:r>
            <a:endParaRPr b="0" lang="en-US" sz="1040" spc="-1" strike="noStrike">
              <a:solidFill>
                <a:srgbClr val="000000"/>
              </a:solidFill>
              <a:latin typeface="DejaVu Sans"/>
            </a:endParaRPr>
          </a:p>
        </p:txBody>
      </p:sp>
      <p:sp>
        <p:nvSpPr>
          <p:cNvPr id="202" name="Text 39"/>
          <p:cNvSpPr/>
          <p:nvPr/>
        </p:nvSpPr>
        <p:spPr>
          <a:xfrm>
            <a:off x="8549640" y="554112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3-second clarity</a:t>
            </a:r>
            <a:endParaRPr b="0" lang="en-US" sz="1120" spc="-1" strike="noStrike">
              <a:solidFill>
                <a:srgbClr val="000000"/>
              </a:solidFill>
              <a:latin typeface="DejaVu Sans"/>
            </a:endParaRPr>
          </a:p>
        </p:txBody>
      </p:sp>
      <p:sp>
        <p:nvSpPr>
          <p:cNvPr id="203" name="Shape 40"/>
          <p:cNvSpPr/>
          <p:nvPr/>
        </p:nvSpPr>
        <p:spPr>
          <a:xfrm>
            <a:off x="10031040" y="55868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04" name="Shape 41"/>
          <p:cNvSpPr/>
          <p:nvPr/>
        </p:nvSpPr>
        <p:spPr>
          <a:xfrm>
            <a:off x="10031040" y="5586840"/>
            <a:ext cx="182520" cy="109440"/>
          </a:xfrm>
          <a:prstGeom prst="roundRect">
            <a:avLst>
              <a:gd name="adj" fmla="val 33333"/>
            </a:avLst>
          </a:prstGeom>
          <a:solidFill>
            <a:srgbClr val="d66a1f"/>
          </a:solidFill>
          <a:ln w="12700">
            <a:solidFill>
              <a:srgbClr val="d66a1f">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05" name="Shape 42"/>
          <p:cNvSpPr/>
          <p:nvPr/>
        </p:nvSpPr>
        <p:spPr>
          <a:xfrm>
            <a:off x="10278000" y="55868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06" name="Shape 43"/>
          <p:cNvSpPr/>
          <p:nvPr/>
        </p:nvSpPr>
        <p:spPr>
          <a:xfrm>
            <a:off x="10278000" y="5586840"/>
            <a:ext cx="182520" cy="109440"/>
          </a:xfrm>
          <a:prstGeom prst="roundRect">
            <a:avLst>
              <a:gd name="adj" fmla="val 33333"/>
            </a:avLst>
          </a:prstGeom>
          <a:solidFill>
            <a:srgbClr val="d66a1f"/>
          </a:solidFill>
          <a:ln w="12700">
            <a:solidFill>
              <a:srgbClr val="d66a1f">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07" name="Shape 44"/>
          <p:cNvSpPr/>
          <p:nvPr/>
        </p:nvSpPr>
        <p:spPr>
          <a:xfrm>
            <a:off x="10524600" y="55868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08" name="Shape 45"/>
          <p:cNvSpPr/>
          <p:nvPr/>
        </p:nvSpPr>
        <p:spPr>
          <a:xfrm>
            <a:off x="10524600" y="5586840"/>
            <a:ext cx="91080" cy="109440"/>
          </a:xfrm>
          <a:prstGeom prst="rect">
            <a:avLst/>
          </a:prstGeom>
          <a:solidFill>
            <a:srgbClr val="d66a1f"/>
          </a:solidFill>
          <a:ln w="12700">
            <a:solidFill>
              <a:srgbClr val="d66a1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09" name="Shape 46"/>
          <p:cNvSpPr/>
          <p:nvPr/>
        </p:nvSpPr>
        <p:spPr>
          <a:xfrm>
            <a:off x="10771560" y="55868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10" name="Shape 47"/>
          <p:cNvSpPr/>
          <p:nvPr/>
        </p:nvSpPr>
        <p:spPr>
          <a:xfrm>
            <a:off x="11018520" y="55868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11" name="Text 48"/>
          <p:cNvSpPr/>
          <p:nvPr/>
        </p:nvSpPr>
        <p:spPr>
          <a:xfrm>
            <a:off x="11292840" y="553212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2.5</a:t>
            </a:r>
            <a:endParaRPr b="0" lang="en-US" sz="1040" spc="-1" strike="noStrike">
              <a:solidFill>
                <a:srgbClr val="000000"/>
              </a:solidFill>
              <a:latin typeface="DejaVu Sans"/>
            </a:endParaRPr>
          </a:p>
        </p:txBody>
      </p:sp>
      <p:sp>
        <p:nvSpPr>
          <p:cNvPr id="212" name="Text 49"/>
          <p:cNvSpPr/>
          <p:nvPr/>
        </p:nvSpPr>
        <p:spPr>
          <a:xfrm>
            <a:off x="8549640" y="582480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Thumbnail clarity</a:t>
            </a:r>
            <a:endParaRPr b="0" lang="en-US" sz="1120" spc="-1" strike="noStrike">
              <a:solidFill>
                <a:srgbClr val="000000"/>
              </a:solidFill>
              <a:latin typeface="DejaVu Sans"/>
            </a:endParaRPr>
          </a:p>
        </p:txBody>
      </p:sp>
      <p:sp>
        <p:nvSpPr>
          <p:cNvPr id="213" name="Shape 50"/>
          <p:cNvSpPr/>
          <p:nvPr/>
        </p:nvSpPr>
        <p:spPr>
          <a:xfrm>
            <a:off x="10031040" y="5870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14" name="Shape 51"/>
          <p:cNvSpPr/>
          <p:nvPr/>
        </p:nvSpPr>
        <p:spPr>
          <a:xfrm>
            <a:off x="10031040" y="5870520"/>
            <a:ext cx="182520" cy="109440"/>
          </a:xfrm>
          <a:prstGeom prst="roundRect">
            <a:avLst>
              <a:gd name="adj" fmla="val 33333"/>
            </a:avLst>
          </a:prstGeom>
          <a:solidFill>
            <a:srgbClr val="c24f45"/>
          </a:solidFill>
          <a:ln w="12700">
            <a:solidFill>
              <a:srgbClr val="c24f45">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15" name="Shape 52"/>
          <p:cNvSpPr/>
          <p:nvPr/>
        </p:nvSpPr>
        <p:spPr>
          <a:xfrm>
            <a:off x="10278000" y="5870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16" name="Shape 53"/>
          <p:cNvSpPr/>
          <p:nvPr/>
        </p:nvSpPr>
        <p:spPr>
          <a:xfrm>
            <a:off x="10278000" y="5870520"/>
            <a:ext cx="182520" cy="109440"/>
          </a:xfrm>
          <a:prstGeom prst="roundRect">
            <a:avLst>
              <a:gd name="adj" fmla="val 33333"/>
            </a:avLst>
          </a:prstGeom>
          <a:solidFill>
            <a:srgbClr val="c24f45"/>
          </a:solidFill>
          <a:ln w="12700">
            <a:solidFill>
              <a:srgbClr val="c24f45">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17" name="Shape 54"/>
          <p:cNvSpPr/>
          <p:nvPr/>
        </p:nvSpPr>
        <p:spPr>
          <a:xfrm>
            <a:off x="10524600" y="5870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18" name="Shape 55"/>
          <p:cNvSpPr/>
          <p:nvPr/>
        </p:nvSpPr>
        <p:spPr>
          <a:xfrm>
            <a:off x="10771560" y="5870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19" name="Shape 56"/>
          <p:cNvSpPr/>
          <p:nvPr/>
        </p:nvSpPr>
        <p:spPr>
          <a:xfrm>
            <a:off x="11018520" y="587052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20" name="Text 57"/>
          <p:cNvSpPr/>
          <p:nvPr/>
        </p:nvSpPr>
        <p:spPr>
          <a:xfrm>
            <a:off x="11292840" y="581544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2.0</a:t>
            </a:r>
            <a:endParaRPr b="0" lang="en-US" sz="1040" spc="-1" strike="noStrike">
              <a:solidFill>
                <a:srgbClr val="000000"/>
              </a:solidFill>
              <a:latin typeface="DejaVu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221" name="Text 0"/>
          <p:cNvSpPr/>
          <p:nvPr/>
        </p:nvSpPr>
        <p:spPr>
          <a:xfrm>
            <a:off x="530280" y="219600"/>
            <a:ext cx="71319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pc="128" strike="noStrike">
                <a:solidFill>
                  <a:srgbClr val="657180"/>
                </a:solidFill>
                <a:latin typeface="Arial"/>
                <a:ea typeface="Arial"/>
              </a:rPr>
              <a:t>VISUAL HERO</a:t>
            </a:r>
            <a:endParaRPr b="0" lang="en-US" sz="950" spc="-1" strike="noStrike">
              <a:solidFill>
                <a:srgbClr val="000000"/>
              </a:solidFill>
              <a:latin typeface="DejaVu Sans"/>
            </a:endParaRPr>
          </a:p>
        </p:txBody>
      </p:sp>
      <p:sp>
        <p:nvSpPr>
          <p:cNvPr id="222" name="Text 1"/>
          <p:cNvSpPr/>
          <p:nvPr/>
        </p:nvSpPr>
        <p:spPr>
          <a:xfrm>
            <a:off x="530280" y="484560"/>
            <a:ext cx="105152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850" spc="-1" strike="noStrike">
                <a:solidFill>
                  <a:srgbClr val="252a34"/>
                </a:solidFill>
                <a:latin typeface="Arial"/>
                <a:ea typeface="Arial"/>
              </a:rPr>
              <a:t>Option D | Hero concept: strongest first impression</a:t>
            </a:r>
            <a:endParaRPr b="0" lang="en-US" sz="2850" spc="-1" strike="noStrike">
              <a:solidFill>
                <a:srgbClr val="000000"/>
              </a:solidFill>
              <a:latin typeface="DejaVu Sans"/>
            </a:endParaRPr>
          </a:p>
        </p:txBody>
      </p:sp>
      <p:sp>
        <p:nvSpPr>
          <p:cNvPr id="223" name="Shape 2"/>
          <p:cNvSpPr/>
          <p:nvPr/>
        </p:nvSpPr>
        <p:spPr>
          <a:xfrm>
            <a:off x="10716840" y="2833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24" name="Text 3"/>
          <p:cNvSpPr/>
          <p:nvPr/>
        </p:nvSpPr>
        <p:spPr>
          <a:xfrm>
            <a:off x="1071684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000000"/>
              </a:solidFill>
              <a:latin typeface="DejaVu Sans"/>
            </a:endParaRPr>
          </a:p>
        </p:txBody>
      </p:sp>
      <p:sp>
        <p:nvSpPr>
          <p:cNvPr id="225" name="Shape 4"/>
          <p:cNvSpPr/>
          <p:nvPr/>
        </p:nvSpPr>
        <p:spPr>
          <a:xfrm>
            <a:off x="11256120" y="2833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26" name="Text 5"/>
          <p:cNvSpPr/>
          <p:nvPr/>
        </p:nvSpPr>
        <p:spPr>
          <a:xfrm>
            <a:off x="1125612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000000"/>
              </a:solidFill>
              <a:latin typeface="DejaVu Sans"/>
            </a:endParaRPr>
          </a:p>
        </p:txBody>
      </p:sp>
      <p:sp>
        <p:nvSpPr>
          <p:cNvPr id="227" name="Shape 6"/>
          <p:cNvSpPr/>
          <p:nvPr/>
        </p:nvSpPr>
        <p:spPr>
          <a:xfrm>
            <a:off x="11192040" y="397440"/>
            <a:ext cx="73080" cy="360"/>
          </a:xfrm>
          <a:prstGeom prst="line">
            <a:avLst/>
          </a:prstGeom>
          <a:ln w="15240">
            <a:solidFill>
              <a:srgbClr val="d7de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DejaVu Sans"/>
            </a:endParaRPr>
          </a:p>
        </p:txBody>
      </p:sp>
      <p:sp>
        <p:nvSpPr>
          <p:cNvPr id="228" name="Text 7"/>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8a96a3"/>
                </a:solidFill>
                <a:latin typeface="Arial"/>
                <a:ea typeface="Arial"/>
              </a:rPr>
              <a:t>PETase manuscript · TOC graphic review</a:t>
            </a:r>
            <a:endParaRPr b="0" lang="en-US" sz="880" spc="-1" strike="noStrike">
              <a:solidFill>
                <a:srgbClr val="000000"/>
              </a:solidFill>
              <a:latin typeface="DejaVu Sans"/>
            </a:endParaRPr>
          </a:p>
        </p:txBody>
      </p:sp>
      <p:sp>
        <p:nvSpPr>
          <p:cNvPr id="229" name="Text 8"/>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8a96a3"/>
                </a:solidFill>
                <a:latin typeface="Arial"/>
                <a:ea typeface="Arial"/>
              </a:rPr>
              <a:t>05</a:t>
            </a:r>
            <a:endParaRPr b="0" lang="en-US" sz="920" spc="-1" strike="noStrike">
              <a:solidFill>
                <a:srgbClr val="000000"/>
              </a:solidFill>
              <a:latin typeface="DejaVu Sans"/>
            </a:endParaRPr>
          </a:p>
        </p:txBody>
      </p:sp>
      <p:sp>
        <p:nvSpPr>
          <p:cNvPr id="230" name="Shape 9"/>
          <p:cNvSpPr/>
          <p:nvPr/>
        </p:nvSpPr>
        <p:spPr>
          <a:xfrm>
            <a:off x="576000" y="1143000"/>
            <a:ext cx="347040" cy="347040"/>
          </a:xfrm>
          <a:prstGeom prst="ellipse">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31" name="Text 10"/>
          <p:cNvSpPr/>
          <p:nvPr/>
        </p:nvSpPr>
        <p:spPr>
          <a:xfrm>
            <a:off x="576000" y="1152000"/>
            <a:ext cx="3470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pc="-1" strike="noStrike">
                <a:solidFill>
                  <a:srgbClr val="ffffff"/>
                </a:solidFill>
                <a:latin typeface="Arial"/>
                <a:ea typeface="Arial"/>
              </a:rPr>
              <a:t>D</a:t>
            </a:r>
            <a:endParaRPr b="0" lang="en-US" sz="1150" spc="-1" strike="noStrike">
              <a:solidFill>
                <a:srgbClr val="000000"/>
              </a:solidFill>
              <a:latin typeface="DejaVu Sans"/>
            </a:endParaRPr>
          </a:p>
        </p:txBody>
      </p:sp>
      <p:sp>
        <p:nvSpPr>
          <p:cNvPr id="232" name="Text 11"/>
          <p:cNvSpPr/>
          <p:nvPr/>
        </p:nvSpPr>
        <p:spPr>
          <a:xfrm>
            <a:off x="1033200" y="112464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50" spc="-1" strike="noStrike">
                <a:solidFill>
                  <a:srgbClr val="252a34"/>
                </a:solidFill>
                <a:latin typeface="Arial"/>
                <a:ea typeface="Arial"/>
              </a:rPr>
              <a:t>Longer PET, different interfaces</a:t>
            </a:r>
            <a:endParaRPr b="0" lang="en-US" sz="1850" spc="-1" strike="noStrike">
              <a:solidFill>
                <a:srgbClr val="000000"/>
              </a:solidFill>
              <a:latin typeface="DejaVu Sans"/>
            </a:endParaRPr>
          </a:p>
        </p:txBody>
      </p:sp>
      <p:sp>
        <p:nvSpPr>
          <p:cNvPr id="233" name="Shape 12"/>
          <p:cNvSpPr/>
          <p:nvPr/>
        </p:nvSpPr>
        <p:spPr>
          <a:xfrm>
            <a:off x="576000" y="1618560"/>
            <a:ext cx="7452000" cy="4014000"/>
          </a:xfrm>
          <a:prstGeom prst="roundRect">
            <a:avLst>
              <a:gd name="adj" fmla="val 1822"/>
            </a:avLst>
          </a:prstGeom>
          <a:solidFill>
            <a:srgbClr val="ffffff"/>
          </a:solidFill>
          <a:ln w="10160">
            <a:solidFill>
              <a:srgbClr val="edc7ab"/>
            </a:solidFill>
            <a:round/>
          </a:ln>
          <a:effectLst>
            <a:outerShdw algn="bl" blurRad="25560" dir="8100000" dist="12218"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pic>
        <p:nvPicPr>
          <p:cNvPr id="234" name="Image 0" descr="Option D: hero concept"/>
          <p:cNvPicPr/>
          <p:nvPr/>
        </p:nvPicPr>
        <p:blipFill>
          <a:blip r:embed="rId1"/>
          <a:stretch/>
        </p:blipFill>
        <p:spPr>
          <a:xfrm>
            <a:off x="649080" y="1691640"/>
            <a:ext cx="7305840" cy="3867480"/>
          </a:xfrm>
          <a:prstGeom prst="rect">
            <a:avLst/>
          </a:prstGeom>
          <a:ln w="0">
            <a:noFill/>
          </a:ln>
        </p:spPr>
      </p:pic>
      <p:sp>
        <p:nvSpPr>
          <p:cNvPr id="235" name="Shape 13"/>
          <p:cNvSpPr/>
          <p:nvPr/>
        </p:nvSpPr>
        <p:spPr>
          <a:xfrm>
            <a:off x="8321040" y="1143000"/>
            <a:ext cx="3254760" cy="5028840"/>
          </a:xfrm>
          <a:prstGeom prst="roundRect">
            <a:avLst>
              <a:gd name="adj" fmla="val 2809"/>
            </a:avLst>
          </a:prstGeom>
          <a:solidFill>
            <a:srgbClr val="fbefe7"/>
          </a:solidFill>
          <a:ln w="10160">
            <a:solidFill>
              <a:srgbClr val="ebc5a9"/>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236" name="Shape 14"/>
          <p:cNvSpPr/>
          <p:nvPr/>
        </p:nvSpPr>
        <p:spPr>
          <a:xfrm>
            <a:off x="8595360" y="1389960"/>
            <a:ext cx="1023840" cy="292320"/>
          </a:xfrm>
          <a:prstGeom prst="roundRect">
            <a:avLst>
              <a:gd name="adj" fmla="val 25000"/>
            </a:avLst>
          </a:prstGeom>
          <a:solidFill>
            <a:srgbClr val="d66a1f"/>
          </a:solidFill>
          <a:ln w="762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37" name="Text 15"/>
          <p:cNvSpPr/>
          <p:nvPr/>
        </p:nvSpPr>
        <p:spPr>
          <a:xfrm>
            <a:off x="8650080" y="1398960"/>
            <a:ext cx="91404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ffffff"/>
                </a:solidFill>
                <a:latin typeface="Arial"/>
                <a:ea typeface="Arial"/>
              </a:rPr>
              <a:t>Visual winner</a:t>
            </a:r>
            <a:endParaRPr b="0" lang="en-US" sz="960" spc="-1" strike="noStrike">
              <a:solidFill>
                <a:srgbClr val="000000"/>
              </a:solidFill>
              <a:latin typeface="DejaVu Sans"/>
            </a:endParaRPr>
          </a:p>
        </p:txBody>
      </p:sp>
      <p:sp>
        <p:nvSpPr>
          <p:cNvPr id="238" name="Shape 16"/>
          <p:cNvSpPr/>
          <p:nvPr/>
        </p:nvSpPr>
        <p:spPr>
          <a:xfrm>
            <a:off x="9756720" y="1389960"/>
            <a:ext cx="1407960" cy="292320"/>
          </a:xfrm>
          <a:prstGeom prst="roundRect">
            <a:avLst>
              <a:gd name="adj" fmla="val 25000"/>
            </a:avLst>
          </a:prstGeom>
          <a:solidFill>
            <a:srgbClr val="f9eae8"/>
          </a:solidFill>
          <a:ln w="7620">
            <a:solidFill>
              <a:srgbClr val="e8c3b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239" name="Text 17"/>
          <p:cNvSpPr/>
          <p:nvPr/>
        </p:nvSpPr>
        <p:spPr>
          <a:xfrm>
            <a:off x="9811440" y="1398960"/>
            <a:ext cx="129816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c24f45"/>
                </a:solidFill>
                <a:latin typeface="Arial"/>
                <a:ea typeface="Arial"/>
              </a:rPr>
              <a:t>Moderate risk</a:t>
            </a:r>
            <a:endParaRPr b="0" lang="en-US" sz="960" spc="-1" strike="noStrike">
              <a:solidFill>
                <a:srgbClr val="000000"/>
              </a:solidFill>
              <a:latin typeface="DejaVu Sans"/>
            </a:endParaRPr>
          </a:p>
        </p:txBody>
      </p:sp>
      <p:sp>
        <p:nvSpPr>
          <p:cNvPr id="240" name="Shape 18"/>
          <p:cNvSpPr/>
          <p:nvPr/>
        </p:nvSpPr>
        <p:spPr>
          <a:xfrm>
            <a:off x="8577000" y="1956960"/>
            <a:ext cx="109440" cy="109440"/>
          </a:xfrm>
          <a:prstGeom prst="roundRect">
            <a:avLst>
              <a:gd name="adj" fmla="val 25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41" name="Text 19"/>
          <p:cNvSpPr/>
          <p:nvPr/>
        </p:nvSpPr>
        <p:spPr>
          <a:xfrm>
            <a:off x="8759880" y="191124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d66a1f"/>
                </a:solidFill>
                <a:latin typeface="Arial"/>
                <a:ea typeface="Arial"/>
              </a:rPr>
              <a:t>Strength</a:t>
            </a:r>
            <a:endParaRPr b="0" lang="en-US" sz="1120" spc="-1" strike="noStrike">
              <a:solidFill>
                <a:srgbClr val="000000"/>
              </a:solidFill>
              <a:latin typeface="DejaVu Sans"/>
            </a:endParaRPr>
          </a:p>
        </p:txBody>
      </p:sp>
      <p:sp>
        <p:nvSpPr>
          <p:cNvPr id="242" name="Text 20"/>
          <p:cNvSpPr/>
          <p:nvPr/>
        </p:nvSpPr>
        <p:spPr>
          <a:xfrm>
            <a:off x="9601200" y="1901880"/>
            <a:ext cx="1672920" cy="7495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Blue/orange PET chains make length visible; TfCut1 and HiC become the heroes.</a:t>
            </a:r>
            <a:endParaRPr b="0" lang="en-US" sz="1110" spc="-1" strike="noStrike">
              <a:solidFill>
                <a:srgbClr val="000000"/>
              </a:solidFill>
              <a:latin typeface="DejaVu Sans"/>
            </a:endParaRPr>
          </a:p>
        </p:txBody>
      </p:sp>
      <p:sp>
        <p:nvSpPr>
          <p:cNvPr id="243" name="Shape 21"/>
          <p:cNvSpPr/>
          <p:nvPr/>
        </p:nvSpPr>
        <p:spPr>
          <a:xfrm>
            <a:off x="8577000" y="2797920"/>
            <a:ext cx="109440" cy="109440"/>
          </a:xfrm>
          <a:prstGeom prst="roundRect">
            <a:avLst>
              <a:gd name="adj" fmla="val 25000"/>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44" name="Text 22"/>
          <p:cNvSpPr/>
          <p:nvPr/>
        </p:nvSpPr>
        <p:spPr>
          <a:xfrm>
            <a:off x="8759880" y="275220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f8b62"/>
                </a:solidFill>
                <a:latin typeface="Arial"/>
                <a:ea typeface="Arial"/>
              </a:rPr>
              <a:t>Appeal</a:t>
            </a:r>
            <a:endParaRPr b="0" lang="en-US" sz="1120" spc="-1" strike="noStrike">
              <a:solidFill>
                <a:srgbClr val="000000"/>
              </a:solidFill>
              <a:latin typeface="DejaVu Sans"/>
            </a:endParaRPr>
          </a:p>
        </p:txBody>
      </p:sp>
      <p:sp>
        <p:nvSpPr>
          <p:cNvPr id="245" name="Text 23"/>
          <p:cNvSpPr/>
          <p:nvPr/>
        </p:nvSpPr>
        <p:spPr>
          <a:xfrm>
            <a:off x="9601200" y="2743200"/>
            <a:ext cx="1672920" cy="621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Clear visual verb and whitespace; it feels like a classic molecular TOC.</a:t>
            </a:r>
            <a:endParaRPr b="0" lang="en-US" sz="1110" spc="-1" strike="noStrike">
              <a:solidFill>
                <a:srgbClr val="000000"/>
              </a:solidFill>
              <a:latin typeface="DejaVu Sans"/>
            </a:endParaRPr>
          </a:p>
        </p:txBody>
      </p:sp>
      <p:sp>
        <p:nvSpPr>
          <p:cNvPr id="246" name="Shape 24"/>
          <p:cNvSpPr/>
          <p:nvPr/>
        </p:nvSpPr>
        <p:spPr>
          <a:xfrm>
            <a:off x="8577000" y="3538800"/>
            <a:ext cx="109440" cy="109440"/>
          </a:xfrm>
          <a:prstGeom prst="roundRect">
            <a:avLst>
              <a:gd name="adj" fmla="val 25000"/>
            </a:avLst>
          </a:prstGeom>
          <a:solidFill>
            <a:srgbClr val="c24f45"/>
          </a:solidFill>
          <a:ln w="12700">
            <a:solidFill>
              <a:srgbClr val="c24f45"/>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47" name="Text 25"/>
          <p:cNvSpPr/>
          <p:nvPr/>
        </p:nvSpPr>
        <p:spPr>
          <a:xfrm>
            <a:off x="8759880" y="349308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c24f45"/>
                </a:solidFill>
                <a:latin typeface="Arial"/>
                <a:ea typeface="Arial"/>
              </a:rPr>
              <a:t>Risk</a:t>
            </a:r>
            <a:endParaRPr b="0" lang="en-US" sz="1120" spc="-1" strike="noStrike">
              <a:solidFill>
                <a:srgbClr val="000000"/>
              </a:solidFill>
              <a:latin typeface="DejaVu Sans"/>
            </a:endParaRPr>
          </a:p>
        </p:txBody>
      </p:sp>
      <p:sp>
        <p:nvSpPr>
          <p:cNvPr id="248" name="Text 26"/>
          <p:cNvSpPr/>
          <p:nvPr/>
        </p:nvSpPr>
        <p:spPr>
          <a:xfrm>
            <a:off x="9601200" y="3483720"/>
            <a:ext cx="1672920" cy="840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Arrows imply temporal conversion; four enzymes fade; local labels outrun population evidence.</a:t>
            </a:r>
            <a:endParaRPr b="0" lang="en-US" sz="1110" spc="-1" strike="noStrike">
              <a:solidFill>
                <a:srgbClr val="000000"/>
              </a:solidFill>
              <a:latin typeface="DejaVu Sans"/>
            </a:endParaRPr>
          </a:p>
        </p:txBody>
      </p:sp>
      <p:sp>
        <p:nvSpPr>
          <p:cNvPr id="249" name="Text 27"/>
          <p:cNvSpPr/>
          <p:nvPr/>
        </p:nvSpPr>
        <p:spPr>
          <a:xfrm>
            <a:off x="8595360" y="4563000"/>
            <a:ext cx="23770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pc="-1" strike="noStrike">
                <a:solidFill>
                  <a:srgbClr val="252a34"/>
                </a:solidFill>
                <a:latin typeface="Arial"/>
                <a:ea typeface="Arial"/>
              </a:rPr>
              <a:t>Verdict</a:t>
            </a:r>
            <a:endParaRPr b="0" lang="en-US" sz="1450" spc="-1" strike="noStrike">
              <a:solidFill>
                <a:srgbClr val="000000"/>
              </a:solidFill>
              <a:latin typeface="DejaVu Sans"/>
            </a:endParaRPr>
          </a:p>
        </p:txBody>
      </p:sp>
      <p:sp>
        <p:nvSpPr>
          <p:cNvPr id="250" name="Text 28"/>
          <p:cNvSpPr/>
          <p:nvPr/>
        </p:nvSpPr>
        <p:spPr>
          <a:xfrm>
            <a:off x="8595360" y="4883040"/>
            <a:ext cx="2587320" cy="612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320" spc="-1" strike="noStrike">
                <a:solidFill>
                  <a:srgbClr val="252a34"/>
                </a:solidFill>
                <a:latin typeface="Arial"/>
                <a:ea typeface="Arial"/>
              </a:rPr>
              <a:t>Most eye-catching, but conversion and mechanism cues need softening.</a:t>
            </a:r>
            <a:endParaRPr b="0" lang="en-US" sz="1320" spc="-1" strike="noStrike">
              <a:solidFill>
                <a:srgbClr val="000000"/>
              </a:solidFill>
              <a:latin typeface="DejaVu Sans"/>
            </a:endParaRPr>
          </a:p>
        </p:txBody>
      </p:sp>
      <p:sp>
        <p:nvSpPr>
          <p:cNvPr id="251" name="Text 29"/>
          <p:cNvSpPr/>
          <p:nvPr/>
        </p:nvSpPr>
        <p:spPr>
          <a:xfrm>
            <a:off x="8549640" y="557784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Visual appeal</a:t>
            </a:r>
            <a:endParaRPr b="0" lang="en-US" sz="1120" spc="-1" strike="noStrike">
              <a:solidFill>
                <a:srgbClr val="000000"/>
              </a:solidFill>
              <a:latin typeface="DejaVu Sans"/>
            </a:endParaRPr>
          </a:p>
        </p:txBody>
      </p:sp>
      <p:sp>
        <p:nvSpPr>
          <p:cNvPr id="252" name="Shape 30"/>
          <p:cNvSpPr/>
          <p:nvPr/>
        </p:nvSpPr>
        <p:spPr>
          <a:xfrm>
            <a:off x="10031040" y="56235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53" name="Shape 31"/>
          <p:cNvSpPr/>
          <p:nvPr/>
        </p:nvSpPr>
        <p:spPr>
          <a:xfrm>
            <a:off x="10031040" y="5623560"/>
            <a:ext cx="182520" cy="109440"/>
          </a:xfrm>
          <a:prstGeom prst="roundRect">
            <a:avLst>
              <a:gd name="adj" fmla="val 33333"/>
            </a:avLst>
          </a:prstGeom>
          <a:solidFill>
            <a:srgbClr val="d66a1f"/>
          </a:solidFill>
          <a:ln w="12700">
            <a:solidFill>
              <a:srgbClr val="d66a1f">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54" name="Shape 32"/>
          <p:cNvSpPr/>
          <p:nvPr/>
        </p:nvSpPr>
        <p:spPr>
          <a:xfrm>
            <a:off x="10278000" y="56235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55" name="Shape 33"/>
          <p:cNvSpPr/>
          <p:nvPr/>
        </p:nvSpPr>
        <p:spPr>
          <a:xfrm>
            <a:off x="10278000" y="5623560"/>
            <a:ext cx="182520" cy="109440"/>
          </a:xfrm>
          <a:prstGeom prst="roundRect">
            <a:avLst>
              <a:gd name="adj" fmla="val 33333"/>
            </a:avLst>
          </a:prstGeom>
          <a:solidFill>
            <a:srgbClr val="d66a1f"/>
          </a:solidFill>
          <a:ln w="12700">
            <a:solidFill>
              <a:srgbClr val="d66a1f">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56" name="Shape 34"/>
          <p:cNvSpPr/>
          <p:nvPr/>
        </p:nvSpPr>
        <p:spPr>
          <a:xfrm>
            <a:off x="10524600" y="56235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57" name="Shape 35"/>
          <p:cNvSpPr/>
          <p:nvPr/>
        </p:nvSpPr>
        <p:spPr>
          <a:xfrm>
            <a:off x="10524600" y="5623560"/>
            <a:ext cx="182520" cy="109440"/>
          </a:xfrm>
          <a:prstGeom prst="roundRect">
            <a:avLst>
              <a:gd name="adj" fmla="val 33333"/>
            </a:avLst>
          </a:prstGeom>
          <a:solidFill>
            <a:srgbClr val="d66a1f"/>
          </a:solidFill>
          <a:ln w="12700">
            <a:solidFill>
              <a:srgbClr val="d66a1f">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58" name="Shape 36"/>
          <p:cNvSpPr/>
          <p:nvPr/>
        </p:nvSpPr>
        <p:spPr>
          <a:xfrm>
            <a:off x="10771560" y="56235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59" name="Shape 37"/>
          <p:cNvSpPr/>
          <p:nvPr/>
        </p:nvSpPr>
        <p:spPr>
          <a:xfrm>
            <a:off x="10771560" y="5623560"/>
            <a:ext cx="182520" cy="109440"/>
          </a:xfrm>
          <a:prstGeom prst="roundRect">
            <a:avLst>
              <a:gd name="adj" fmla="val 33333"/>
            </a:avLst>
          </a:prstGeom>
          <a:solidFill>
            <a:srgbClr val="d66a1f"/>
          </a:solidFill>
          <a:ln w="12700">
            <a:solidFill>
              <a:srgbClr val="d66a1f">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60" name="Shape 38"/>
          <p:cNvSpPr/>
          <p:nvPr/>
        </p:nvSpPr>
        <p:spPr>
          <a:xfrm>
            <a:off x="11018520" y="56235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61" name="Shape 39"/>
          <p:cNvSpPr/>
          <p:nvPr/>
        </p:nvSpPr>
        <p:spPr>
          <a:xfrm>
            <a:off x="11018520" y="5623560"/>
            <a:ext cx="91080" cy="109440"/>
          </a:xfrm>
          <a:prstGeom prst="rect">
            <a:avLst/>
          </a:prstGeom>
          <a:solidFill>
            <a:srgbClr val="d66a1f"/>
          </a:solidFill>
          <a:ln w="12700">
            <a:solidFill>
              <a:srgbClr val="d66a1f">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62" name="Text 40"/>
          <p:cNvSpPr/>
          <p:nvPr/>
        </p:nvSpPr>
        <p:spPr>
          <a:xfrm>
            <a:off x="11292840" y="556884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4.5</a:t>
            </a:r>
            <a:endParaRPr b="0" lang="en-US" sz="1040" spc="-1" strike="noStrike">
              <a:solidFill>
                <a:srgbClr val="000000"/>
              </a:solidFill>
              <a:latin typeface="DejaVu Sans"/>
            </a:endParaRPr>
          </a:p>
        </p:txBody>
      </p:sp>
      <p:sp>
        <p:nvSpPr>
          <p:cNvPr id="263" name="Text 41"/>
          <p:cNvSpPr/>
          <p:nvPr/>
        </p:nvSpPr>
        <p:spPr>
          <a:xfrm>
            <a:off x="8549640" y="586116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3-second clarity</a:t>
            </a:r>
            <a:endParaRPr b="0" lang="en-US" sz="1120" spc="-1" strike="noStrike">
              <a:solidFill>
                <a:srgbClr val="000000"/>
              </a:solidFill>
              <a:latin typeface="DejaVu Sans"/>
            </a:endParaRPr>
          </a:p>
        </p:txBody>
      </p:sp>
      <p:sp>
        <p:nvSpPr>
          <p:cNvPr id="264" name="Shape 42"/>
          <p:cNvSpPr/>
          <p:nvPr/>
        </p:nvSpPr>
        <p:spPr>
          <a:xfrm>
            <a:off x="10031040" y="590688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65" name="Shape 43"/>
          <p:cNvSpPr/>
          <p:nvPr/>
        </p:nvSpPr>
        <p:spPr>
          <a:xfrm>
            <a:off x="10031040" y="590688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66" name="Shape 44"/>
          <p:cNvSpPr/>
          <p:nvPr/>
        </p:nvSpPr>
        <p:spPr>
          <a:xfrm>
            <a:off x="10278000" y="590688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67" name="Shape 45"/>
          <p:cNvSpPr/>
          <p:nvPr/>
        </p:nvSpPr>
        <p:spPr>
          <a:xfrm>
            <a:off x="10278000" y="590688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68" name="Shape 46"/>
          <p:cNvSpPr/>
          <p:nvPr/>
        </p:nvSpPr>
        <p:spPr>
          <a:xfrm>
            <a:off x="10524600" y="590688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69" name="Shape 47"/>
          <p:cNvSpPr/>
          <p:nvPr/>
        </p:nvSpPr>
        <p:spPr>
          <a:xfrm>
            <a:off x="10524600" y="590688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70" name="Shape 48"/>
          <p:cNvSpPr/>
          <p:nvPr/>
        </p:nvSpPr>
        <p:spPr>
          <a:xfrm>
            <a:off x="10771560" y="590688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71" name="Shape 49"/>
          <p:cNvSpPr/>
          <p:nvPr/>
        </p:nvSpPr>
        <p:spPr>
          <a:xfrm>
            <a:off x="10771560" y="590688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272" name="Shape 50"/>
          <p:cNvSpPr/>
          <p:nvPr/>
        </p:nvSpPr>
        <p:spPr>
          <a:xfrm>
            <a:off x="11018520" y="590688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273" name="Shape 51"/>
          <p:cNvSpPr/>
          <p:nvPr/>
        </p:nvSpPr>
        <p:spPr>
          <a:xfrm>
            <a:off x="11018520" y="5906880"/>
            <a:ext cx="91080" cy="109440"/>
          </a:xfrm>
          <a:prstGeom prst="rect">
            <a:avLst/>
          </a:prstGeom>
          <a:solidFill>
            <a:srgbClr val="2f8b62"/>
          </a:solidFill>
          <a:ln w="12700">
            <a:solidFill>
              <a:srgbClr val="2f8b62">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74" name="Text 52"/>
          <p:cNvSpPr/>
          <p:nvPr/>
        </p:nvSpPr>
        <p:spPr>
          <a:xfrm>
            <a:off x="11292840" y="585216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4.5</a:t>
            </a:r>
            <a:endParaRPr b="0" lang="en-US" sz="1040" spc="-1" strike="noStrike">
              <a:solidFill>
                <a:srgbClr val="000000"/>
              </a:solidFill>
              <a:latin typeface="DejaVu San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5f0"/>
        </a:solidFill>
      </p:bgPr>
    </p:bg>
    <p:spTree>
      <p:nvGrpSpPr>
        <p:cNvPr id="1" name=""/>
        <p:cNvGrpSpPr/>
        <p:nvPr/>
      </p:nvGrpSpPr>
      <p:grpSpPr>
        <a:xfrm>
          <a:off x="0" y="0"/>
          <a:ext cx="0" cy="0"/>
          <a:chOff x="0" y="0"/>
          <a:chExt cx="0" cy="0"/>
        </a:xfrm>
      </p:grpSpPr>
      <p:sp>
        <p:nvSpPr>
          <p:cNvPr id="275" name="Text 0"/>
          <p:cNvSpPr/>
          <p:nvPr/>
        </p:nvSpPr>
        <p:spPr>
          <a:xfrm>
            <a:off x="530280" y="219600"/>
            <a:ext cx="71319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pc="128" strike="noStrike">
                <a:solidFill>
                  <a:srgbClr val="657180"/>
                </a:solidFill>
                <a:latin typeface="Arial"/>
                <a:ea typeface="Arial"/>
              </a:rPr>
              <a:t>EVIDENCE-LED DESIGN</a:t>
            </a:r>
            <a:endParaRPr b="0" lang="en-US" sz="950" spc="-1" strike="noStrike">
              <a:solidFill>
                <a:srgbClr val="000000"/>
              </a:solidFill>
              <a:latin typeface="DejaVu Sans"/>
            </a:endParaRPr>
          </a:p>
        </p:txBody>
      </p:sp>
      <p:sp>
        <p:nvSpPr>
          <p:cNvPr id="276" name="Text 1"/>
          <p:cNvSpPr/>
          <p:nvPr/>
        </p:nvSpPr>
        <p:spPr>
          <a:xfrm>
            <a:off x="530280" y="484560"/>
            <a:ext cx="10515240" cy="529920"/>
          </a:xfrm>
          <a:prstGeom prst="rect">
            <a:avLst/>
          </a:prstGeom>
          <a:noFill/>
          <a:ln w="0">
            <a:noFill/>
          </a:ln>
        </p:spPr>
        <p:style>
          <a:lnRef idx="0"/>
          <a:fillRef idx="0"/>
          <a:effectRef idx="0"/>
          <a:fontRef idx="minor"/>
        </p:style>
        <p:txBody>
          <a:bodyPr lIns="0" rIns="0" tIns="0" bIns="0" anchor="ctr">
            <a:normAutofit fontScale="96666"/>
          </a:bodyPr>
          <a:p>
            <a:pPr defTabSz="914400">
              <a:lnSpc>
                <a:spcPct val="100000"/>
              </a:lnSpc>
              <a:tabLst>
                <a:tab algn="l" pos="0"/>
              </a:tabLst>
            </a:pPr>
            <a:r>
              <a:rPr b="1" lang="en-US" sz="2850" spc="-1" strike="noStrike">
                <a:solidFill>
                  <a:srgbClr val="252a34"/>
                </a:solidFill>
                <a:latin typeface="Arial"/>
                <a:ea typeface="Arial"/>
              </a:rPr>
              <a:t>Option E | Population fingerprints + site maps: most defensible</a:t>
            </a:r>
            <a:endParaRPr b="0" lang="en-US" sz="2850" spc="-1" strike="noStrike">
              <a:solidFill>
                <a:srgbClr val="000000"/>
              </a:solidFill>
              <a:latin typeface="DejaVu Sans"/>
            </a:endParaRPr>
          </a:p>
        </p:txBody>
      </p:sp>
      <p:sp>
        <p:nvSpPr>
          <p:cNvPr id="277" name="Shape 2"/>
          <p:cNvSpPr/>
          <p:nvPr/>
        </p:nvSpPr>
        <p:spPr>
          <a:xfrm>
            <a:off x="10716840" y="2833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78" name="Text 3"/>
          <p:cNvSpPr/>
          <p:nvPr/>
        </p:nvSpPr>
        <p:spPr>
          <a:xfrm>
            <a:off x="1071684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000000"/>
              </a:solidFill>
              <a:latin typeface="DejaVu Sans"/>
            </a:endParaRPr>
          </a:p>
        </p:txBody>
      </p:sp>
      <p:sp>
        <p:nvSpPr>
          <p:cNvPr id="279" name="Shape 4"/>
          <p:cNvSpPr/>
          <p:nvPr/>
        </p:nvSpPr>
        <p:spPr>
          <a:xfrm>
            <a:off x="11256120" y="2833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80" name="Text 5"/>
          <p:cNvSpPr/>
          <p:nvPr/>
        </p:nvSpPr>
        <p:spPr>
          <a:xfrm>
            <a:off x="1125612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000000"/>
              </a:solidFill>
              <a:latin typeface="DejaVu Sans"/>
            </a:endParaRPr>
          </a:p>
        </p:txBody>
      </p:sp>
      <p:sp>
        <p:nvSpPr>
          <p:cNvPr id="281" name="Shape 6"/>
          <p:cNvSpPr/>
          <p:nvPr/>
        </p:nvSpPr>
        <p:spPr>
          <a:xfrm>
            <a:off x="11192040" y="397440"/>
            <a:ext cx="73080" cy="360"/>
          </a:xfrm>
          <a:prstGeom prst="line">
            <a:avLst/>
          </a:prstGeom>
          <a:ln w="15240">
            <a:solidFill>
              <a:srgbClr val="d7dee5"/>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DejaVu Sans"/>
            </a:endParaRPr>
          </a:p>
        </p:txBody>
      </p:sp>
      <p:sp>
        <p:nvSpPr>
          <p:cNvPr id="282" name="Text 7"/>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8a96a3"/>
                </a:solidFill>
                <a:latin typeface="Arial"/>
                <a:ea typeface="Arial"/>
              </a:rPr>
              <a:t>PETase manuscript · TOC graphic review</a:t>
            </a:r>
            <a:endParaRPr b="0" lang="en-US" sz="880" spc="-1" strike="noStrike">
              <a:solidFill>
                <a:srgbClr val="000000"/>
              </a:solidFill>
              <a:latin typeface="DejaVu Sans"/>
            </a:endParaRPr>
          </a:p>
        </p:txBody>
      </p:sp>
      <p:sp>
        <p:nvSpPr>
          <p:cNvPr id="283" name="Text 8"/>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8a96a3"/>
                </a:solidFill>
                <a:latin typeface="Arial"/>
                <a:ea typeface="Arial"/>
              </a:rPr>
              <a:t>06</a:t>
            </a:r>
            <a:endParaRPr b="0" lang="en-US" sz="920" spc="-1" strike="noStrike">
              <a:solidFill>
                <a:srgbClr val="000000"/>
              </a:solidFill>
              <a:latin typeface="DejaVu Sans"/>
            </a:endParaRPr>
          </a:p>
        </p:txBody>
      </p:sp>
      <p:sp>
        <p:nvSpPr>
          <p:cNvPr id="284" name="Shape 9"/>
          <p:cNvSpPr/>
          <p:nvPr/>
        </p:nvSpPr>
        <p:spPr>
          <a:xfrm>
            <a:off x="576000" y="1143000"/>
            <a:ext cx="347040" cy="347040"/>
          </a:xfrm>
          <a:prstGeom prst="ellipse">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85" name="Text 10"/>
          <p:cNvSpPr/>
          <p:nvPr/>
        </p:nvSpPr>
        <p:spPr>
          <a:xfrm>
            <a:off x="576000" y="1152000"/>
            <a:ext cx="34704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50" spc="-1" strike="noStrike">
                <a:solidFill>
                  <a:srgbClr val="ffffff"/>
                </a:solidFill>
                <a:latin typeface="Arial"/>
                <a:ea typeface="Arial"/>
              </a:rPr>
              <a:t>E</a:t>
            </a:r>
            <a:endParaRPr b="0" lang="en-US" sz="1150" spc="-1" strike="noStrike">
              <a:solidFill>
                <a:srgbClr val="000000"/>
              </a:solidFill>
              <a:latin typeface="DejaVu Sans"/>
            </a:endParaRPr>
          </a:p>
        </p:txBody>
      </p:sp>
      <p:sp>
        <p:nvSpPr>
          <p:cNvPr id="286" name="Text 11"/>
          <p:cNvSpPr/>
          <p:nvPr/>
        </p:nvSpPr>
        <p:spPr>
          <a:xfrm>
            <a:off x="1033200" y="112464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50" spc="-1" strike="noStrike">
                <a:solidFill>
                  <a:srgbClr val="252a34"/>
                </a:solidFill>
                <a:latin typeface="Arial"/>
                <a:ea typeface="Arial"/>
              </a:rPr>
              <a:t>Retained-interface fingerprints</a:t>
            </a:r>
            <a:endParaRPr b="0" lang="en-US" sz="1850" spc="-1" strike="noStrike">
              <a:solidFill>
                <a:srgbClr val="000000"/>
              </a:solidFill>
              <a:latin typeface="DejaVu Sans"/>
            </a:endParaRPr>
          </a:p>
        </p:txBody>
      </p:sp>
      <p:sp>
        <p:nvSpPr>
          <p:cNvPr id="287" name="Shape 12"/>
          <p:cNvSpPr/>
          <p:nvPr/>
        </p:nvSpPr>
        <p:spPr>
          <a:xfrm>
            <a:off x="576000" y="1618560"/>
            <a:ext cx="7452000" cy="4014000"/>
          </a:xfrm>
          <a:prstGeom prst="roundRect">
            <a:avLst>
              <a:gd name="adj" fmla="val 1822"/>
            </a:avLst>
          </a:prstGeom>
          <a:solidFill>
            <a:srgbClr val="ffffff"/>
          </a:solidFill>
          <a:ln w="10160">
            <a:solidFill>
              <a:srgbClr val="a7d1bb"/>
            </a:solidFill>
            <a:round/>
          </a:ln>
          <a:effectLst>
            <a:outerShdw algn="bl" blurRad="25560" dir="8100000" dist="12218" kx="0" ky="0" rotWithShape="0" sx="100000" sy="100000">
              <a:srgbClr val="000000">
                <a:alpha val="12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pic>
        <p:nvPicPr>
          <p:cNvPr id="288" name="Image 0" descr="Option E: population fingerprints and site maps"/>
          <p:cNvPicPr/>
          <p:nvPr/>
        </p:nvPicPr>
        <p:blipFill>
          <a:blip r:embed="rId1"/>
          <a:stretch/>
        </p:blipFill>
        <p:spPr>
          <a:xfrm>
            <a:off x="649080" y="1691640"/>
            <a:ext cx="7305840" cy="3867480"/>
          </a:xfrm>
          <a:prstGeom prst="rect">
            <a:avLst/>
          </a:prstGeom>
          <a:ln w="0">
            <a:noFill/>
          </a:ln>
        </p:spPr>
      </p:pic>
      <p:sp>
        <p:nvSpPr>
          <p:cNvPr id="289" name="Shape 13"/>
          <p:cNvSpPr/>
          <p:nvPr/>
        </p:nvSpPr>
        <p:spPr>
          <a:xfrm>
            <a:off x="8321040" y="1143000"/>
            <a:ext cx="3254760" cy="5028840"/>
          </a:xfrm>
          <a:prstGeom prst="roundRect">
            <a:avLst>
              <a:gd name="adj" fmla="val 2809"/>
            </a:avLst>
          </a:prstGeom>
          <a:solidFill>
            <a:srgbClr val="e9f5ef"/>
          </a:solidFill>
          <a:ln w="10160">
            <a:solidFill>
              <a:srgbClr val="afd8c3"/>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290" name="Shape 14"/>
          <p:cNvSpPr/>
          <p:nvPr/>
        </p:nvSpPr>
        <p:spPr>
          <a:xfrm>
            <a:off x="8595360" y="1389960"/>
            <a:ext cx="1069560" cy="292320"/>
          </a:xfrm>
          <a:prstGeom prst="roundRect">
            <a:avLst>
              <a:gd name="adj" fmla="val 25000"/>
            </a:avLst>
          </a:prstGeom>
          <a:solidFill>
            <a:srgbClr val="2f8b62"/>
          </a:solidFill>
          <a:ln w="762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91" name="Text 15"/>
          <p:cNvSpPr/>
          <p:nvPr/>
        </p:nvSpPr>
        <p:spPr>
          <a:xfrm>
            <a:off x="8650080" y="1398960"/>
            <a:ext cx="95976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ffffff"/>
                </a:solidFill>
                <a:latin typeface="Arial"/>
                <a:ea typeface="Arial"/>
              </a:rPr>
              <a:t>Science winner</a:t>
            </a:r>
            <a:endParaRPr b="0" lang="en-US" sz="960" spc="-1" strike="noStrike">
              <a:solidFill>
                <a:srgbClr val="000000"/>
              </a:solidFill>
              <a:latin typeface="DejaVu Sans"/>
            </a:endParaRPr>
          </a:p>
        </p:txBody>
      </p:sp>
      <p:sp>
        <p:nvSpPr>
          <p:cNvPr id="292" name="Shape 16"/>
          <p:cNvSpPr/>
          <p:nvPr/>
        </p:nvSpPr>
        <p:spPr>
          <a:xfrm>
            <a:off x="9811440" y="1389960"/>
            <a:ext cx="1078560" cy="292320"/>
          </a:xfrm>
          <a:prstGeom prst="roundRect">
            <a:avLst>
              <a:gd name="adj" fmla="val 25000"/>
            </a:avLst>
          </a:prstGeom>
          <a:solidFill>
            <a:srgbClr val="252a34"/>
          </a:solidFill>
          <a:ln w="7620">
            <a:solidFill>
              <a:srgbClr val="252a3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93" name="Text 17"/>
          <p:cNvSpPr/>
          <p:nvPr/>
        </p:nvSpPr>
        <p:spPr>
          <a:xfrm>
            <a:off x="9866520" y="1398960"/>
            <a:ext cx="968760" cy="246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60" spc="-1" strike="noStrike">
                <a:solidFill>
                  <a:srgbClr val="ffffff"/>
                </a:solidFill>
                <a:latin typeface="Arial"/>
                <a:ea typeface="Arial"/>
              </a:rPr>
              <a:t>Recommended</a:t>
            </a:r>
            <a:endParaRPr b="0" lang="en-US" sz="960" spc="-1" strike="noStrike">
              <a:solidFill>
                <a:srgbClr val="000000"/>
              </a:solidFill>
              <a:latin typeface="DejaVu Sans"/>
            </a:endParaRPr>
          </a:p>
        </p:txBody>
      </p:sp>
      <p:sp>
        <p:nvSpPr>
          <p:cNvPr id="294" name="Shape 18"/>
          <p:cNvSpPr/>
          <p:nvPr/>
        </p:nvSpPr>
        <p:spPr>
          <a:xfrm>
            <a:off x="8577000" y="1956960"/>
            <a:ext cx="109440" cy="109440"/>
          </a:xfrm>
          <a:prstGeom prst="roundRect">
            <a:avLst>
              <a:gd name="adj" fmla="val 25000"/>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95" name="Text 19"/>
          <p:cNvSpPr/>
          <p:nvPr/>
        </p:nvSpPr>
        <p:spPr>
          <a:xfrm>
            <a:off x="8759880" y="191124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f8b62"/>
                </a:solidFill>
                <a:latin typeface="Arial"/>
                <a:ea typeface="Arial"/>
              </a:rPr>
              <a:t>Takeaway</a:t>
            </a:r>
            <a:endParaRPr b="0" lang="en-US" sz="1120" spc="-1" strike="noStrike">
              <a:solidFill>
                <a:srgbClr val="000000"/>
              </a:solidFill>
              <a:latin typeface="DejaVu Sans"/>
            </a:endParaRPr>
          </a:p>
        </p:txBody>
      </p:sp>
      <p:sp>
        <p:nvSpPr>
          <p:cNvPr id="296" name="Text 20"/>
          <p:cNvSpPr/>
          <p:nvPr/>
        </p:nvSpPr>
        <p:spPr>
          <a:xfrm>
            <a:off x="9601200" y="1901880"/>
            <a:ext cx="1672920" cy="7768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Six interfaces differ; L10/L20 remodeling differs; supported sites map to TfCut1/HiC.</a:t>
            </a:r>
            <a:endParaRPr b="0" lang="en-US" sz="1110" spc="-1" strike="noStrike">
              <a:solidFill>
                <a:srgbClr val="000000"/>
              </a:solidFill>
              <a:latin typeface="DejaVu Sans"/>
            </a:endParaRPr>
          </a:p>
        </p:txBody>
      </p:sp>
      <p:sp>
        <p:nvSpPr>
          <p:cNvPr id="297" name="Shape 21"/>
          <p:cNvSpPr/>
          <p:nvPr/>
        </p:nvSpPr>
        <p:spPr>
          <a:xfrm>
            <a:off x="8577000" y="2807280"/>
            <a:ext cx="109440" cy="109440"/>
          </a:xfrm>
          <a:prstGeom prst="roundRect">
            <a:avLst>
              <a:gd name="adj" fmla="val 25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298" name="Text 22"/>
          <p:cNvSpPr/>
          <p:nvPr/>
        </p:nvSpPr>
        <p:spPr>
          <a:xfrm>
            <a:off x="8759880" y="276156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2583b6"/>
                </a:solidFill>
                <a:latin typeface="Arial"/>
                <a:ea typeface="Arial"/>
              </a:rPr>
              <a:t>Strength</a:t>
            </a:r>
            <a:endParaRPr b="0" lang="en-US" sz="1120" spc="-1" strike="noStrike">
              <a:solidFill>
                <a:srgbClr val="000000"/>
              </a:solidFill>
              <a:latin typeface="DejaVu Sans"/>
            </a:endParaRPr>
          </a:p>
        </p:txBody>
      </p:sp>
      <p:sp>
        <p:nvSpPr>
          <p:cNvPr id="299" name="Text 23"/>
          <p:cNvSpPr/>
          <p:nvPr/>
        </p:nvSpPr>
        <p:spPr>
          <a:xfrm>
            <a:off x="9601200" y="2752200"/>
            <a:ext cx="1672920" cy="785880"/>
          </a:xfrm>
          <a:prstGeom prst="rect">
            <a:avLst/>
          </a:prstGeom>
          <a:noFill/>
          <a:ln w="0">
            <a:noFill/>
          </a:ln>
        </p:spPr>
        <p:style>
          <a:lnRef idx="0"/>
          <a:fillRef idx="0"/>
          <a:effectRef idx="0"/>
          <a:fontRef idx="minor"/>
        </p:style>
        <p:txBody>
          <a:bodyPr lIns="0" rIns="0" tIns="0" bIns="0" anchor="t">
            <a:normAutofit fontScale="96666" lnSpcReduction="10000"/>
          </a:bodyPr>
          <a:p>
            <a:pPr defTabSz="914400">
              <a:lnSpc>
                <a:spcPct val="100000"/>
              </a:lnSpc>
              <a:tabLst>
                <a:tab algn="l" pos="0"/>
              </a:tabLst>
            </a:pPr>
            <a:r>
              <a:rPr b="0" lang="en-US" sz="1110" spc="-1" strike="noStrike">
                <a:solidFill>
                  <a:srgbClr val="252a34"/>
                </a:solidFill>
                <a:latin typeface="Arial"/>
                <a:ea typeface="Arial"/>
              </a:rPr>
              <a:t>Population statistics lead; contact classes enable cross-enzyme comparison; structures only locate sites.</a:t>
            </a:r>
            <a:endParaRPr b="0" lang="en-US" sz="1110" spc="-1" strike="noStrike">
              <a:solidFill>
                <a:srgbClr val="000000"/>
              </a:solidFill>
              <a:latin typeface="DejaVu Sans"/>
            </a:endParaRPr>
          </a:p>
        </p:txBody>
      </p:sp>
      <p:sp>
        <p:nvSpPr>
          <p:cNvPr id="300" name="Shape 24"/>
          <p:cNvSpPr/>
          <p:nvPr/>
        </p:nvSpPr>
        <p:spPr>
          <a:xfrm>
            <a:off x="8577000" y="3666600"/>
            <a:ext cx="109440" cy="109440"/>
          </a:xfrm>
          <a:prstGeom prst="roundRect">
            <a:avLst>
              <a:gd name="adj" fmla="val 25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01" name="Text 25"/>
          <p:cNvSpPr/>
          <p:nvPr/>
        </p:nvSpPr>
        <p:spPr>
          <a:xfrm>
            <a:off x="8759880" y="3620880"/>
            <a:ext cx="804240" cy="228240"/>
          </a:xfrm>
          <a:prstGeom prst="rect">
            <a:avLst/>
          </a:prstGeom>
          <a:noFill/>
          <a:ln w="0">
            <a:noFill/>
          </a:ln>
        </p:spPr>
        <p:style>
          <a:lnRef idx="0"/>
          <a:fillRef idx="0"/>
          <a:effectRef idx="0"/>
          <a:fontRef idx="minor"/>
        </p:style>
        <p:txBody>
          <a:bodyPr lIns="0" rIns="0" tIns="0" bIns="0" anchor="ctr">
            <a:normAutofit fontScale="87222"/>
          </a:bodyPr>
          <a:p>
            <a:pPr defTabSz="914400">
              <a:lnSpc>
                <a:spcPct val="100000"/>
              </a:lnSpc>
              <a:tabLst>
                <a:tab algn="l" pos="0"/>
              </a:tabLst>
            </a:pPr>
            <a:r>
              <a:rPr b="1" lang="en-US" sz="1120" spc="-1" strike="noStrike">
                <a:solidFill>
                  <a:srgbClr val="d66a1f"/>
                </a:solidFill>
                <a:latin typeface="Arial"/>
                <a:ea typeface="Arial"/>
              </a:rPr>
              <a:t>Risk control</a:t>
            </a:r>
            <a:endParaRPr b="0" lang="en-US" sz="1120" spc="-1" strike="noStrike">
              <a:solidFill>
                <a:srgbClr val="000000"/>
              </a:solidFill>
              <a:latin typeface="DejaVu Sans"/>
            </a:endParaRPr>
          </a:p>
        </p:txBody>
      </p:sp>
      <p:sp>
        <p:nvSpPr>
          <p:cNvPr id="302" name="Text 26"/>
          <p:cNvSpPr/>
          <p:nvPr/>
        </p:nvSpPr>
        <p:spPr>
          <a:xfrm>
            <a:off x="9601200" y="3611880"/>
            <a:ext cx="1672920" cy="7585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252a34"/>
                </a:solidFill>
                <a:latin typeface="Arial"/>
                <a:ea typeface="Arial"/>
              </a:rPr>
              <a:t>No arrows, bond lines, or effect-size cues; sparse PHL7 sampling is disclosed.</a:t>
            </a:r>
            <a:endParaRPr b="0" lang="en-US" sz="1110" spc="-1" strike="noStrike">
              <a:solidFill>
                <a:srgbClr val="000000"/>
              </a:solidFill>
              <a:latin typeface="DejaVu Sans"/>
            </a:endParaRPr>
          </a:p>
        </p:txBody>
      </p:sp>
      <p:sp>
        <p:nvSpPr>
          <p:cNvPr id="303" name="Text 27"/>
          <p:cNvSpPr/>
          <p:nvPr/>
        </p:nvSpPr>
        <p:spPr>
          <a:xfrm>
            <a:off x="8595360" y="4590360"/>
            <a:ext cx="237708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pc="-1" strike="noStrike">
                <a:solidFill>
                  <a:srgbClr val="252a34"/>
                </a:solidFill>
                <a:latin typeface="Arial"/>
                <a:ea typeface="Arial"/>
              </a:rPr>
              <a:t>Further refinement</a:t>
            </a:r>
            <a:endParaRPr b="0" lang="en-US" sz="1450" spc="-1" strike="noStrike">
              <a:solidFill>
                <a:srgbClr val="000000"/>
              </a:solidFill>
              <a:latin typeface="DejaVu Sans"/>
            </a:endParaRPr>
          </a:p>
        </p:txBody>
      </p:sp>
      <p:sp>
        <p:nvSpPr>
          <p:cNvPr id="304" name="Text 28"/>
          <p:cNvSpPr/>
          <p:nvPr/>
        </p:nvSpPr>
        <p:spPr>
          <a:xfrm>
            <a:off x="8595360" y="4901040"/>
            <a:ext cx="2587320" cy="6764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1280" spc="-1" strike="noStrike">
                <a:solidFill>
                  <a:srgbClr val="252a34"/>
                </a:solidFill>
                <a:latin typeface="Arial"/>
                <a:ea typeface="Arial"/>
              </a:rPr>
              <a:t>Analytical rather than pictorial; add a non-directional length cue and simplify the legend.</a:t>
            </a:r>
            <a:endParaRPr b="0" lang="en-US" sz="1280" spc="-1" strike="noStrike">
              <a:solidFill>
                <a:srgbClr val="000000"/>
              </a:solidFill>
              <a:latin typeface="DejaVu Sans"/>
            </a:endParaRPr>
          </a:p>
        </p:txBody>
      </p:sp>
      <p:sp>
        <p:nvSpPr>
          <p:cNvPr id="305" name="Text 29"/>
          <p:cNvSpPr/>
          <p:nvPr/>
        </p:nvSpPr>
        <p:spPr>
          <a:xfrm>
            <a:off x="8549640" y="564192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Scientific fidelity</a:t>
            </a:r>
            <a:endParaRPr b="0" lang="en-US" sz="1120" spc="-1" strike="noStrike">
              <a:solidFill>
                <a:srgbClr val="000000"/>
              </a:solidFill>
              <a:latin typeface="DejaVu Sans"/>
            </a:endParaRPr>
          </a:p>
        </p:txBody>
      </p:sp>
      <p:sp>
        <p:nvSpPr>
          <p:cNvPr id="306" name="Shape 30"/>
          <p:cNvSpPr/>
          <p:nvPr/>
        </p:nvSpPr>
        <p:spPr>
          <a:xfrm>
            <a:off x="10031040" y="56876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07" name="Shape 31"/>
          <p:cNvSpPr/>
          <p:nvPr/>
        </p:nvSpPr>
        <p:spPr>
          <a:xfrm>
            <a:off x="10031040" y="568764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08" name="Shape 32"/>
          <p:cNvSpPr/>
          <p:nvPr/>
        </p:nvSpPr>
        <p:spPr>
          <a:xfrm>
            <a:off x="10278000" y="56876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09" name="Shape 33"/>
          <p:cNvSpPr/>
          <p:nvPr/>
        </p:nvSpPr>
        <p:spPr>
          <a:xfrm>
            <a:off x="10278000" y="568764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10" name="Shape 34"/>
          <p:cNvSpPr/>
          <p:nvPr/>
        </p:nvSpPr>
        <p:spPr>
          <a:xfrm>
            <a:off x="10524600" y="56876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11" name="Shape 35"/>
          <p:cNvSpPr/>
          <p:nvPr/>
        </p:nvSpPr>
        <p:spPr>
          <a:xfrm>
            <a:off x="10524600" y="568764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12" name="Shape 36"/>
          <p:cNvSpPr/>
          <p:nvPr/>
        </p:nvSpPr>
        <p:spPr>
          <a:xfrm>
            <a:off x="10771560" y="56876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13" name="Shape 37"/>
          <p:cNvSpPr/>
          <p:nvPr/>
        </p:nvSpPr>
        <p:spPr>
          <a:xfrm>
            <a:off x="10771560" y="568764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14" name="Shape 38"/>
          <p:cNvSpPr/>
          <p:nvPr/>
        </p:nvSpPr>
        <p:spPr>
          <a:xfrm>
            <a:off x="11018520" y="568764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15" name="Shape 39"/>
          <p:cNvSpPr/>
          <p:nvPr/>
        </p:nvSpPr>
        <p:spPr>
          <a:xfrm>
            <a:off x="11018520" y="5687640"/>
            <a:ext cx="182520" cy="109440"/>
          </a:xfrm>
          <a:prstGeom prst="roundRect">
            <a:avLst>
              <a:gd name="adj" fmla="val 33333"/>
            </a:avLst>
          </a:prstGeom>
          <a:solidFill>
            <a:srgbClr val="2f8b62"/>
          </a:solidFill>
          <a:ln w="12700">
            <a:solidFill>
              <a:srgbClr val="2f8b62">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16" name="Text 40"/>
          <p:cNvSpPr/>
          <p:nvPr/>
        </p:nvSpPr>
        <p:spPr>
          <a:xfrm>
            <a:off x="11292840" y="563256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5.0</a:t>
            </a:r>
            <a:endParaRPr b="0" lang="en-US" sz="1040" spc="-1" strike="noStrike">
              <a:solidFill>
                <a:srgbClr val="000000"/>
              </a:solidFill>
              <a:latin typeface="DejaVu Sans"/>
            </a:endParaRPr>
          </a:p>
        </p:txBody>
      </p:sp>
      <p:sp>
        <p:nvSpPr>
          <p:cNvPr id="317" name="Text 41"/>
          <p:cNvSpPr/>
          <p:nvPr/>
        </p:nvSpPr>
        <p:spPr>
          <a:xfrm>
            <a:off x="8549640" y="5925240"/>
            <a:ext cx="1416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pc="-1" strike="noStrike">
                <a:solidFill>
                  <a:srgbClr val="657180"/>
                </a:solidFill>
                <a:latin typeface="Arial"/>
                <a:ea typeface="Arial"/>
              </a:rPr>
              <a:t>Low reviewer risk</a:t>
            </a:r>
            <a:endParaRPr b="0" lang="en-US" sz="1120" spc="-1" strike="noStrike">
              <a:solidFill>
                <a:srgbClr val="000000"/>
              </a:solidFill>
              <a:latin typeface="DejaVu Sans"/>
            </a:endParaRPr>
          </a:p>
        </p:txBody>
      </p:sp>
      <p:sp>
        <p:nvSpPr>
          <p:cNvPr id="318" name="Shape 42"/>
          <p:cNvSpPr/>
          <p:nvPr/>
        </p:nvSpPr>
        <p:spPr>
          <a:xfrm>
            <a:off x="10031040" y="59709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19" name="Shape 43"/>
          <p:cNvSpPr/>
          <p:nvPr/>
        </p:nvSpPr>
        <p:spPr>
          <a:xfrm>
            <a:off x="10031040" y="597096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20" name="Shape 44"/>
          <p:cNvSpPr/>
          <p:nvPr/>
        </p:nvSpPr>
        <p:spPr>
          <a:xfrm>
            <a:off x="10278000" y="59709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21" name="Shape 45"/>
          <p:cNvSpPr/>
          <p:nvPr/>
        </p:nvSpPr>
        <p:spPr>
          <a:xfrm>
            <a:off x="10278000" y="597096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22" name="Shape 46"/>
          <p:cNvSpPr/>
          <p:nvPr/>
        </p:nvSpPr>
        <p:spPr>
          <a:xfrm>
            <a:off x="10524600" y="59709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23" name="Shape 47"/>
          <p:cNvSpPr/>
          <p:nvPr/>
        </p:nvSpPr>
        <p:spPr>
          <a:xfrm>
            <a:off x="10524600" y="597096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24" name="Shape 48"/>
          <p:cNvSpPr/>
          <p:nvPr/>
        </p:nvSpPr>
        <p:spPr>
          <a:xfrm>
            <a:off x="10771560" y="59709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25" name="Shape 49"/>
          <p:cNvSpPr/>
          <p:nvPr/>
        </p:nvSpPr>
        <p:spPr>
          <a:xfrm>
            <a:off x="10771560" y="5970960"/>
            <a:ext cx="182520" cy="109440"/>
          </a:xfrm>
          <a:prstGeom prst="roundRect">
            <a:avLst>
              <a:gd name="adj" fmla="val 33333"/>
            </a:avLst>
          </a:prstGeom>
          <a:solidFill>
            <a:srgbClr val="2583b6"/>
          </a:solidFill>
          <a:ln w="12700">
            <a:solidFill>
              <a:srgbClr val="2583b6">
                <a:alpha val="0"/>
              </a:srgbClr>
            </a:solidFill>
            <a:round/>
          </a:ln>
        </p:spPr>
        <p:style>
          <a:lnRef idx="0"/>
          <a:fillRef idx="0"/>
          <a:effectRef idx="0"/>
          <a:fontRef idx="minor"/>
        </p:style>
        <p:txBody>
          <a:bodyPr lIns="90000" rIns="90000" tIns="43560" bIns="43560" anchor="t">
            <a:noAutofit/>
          </a:bodyPr>
          <a:p>
            <a:endParaRPr b="0" lang="en-US" sz="1800" spc="-1" strike="noStrike">
              <a:solidFill>
                <a:srgbClr val="ffffff"/>
              </a:solidFill>
              <a:latin typeface="DejaVu Sans"/>
            </a:endParaRPr>
          </a:p>
        </p:txBody>
      </p:sp>
      <p:sp>
        <p:nvSpPr>
          <p:cNvPr id="326" name="Shape 50"/>
          <p:cNvSpPr/>
          <p:nvPr/>
        </p:nvSpPr>
        <p:spPr>
          <a:xfrm>
            <a:off x="11018520" y="5970960"/>
            <a:ext cx="182520" cy="109440"/>
          </a:xfrm>
          <a:prstGeom prst="roundRect">
            <a:avLst>
              <a:gd name="adj" fmla="val 33333"/>
            </a:avLst>
          </a:prstGeom>
          <a:solidFill>
            <a:srgbClr val="e2e7eb"/>
          </a:solidFill>
          <a:ln w="12700">
            <a:solidFill>
              <a:srgbClr val="e2e7eb"/>
            </a:solidFill>
            <a:round/>
          </a:ln>
        </p:spPr>
        <p:style>
          <a:lnRef idx="0"/>
          <a:fillRef idx="0"/>
          <a:effectRef idx="0"/>
          <a:fontRef idx="minor"/>
        </p:style>
        <p:txBody>
          <a:bodyPr lIns="90000" rIns="90000" tIns="43560" bIns="43560" anchor="t">
            <a:noAutofit/>
          </a:bodyPr>
          <a:p>
            <a:endParaRPr b="0" lang="en-US" sz="1800" spc="-1" strike="noStrike">
              <a:solidFill>
                <a:srgbClr val="000000"/>
              </a:solidFill>
              <a:latin typeface="DejaVu Sans"/>
            </a:endParaRPr>
          </a:p>
        </p:txBody>
      </p:sp>
      <p:sp>
        <p:nvSpPr>
          <p:cNvPr id="327" name="Shape 51"/>
          <p:cNvSpPr/>
          <p:nvPr/>
        </p:nvSpPr>
        <p:spPr>
          <a:xfrm>
            <a:off x="11018520" y="5970960"/>
            <a:ext cx="91080" cy="109440"/>
          </a:xfrm>
          <a:prstGeom prst="rect">
            <a:avLst/>
          </a:prstGeom>
          <a:solidFill>
            <a:srgbClr val="2583b6"/>
          </a:solidFill>
          <a:ln w="12700">
            <a:solidFill>
              <a:srgbClr val="2583b6">
                <a:alpha val="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28" name="Text 52"/>
          <p:cNvSpPr/>
          <p:nvPr/>
        </p:nvSpPr>
        <p:spPr>
          <a:xfrm>
            <a:off x="11292840" y="5916240"/>
            <a:ext cx="255600" cy="219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040" spc="-1" strike="noStrike">
                <a:solidFill>
                  <a:srgbClr val="252a34"/>
                </a:solidFill>
                <a:latin typeface="Arial"/>
                <a:ea typeface="Arial"/>
              </a:rPr>
              <a:t>4.5</a:t>
            </a:r>
            <a:endParaRPr b="0" lang="en-US" sz="1040" spc="-1" strike="noStrike">
              <a:solidFill>
                <a:srgbClr val="000000"/>
              </a:solidFill>
              <a:latin typeface="DejaVu San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02630"/>
        </a:solidFill>
      </p:bgPr>
    </p:bg>
    <p:spTree>
      <p:nvGrpSpPr>
        <p:cNvPr id="1" name=""/>
        <p:cNvGrpSpPr/>
        <p:nvPr/>
      </p:nvGrpSpPr>
      <p:grpSpPr>
        <a:xfrm>
          <a:off x="0" y="0"/>
          <a:ext cx="0" cy="0"/>
          <a:chOff x="0" y="0"/>
          <a:chExt cx="0" cy="0"/>
        </a:xfrm>
      </p:grpSpPr>
      <p:sp>
        <p:nvSpPr>
          <p:cNvPr id="329" name="Text 0"/>
          <p:cNvSpPr/>
          <p:nvPr/>
        </p:nvSpPr>
        <p:spPr>
          <a:xfrm>
            <a:off x="530280" y="219600"/>
            <a:ext cx="713196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pc="128" strike="noStrike">
                <a:solidFill>
                  <a:srgbClr val="b7c1cc"/>
                </a:solidFill>
                <a:latin typeface="Arial"/>
                <a:ea typeface="Arial"/>
              </a:rPr>
              <a:t>RECOMMENDATION</a:t>
            </a:r>
            <a:endParaRPr b="0" lang="en-US" sz="950" spc="-1" strike="noStrike">
              <a:solidFill>
                <a:srgbClr val="ffffff"/>
              </a:solidFill>
              <a:latin typeface="DejaVu Sans"/>
            </a:endParaRPr>
          </a:p>
        </p:txBody>
      </p:sp>
      <p:sp>
        <p:nvSpPr>
          <p:cNvPr id="330" name="Text 1"/>
          <p:cNvSpPr/>
          <p:nvPr/>
        </p:nvSpPr>
        <p:spPr>
          <a:xfrm>
            <a:off x="530280" y="484560"/>
            <a:ext cx="105152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850" spc="-1" strike="noStrike">
                <a:solidFill>
                  <a:srgbClr val="ffffff"/>
                </a:solidFill>
                <a:latin typeface="Arial"/>
                <a:ea typeface="Arial"/>
              </a:rPr>
              <a:t>Conclusion | Submit E; borrow D's visual strengths</a:t>
            </a:r>
            <a:endParaRPr b="0" lang="en-US" sz="2850" spc="-1" strike="noStrike">
              <a:solidFill>
                <a:srgbClr val="ffffff"/>
              </a:solidFill>
              <a:latin typeface="DejaVu Sans"/>
            </a:endParaRPr>
          </a:p>
        </p:txBody>
      </p:sp>
      <p:sp>
        <p:nvSpPr>
          <p:cNvPr id="331" name="Shape 2"/>
          <p:cNvSpPr/>
          <p:nvPr/>
        </p:nvSpPr>
        <p:spPr>
          <a:xfrm>
            <a:off x="10716840" y="283320"/>
            <a:ext cx="493560" cy="228240"/>
          </a:xfrm>
          <a:prstGeom prst="roundRect">
            <a:avLst>
              <a:gd name="adj" fmla="val 2000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32" name="Text 3"/>
          <p:cNvSpPr/>
          <p:nvPr/>
        </p:nvSpPr>
        <p:spPr>
          <a:xfrm>
            <a:off x="1071684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L10</a:t>
            </a:r>
            <a:endParaRPr b="0" lang="en-US" sz="850" spc="-1" strike="noStrike">
              <a:solidFill>
                <a:srgbClr val="ffffff"/>
              </a:solidFill>
              <a:latin typeface="DejaVu Sans"/>
            </a:endParaRPr>
          </a:p>
        </p:txBody>
      </p:sp>
      <p:sp>
        <p:nvSpPr>
          <p:cNvPr id="333" name="Shape 4"/>
          <p:cNvSpPr/>
          <p:nvPr/>
        </p:nvSpPr>
        <p:spPr>
          <a:xfrm>
            <a:off x="11256120" y="283320"/>
            <a:ext cx="493560" cy="228240"/>
          </a:xfrm>
          <a:prstGeom prst="roundRect">
            <a:avLst>
              <a:gd name="adj" fmla="val 2000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34" name="Text 5"/>
          <p:cNvSpPr/>
          <p:nvPr/>
        </p:nvSpPr>
        <p:spPr>
          <a:xfrm>
            <a:off x="11256120" y="292680"/>
            <a:ext cx="4935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50" spc="-1" strike="noStrike">
                <a:solidFill>
                  <a:srgbClr val="ffffff"/>
                </a:solidFill>
                <a:latin typeface="Arial"/>
                <a:ea typeface="Arial"/>
              </a:rPr>
              <a:t>L20</a:t>
            </a:r>
            <a:endParaRPr b="0" lang="en-US" sz="850" spc="-1" strike="noStrike">
              <a:solidFill>
                <a:srgbClr val="ffffff"/>
              </a:solidFill>
              <a:latin typeface="DejaVu Sans"/>
            </a:endParaRPr>
          </a:p>
        </p:txBody>
      </p:sp>
      <p:sp>
        <p:nvSpPr>
          <p:cNvPr id="335" name="Shape 6"/>
          <p:cNvSpPr/>
          <p:nvPr/>
        </p:nvSpPr>
        <p:spPr>
          <a:xfrm>
            <a:off x="11192040" y="397440"/>
            <a:ext cx="73080" cy="360"/>
          </a:xfrm>
          <a:prstGeom prst="line">
            <a:avLst/>
          </a:prstGeom>
          <a:ln w="15240">
            <a:solidFill>
              <a:srgbClr val="56616f"/>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DejaVu Sans"/>
            </a:endParaRPr>
          </a:p>
        </p:txBody>
      </p:sp>
      <p:sp>
        <p:nvSpPr>
          <p:cNvPr id="336" name="Text 7"/>
          <p:cNvSpPr/>
          <p:nvPr/>
        </p:nvSpPr>
        <p:spPr>
          <a:xfrm>
            <a:off x="502920" y="6528960"/>
            <a:ext cx="4937400" cy="164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80" spc="-1" strike="noStrike">
                <a:solidFill>
                  <a:srgbClr val="aeb8c2"/>
                </a:solidFill>
                <a:latin typeface="Arial"/>
                <a:ea typeface="Arial"/>
              </a:rPr>
              <a:t>PETase manuscript · TOC graphic review</a:t>
            </a:r>
            <a:endParaRPr b="0" lang="en-US" sz="880" spc="-1" strike="noStrike">
              <a:solidFill>
                <a:srgbClr val="ffffff"/>
              </a:solidFill>
              <a:latin typeface="DejaVu Sans"/>
            </a:endParaRPr>
          </a:p>
        </p:txBody>
      </p:sp>
      <p:sp>
        <p:nvSpPr>
          <p:cNvPr id="337" name="Text 8"/>
          <p:cNvSpPr/>
          <p:nvPr/>
        </p:nvSpPr>
        <p:spPr>
          <a:xfrm>
            <a:off x="11247120" y="6501240"/>
            <a:ext cx="438480" cy="200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920" spc="-1" strike="noStrike">
                <a:solidFill>
                  <a:srgbClr val="aeb8c2"/>
                </a:solidFill>
                <a:latin typeface="Arial"/>
                <a:ea typeface="Arial"/>
              </a:rPr>
              <a:t>07</a:t>
            </a:r>
            <a:endParaRPr b="0" lang="en-US" sz="920" spc="-1" strike="noStrike">
              <a:solidFill>
                <a:srgbClr val="ffffff"/>
              </a:solidFill>
              <a:latin typeface="DejaVu Sans"/>
            </a:endParaRPr>
          </a:p>
        </p:txBody>
      </p:sp>
      <p:sp>
        <p:nvSpPr>
          <p:cNvPr id="338" name="Text 9"/>
          <p:cNvSpPr/>
          <p:nvPr/>
        </p:nvSpPr>
        <p:spPr>
          <a:xfrm>
            <a:off x="576000" y="1179720"/>
            <a:ext cx="232236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60" spc="-1" strike="noStrike">
                <a:solidFill>
                  <a:srgbClr val="ffffff"/>
                </a:solidFill>
                <a:latin typeface="Arial"/>
                <a:ea typeface="Arial"/>
              </a:rPr>
              <a:t>Weighted score / 5</a:t>
            </a:r>
            <a:endParaRPr b="0" lang="en-US" sz="1560" spc="-1" strike="noStrike">
              <a:solidFill>
                <a:srgbClr val="ffffff"/>
              </a:solidFill>
              <a:latin typeface="DejaVu Sans"/>
            </a:endParaRPr>
          </a:p>
        </p:txBody>
      </p:sp>
      <p:sp>
        <p:nvSpPr>
          <p:cNvPr id="339" name="Text 10"/>
          <p:cNvSpPr/>
          <p:nvPr/>
        </p:nvSpPr>
        <p:spPr>
          <a:xfrm>
            <a:off x="3017520" y="1197720"/>
            <a:ext cx="8393760" cy="24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30" spc="-1" strike="noStrike">
                <a:solidFill>
                  <a:srgbClr val="c5cfd8"/>
                </a:solidFill>
                <a:latin typeface="Arial"/>
                <a:ea typeface="Arial"/>
              </a:rPr>
              <a:t>Fidelity 35%  ·  3-second clarity 25%  ·  Appeal 15%  ·  Thumbnail 15%  ·  Reviewer safety 10%</a:t>
            </a:r>
            <a:endParaRPr b="0" lang="en-US" sz="1130" spc="-1" strike="noStrike">
              <a:solidFill>
                <a:srgbClr val="ffffff"/>
              </a:solidFill>
              <a:latin typeface="DejaVu Sans"/>
            </a:endParaRPr>
          </a:p>
        </p:txBody>
      </p:sp>
      <p:sp>
        <p:nvSpPr>
          <p:cNvPr id="340" name="Shape 11"/>
          <p:cNvSpPr/>
          <p:nvPr/>
        </p:nvSpPr>
        <p:spPr>
          <a:xfrm>
            <a:off x="585360" y="1700640"/>
            <a:ext cx="6610680" cy="484200"/>
          </a:xfrm>
          <a:prstGeom prst="roundRect">
            <a:avLst>
              <a:gd name="adj" fmla="val 11321"/>
            </a:avLst>
          </a:prstGeom>
          <a:solidFill>
            <a:srgbClr val="2d3541"/>
          </a:solidFill>
          <a:ln w="6350">
            <a:solidFill>
              <a:srgbClr val="4751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1" name="Shape 12"/>
          <p:cNvSpPr/>
          <p:nvPr/>
        </p:nvSpPr>
        <p:spPr>
          <a:xfrm>
            <a:off x="749880" y="1783080"/>
            <a:ext cx="310680" cy="310680"/>
          </a:xfrm>
          <a:prstGeom prst="ellipse">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2" name="Text 13"/>
          <p:cNvSpPr/>
          <p:nvPr/>
        </p:nvSpPr>
        <p:spPr>
          <a:xfrm>
            <a:off x="749880" y="179208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A</a:t>
            </a:r>
            <a:endParaRPr b="0" lang="en-US" sz="1000" spc="-1" strike="noStrike">
              <a:solidFill>
                <a:srgbClr val="ffffff"/>
              </a:solidFill>
              <a:latin typeface="DejaVu Sans"/>
            </a:endParaRPr>
          </a:p>
        </p:txBody>
      </p:sp>
      <p:sp>
        <p:nvSpPr>
          <p:cNvPr id="343" name="Text 14"/>
          <p:cNvSpPr/>
          <p:nvPr/>
        </p:nvSpPr>
        <p:spPr>
          <a:xfrm>
            <a:off x="1207080" y="1774080"/>
            <a:ext cx="14169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ffffff"/>
                </a:solidFill>
                <a:latin typeface="Arial"/>
                <a:ea typeface="Arial"/>
              </a:rPr>
              <a:t>Molecular funnel</a:t>
            </a:r>
            <a:endParaRPr b="0" lang="en-US" sz="1300" spc="-1" strike="noStrike">
              <a:solidFill>
                <a:srgbClr val="ffffff"/>
              </a:solidFill>
              <a:latin typeface="DejaVu Sans"/>
            </a:endParaRPr>
          </a:p>
        </p:txBody>
      </p:sp>
      <p:sp>
        <p:nvSpPr>
          <p:cNvPr id="344" name="Shape 15"/>
          <p:cNvSpPr/>
          <p:nvPr/>
        </p:nvSpPr>
        <p:spPr>
          <a:xfrm>
            <a:off x="2770560" y="1865520"/>
            <a:ext cx="3273120" cy="145800"/>
          </a:xfrm>
          <a:prstGeom prst="roundRect">
            <a:avLst>
              <a:gd name="adj" fmla="val 31250"/>
            </a:avLst>
          </a:prstGeom>
          <a:solidFill>
            <a:srgbClr val="4b5562"/>
          </a:solidFill>
          <a:ln w="12700">
            <a:solidFill>
              <a:srgbClr val="4b55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5" name="Shape 16"/>
          <p:cNvSpPr/>
          <p:nvPr/>
        </p:nvSpPr>
        <p:spPr>
          <a:xfrm>
            <a:off x="2770560" y="1865520"/>
            <a:ext cx="1963800" cy="145800"/>
          </a:xfrm>
          <a:prstGeom prst="roundRect">
            <a:avLst>
              <a:gd name="adj" fmla="val 31250"/>
            </a:avLst>
          </a:prstGeom>
          <a:solidFill>
            <a:srgbClr val="2583b6"/>
          </a:solidFill>
          <a:ln w="12700">
            <a:solidFill>
              <a:srgbClr val="2583b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6" name="Text 17"/>
          <p:cNvSpPr/>
          <p:nvPr/>
        </p:nvSpPr>
        <p:spPr>
          <a:xfrm>
            <a:off x="6272640" y="1755720"/>
            <a:ext cx="50256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pc="-1" strike="noStrike">
                <a:solidFill>
                  <a:srgbClr val="ffffff"/>
                </a:solidFill>
                <a:latin typeface="Arial"/>
                <a:ea typeface="Arial"/>
              </a:rPr>
              <a:t>3.0</a:t>
            </a:r>
            <a:endParaRPr b="0" lang="en-US" sz="1400" spc="-1" strike="noStrike">
              <a:solidFill>
                <a:srgbClr val="ffffff"/>
              </a:solidFill>
              <a:latin typeface="DejaVu Sans"/>
            </a:endParaRPr>
          </a:p>
        </p:txBody>
      </p:sp>
      <p:sp>
        <p:nvSpPr>
          <p:cNvPr id="347" name="Shape 18"/>
          <p:cNvSpPr/>
          <p:nvPr/>
        </p:nvSpPr>
        <p:spPr>
          <a:xfrm>
            <a:off x="585360" y="2359080"/>
            <a:ext cx="6610680" cy="484200"/>
          </a:xfrm>
          <a:prstGeom prst="roundRect">
            <a:avLst>
              <a:gd name="adj" fmla="val 11321"/>
            </a:avLst>
          </a:prstGeom>
          <a:solidFill>
            <a:srgbClr val="2d3541"/>
          </a:solidFill>
          <a:ln w="6350">
            <a:solidFill>
              <a:srgbClr val="4751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8" name="Shape 19"/>
          <p:cNvSpPr/>
          <p:nvPr/>
        </p:nvSpPr>
        <p:spPr>
          <a:xfrm>
            <a:off x="749880" y="2441520"/>
            <a:ext cx="310680" cy="310680"/>
          </a:xfrm>
          <a:prstGeom prst="ellipse">
            <a:avLst/>
          </a:prstGeom>
          <a:solidFill>
            <a:srgbClr val="a87908"/>
          </a:solidFill>
          <a:ln w="12700">
            <a:solidFill>
              <a:srgbClr val="a8790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49" name="Text 20"/>
          <p:cNvSpPr/>
          <p:nvPr/>
        </p:nvSpPr>
        <p:spPr>
          <a:xfrm>
            <a:off x="749880" y="245052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B</a:t>
            </a:r>
            <a:endParaRPr b="0" lang="en-US" sz="1000" spc="-1" strike="noStrike">
              <a:solidFill>
                <a:srgbClr val="ffffff"/>
              </a:solidFill>
              <a:latin typeface="DejaVu Sans"/>
            </a:endParaRPr>
          </a:p>
        </p:txBody>
      </p:sp>
      <p:sp>
        <p:nvSpPr>
          <p:cNvPr id="350" name="Text 21"/>
          <p:cNvSpPr/>
          <p:nvPr/>
        </p:nvSpPr>
        <p:spPr>
          <a:xfrm>
            <a:off x="1207080" y="2432160"/>
            <a:ext cx="14169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ffffff"/>
                </a:solidFill>
                <a:latin typeface="Arial"/>
                <a:ea typeface="Arial"/>
              </a:rPr>
              <a:t>Icon schematic</a:t>
            </a:r>
            <a:endParaRPr b="0" lang="en-US" sz="1300" spc="-1" strike="noStrike">
              <a:solidFill>
                <a:srgbClr val="ffffff"/>
              </a:solidFill>
              <a:latin typeface="DejaVu Sans"/>
            </a:endParaRPr>
          </a:p>
        </p:txBody>
      </p:sp>
      <p:sp>
        <p:nvSpPr>
          <p:cNvPr id="351" name="Shape 22"/>
          <p:cNvSpPr/>
          <p:nvPr/>
        </p:nvSpPr>
        <p:spPr>
          <a:xfrm>
            <a:off x="2770560" y="2523600"/>
            <a:ext cx="3273120" cy="145800"/>
          </a:xfrm>
          <a:prstGeom prst="roundRect">
            <a:avLst>
              <a:gd name="adj" fmla="val 31250"/>
            </a:avLst>
          </a:prstGeom>
          <a:solidFill>
            <a:srgbClr val="4b5562"/>
          </a:solidFill>
          <a:ln w="12700">
            <a:solidFill>
              <a:srgbClr val="4b55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52" name="Shape 23"/>
          <p:cNvSpPr/>
          <p:nvPr/>
        </p:nvSpPr>
        <p:spPr>
          <a:xfrm>
            <a:off x="2770560" y="2523600"/>
            <a:ext cx="2291040" cy="145800"/>
          </a:xfrm>
          <a:prstGeom prst="roundRect">
            <a:avLst>
              <a:gd name="adj" fmla="val 31250"/>
            </a:avLst>
          </a:prstGeom>
          <a:solidFill>
            <a:srgbClr val="a87908"/>
          </a:solidFill>
          <a:ln w="12700">
            <a:solidFill>
              <a:srgbClr val="a8790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53" name="Text 24"/>
          <p:cNvSpPr/>
          <p:nvPr/>
        </p:nvSpPr>
        <p:spPr>
          <a:xfrm>
            <a:off x="6272640" y="2414160"/>
            <a:ext cx="50256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pc="-1" strike="noStrike">
                <a:solidFill>
                  <a:srgbClr val="ffffff"/>
                </a:solidFill>
                <a:latin typeface="Arial"/>
                <a:ea typeface="Arial"/>
              </a:rPr>
              <a:t>3.5</a:t>
            </a:r>
            <a:endParaRPr b="0" lang="en-US" sz="1400" spc="-1" strike="noStrike">
              <a:solidFill>
                <a:srgbClr val="ffffff"/>
              </a:solidFill>
              <a:latin typeface="DejaVu Sans"/>
            </a:endParaRPr>
          </a:p>
        </p:txBody>
      </p:sp>
      <p:sp>
        <p:nvSpPr>
          <p:cNvPr id="354" name="Shape 25"/>
          <p:cNvSpPr/>
          <p:nvPr/>
        </p:nvSpPr>
        <p:spPr>
          <a:xfrm>
            <a:off x="585360" y="3017520"/>
            <a:ext cx="6610680" cy="484200"/>
          </a:xfrm>
          <a:prstGeom prst="roundRect">
            <a:avLst>
              <a:gd name="adj" fmla="val 11321"/>
            </a:avLst>
          </a:prstGeom>
          <a:solidFill>
            <a:srgbClr val="2d3541"/>
          </a:solidFill>
          <a:ln w="6350">
            <a:solidFill>
              <a:srgbClr val="4751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55" name="Shape 26"/>
          <p:cNvSpPr/>
          <p:nvPr/>
        </p:nvSpPr>
        <p:spPr>
          <a:xfrm>
            <a:off x="749880" y="3099960"/>
            <a:ext cx="310680" cy="310680"/>
          </a:xfrm>
          <a:prstGeom prst="ellipse">
            <a:avLst/>
          </a:prstGeom>
          <a:solidFill>
            <a:srgbClr val="8064a2"/>
          </a:solidFill>
          <a:ln w="12700">
            <a:solidFill>
              <a:srgbClr val="8064a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56" name="Text 27"/>
          <p:cNvSpPr/>
          <p:nvPr/>
        </p:nvSpPr>
        <p:spPr>
          <a:xfrm>
            <a:off x="749880" y="310896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C</a:t>
            </a:r>
            <a:endParaRPr b="0" lang="en-US" sz="1000" spc="-1" strike="noStrike">
              <a:solidFill>
                <a:srgbClr val="ffffff"/>
              </a:solidFill>
              <a:latin typeface="DejaVu Sans"/>
            </a:endParaRPr>
          </a:p>
        </p:txBody>
      </p:sp>
      <p:sp>
        <p:nvSpPr>
          <p:cNvPr id="357" name="Text 28"/>
          <p:cNvSpPr/>
          <p:nvPr/>
        </p:nvSpPr>
        <p:spPr>
          <a:xfrm>
            <a:off x="1207080" y="3090600"/>
            <a:ext cx="14169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ffffff"/>
                </a:solidFill>
                <a:latin typeface="Arial"/>
                <a:ea typeface="Arial"/>
              </a:rPr>
              <a:t>Molecular grid</a:t>
            </a:r>
            <a:endParaRPr b="0" lang="en-US" sz="1300" spc="-1" strike="noStrike">
              <a:solidFill>
                <a:srgbClr val="ffffff"/>
              </a:solidFill>
              <a:latin typeface="DejaVu Sans"/>
            </a:endParaRPr>
          </a:p>
        </p:txBody>
      </p:sp>
      <p:sp>
        <p:nvSpPr>
          <p:cNvPr id="358" name="Shape 29"/>
          <p:cNvSpPr/>
          <p:nvPr/>
        </p:nvSpPr>
        <p:spPr>
          <a:xfrm>
            <a:off x="2770560" y="3182040"/>
            <a:ext cx="3273120" cy="145800"/>
          </a:xfrm>
          <a:prstGeom prst="roundRect">
            <a:avLst>
              <a:gd name="adj" fmla="val 31250"/>
            </a:avLst>
          </a:prstGeom>
          <a:solidFill>
            <a:srgbClr val="4b5562"/>
          </a:solidFill>
          <a:ln w="12700">
            <a:solidFill>
              <a:srgbClr val="4b55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59" name="Shape 30"/>
          <p:cNvSpPr/>
          <p:nvPr/>
        </p:nvSpPr>
        <p:spPr>
          <a:xfrm>
            <a:off x="2770560" y="3182040"/>
            <a:ext cx="1767240" cy="145800"/>
          </a:xfrm>
          <a:prstGeom prst="roundRect">
            <a:avLst>
              <a:gd name="adj" fmla="val 31250"/>
            </a:avLst>
          </a:prstGeom>
          <a:solidFill>
            <a:srgbClr val="8064a2"/>
          </a:solidFill>
          <a:ln w="12700">
            <a:solidFill>
              <a:srgbClr val="8064a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60" name="Text 31"/>
          <p:cNvSpPr/>
          <p:nvPr/>
        </p:nvSpPr>
        <p:spPr>
          <a:xfrm>
            <a:off x="6272640" y="3072240"/>
            <a:ext cx="50256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pc="-1" strike="noStrike">
                <a:solidFill>
                  <a:srgbClr val="ffffff"/>
                </a:solidFill>
                <a:latin typeface="Arial"/>
                <a:ea typeface="Arial"/>
              </a:rPr>
              <a:t>2.7</a:t>
            </a:r>
            <a:endParaRPr b="0" lang="en-US" sz="1400" spc="-1" strike="noStrike">
              <a:solidFill>
                <a:srgbClr val="ffffff"/>
              </a:solidFill>
              <a:latin typeface="DejaVu Sans"/>
            </a:endParaRPr>
          </a:p>
        </p:txBody>
      </p:sp>
      <p:sp>
        <p:nvSpPr>
          <p:cNvPr id="361" name="Shape 32"/>
          <p:cNvSpPr/>
          <p:nvPr/>
        </p:nvSpPr>
        <p:spPr>
          <a:xfrm>
            <a:off x="585360" y="3675960"/>
            <a:ext cx="6610680" cy="484200"/>
          </a:xfrm>
          <a:prstGeom prst="roundRect">
            <a:avLst>
              <a:gd name="adj" fmla="val 11321"/>
            </a:avLst>
          </a:prstGeom>
          <a:solidFill>
            <a:srgbClr val="2d3541"/>
          </a:solidFill>
          <a:ln w="6350">
            <a:solidFill>
              <a:srgbClr val="4751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62" name="Shape 33"/>
          <p:cNvSpPr/>
          <p:nvPr/>
        </p:nvSpPr>
        <p:spPr>
          <a:xfrm>
            <a:off x="749880" y="3758040"/>
            <a:ext cx="310680" cy="310680"/>
          </a:xfrm>
          <a:prstGeom prst="ellipse">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63" name="Text 34"/>
          <p:cNvSpPr/>
          <p:nvPr/>
        </p:nvSpPr>
        <p:spPr>
          <a:xfrm>
            <a:off x="749880" y="376740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D</a:t>
            </a:r>
            <a:endParaRPr b="0" lang="en-US" sz="1000" spc="-1" strike="noStrike">
              <a:solidFill>
                <a:srgbClr val="ffffff"/>
              </a:solidFill>
              <a:latin typeface="DejaVu Sans"/>
            </a:endParaRPr>
          </a:p>
        </p:txBody>
      </p:sp>
      <p:sp>
        <p:nvSpPr>
          <p:cNvPr id="364" name="Text 35"/>
          <p:cNvSpPr/>
          <p:nvPr/>
        </p:nvSpPr>
        <p:spPr>
          <a:xfrm>
            <a:off x="1207080" y="3749040"/>
            <a:ext cx="14169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ffffff"/>
                </a:solidFill>
                <a:latin typeface="Arial"/>
                <a:ea typeface="Arial"/>
              </a:rPr>
              <a:t>Hero concept</a:t>
            </a:r>
            <a:endParaRPr b="0" lang="en-US" sz="1300" spc="-1" strike="noStrike">
              <a:solidFill>
                <a:srgbClr val="ffffff"/>
              </a:solidFill>
              <a:latin typeface="DejaVu Sans"/>
            </a:endParaRPr>
          </a:p>
        </p:txBody>
      </p:sp>
      <p:sp>
        <p:nvSpPr>
          <p:cNvPr id="365" name="Shape 36"/>
          <p:cNvSpPr/>
          <p:nvPr/>
        </p:nvSpPr>
        <p:spPr>
          <a:xfrm>
            <a:off x="2770560" y="3840480"/>
            <a:ext cx="3273120" cy="145800"/>
          </a:xfrm>
          <a:prstGeom prst="roundRect">
            <a:avLst>
              <a:gd name="adj" fmla="val 31250"/>
            </a:avLst>
          </a:prstGeom>
          <a:solidFill>
            <a:srgbClr val="4b5562"/>
          </a:solidFill>
          <a:ln w="12700">
            <a:solidFill>
              <a:srgbClr val="4b55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66" name="Shape 37"/>
          <p:cNvSpPr/>
          <p:nvPr/>
        </p:nvSpPr>
        <p:spPr>
          <a:xfrm>
            <a:off x="2770560" y="3840480"/>
            <a:ext cx="2356560" cy="145800"/>
          </a:xfrm>
          <a:prstGeom prst="roundRect">
            <a:avLst>
              <a:gd name="adj" fmla="val 31250"/>
            </a:avLst>
          </a:prstGeom>
          <a:solidFill>
            <a:srgbClr val="d66a1f"/>
          </a:solidFill>
          <a:ln w="12700">
            <a:solidFill>
              <a:srgbClr val="d66a1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67" name="Text 38"/>
          <p:cNvSpPr/>
          <p:nvPr/>
        </p:nvSpPr>
        <p:spPr>
          <a:xfrm>
            <a:off x="6272640" y="3730680"/>
            <a:ext cx="50256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pc="-1" strike="noStrike">
                <a:solidFill>
                  <a:srgbClr val="ffffff"/>
                </a:solidFill>
                <a:latin typeface="Arial"/>
                <a:ea typeface="Arial"/>
              </a:rPr>
              <a:t>3.6</a:t>
            </a:r>
            <a:endParaRPr b="0" lang="en-US" sz="1400" spc="-1" strike="noStrike">
              <a:solidFill>
                <a:srgbClr val="ffffff"/>
              </a:solidFill>
              <a:latin typeface="DejaVu Sans"/>
            </a:endParaRPr>
          </a:p>
        </p:txBody>
      </p:sp>
      <p:sp>
        <p:nvSpPr>
          <p:cNvPr id="368" name="Shape 39"/>
          <p:cNvSpPr/>
          <p:nvPr/>
        </p:nvSpPr>
        <p:spPr>
          <a:xfrm>
            <a:off x="585360" y="4334400"/>
            <a:ext cx="6610680" cy="484200"/>
          </a:xfrm>
          <a:prstGeom prst="roundRect">
            <a:avLst>
              <a:gd name="adj" fmla="val 11321"/>
            </a:avLst>
          </a:prstGeom>
          <a:solidFill>
            <a:srgbClr val="2d3541"/>
          </a:solidFill>
          <a:ln w="6350">
            <a:solidFill>
              <a:srgbClr val="47515e"/>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69" name="Shape 40"/>
          <p:cNvSpPr/>
          <p:nvPr/>
        </p:nvSpPr>
        <p:spPr>
          <a:xfrm>
            <a:off x="749880" y="4416480"/>
            <a:ext cx="310680" cy="310680"/>
          </a:xfrm>
          <a:prstGeom prst="ellipse">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70" name="Text 41"/>
          <p:cNvSpPr/>
          <p:nvPr/>
        </p:nvSpPr>
        <p:spPr>
          <a:xfrm>
            <a:off x="749880" y="4425840"/>
            <a:ext cx="31068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pc="-1" strike="noStrike">
                <a:solidFill>
                  <a:srgbClr val="ffffff"/>
                </a:solidFill>
                <a:latin typeface="Arial"/>
                <a:ea typeface="Arial"/>
              </a:rPr>
              <a:t>E</a:t>
            </a:r>
            <a:endParaRPr b="0" lang="en-US" sz="1000" spc="-1" strike="noStrike">
              <a:solidFill>
                <a:srgbClr val="ffffff"/>
              </a:solidFill>
              <a:latin typeface="DejaVu Sans"/>
            </a:endParaRPr>
          </a:p>
        </p:txBody>
      </p:sp>
      <p:sp>
        <p:nvSpPr>
          <p:cNvPr id="371" name="Text 42"/>
          <p:cNvSpPr/>
          <p:nvPr/>
        </p:nvSpPr>
        <p:spPr>
          <a:xfrm>
            <a:off x="1207080" y="4407480"/>
            <a:ext cx="141696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1" strike="noStrike">
                <a:solidFill>
                  <a:srgbClr val="ffffff"/>
                </a:solidFill>
                <a:latin typeface="Arial"/>
                <a:ea typeface="Arial"/>
              </a:rPr>
              <a:t>Fingerprints</a:t>
            </a:r>
            <a:endParaRPr b="0" lang="en-US" sz="1300" spc="-1" strike="noStrike">
              <a:solidFill>
                <a:srgbClr val="ffffff"/>
              </a:solidFill>
              <a:latin typeface="DejaVu Sans"/>
            </a:endParaRPr>
          </a:p>
        </p:txBody>
      </p:sp>
      <p:sp>
        <p:nvSpPr>
          <p:cNvPr id="372" name="Shape 43"/>
          <p:cNvSpPr/>
          <p:nvPr/>
        </p:nvSpPr>
        <p:spPr>
          <a:xfrm>
            <a:off x="2770560" y="4498920"/>
            <a:ext cx="3273120" cy="145800"/>
          </a:xfrm>
          <a:prstGeom prst="roundRect">
            <a:avLst>
              <a:gd name="adj" fmla="val 31250"/>
            </a:avLst>
          </a:prstGeom>
          <a:solidFill>
            <a:srgbClr val="4b5562"/>
          </a:solidFill>
          <a:ln w="12700">
            <a:solidFill>
              <a:srgbClr val="4b55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73" name="Shape 44"/>
          <p:cNvSpPr/>
          <p:nvPr/>
        </p:nvSpPr>
        <p:spPr>
          <a:xfrm>
            <a:off x="2770560" y="4498920"/>
            <a:ext cx="2814840" cy="145800"/>
          </a:xfrm>
          <a:prstGeom prst="roundRect">
            <a:avLst>
              <a:gd name="adj" fmla="val 31250"/>
            </a:avLst>
          </a:prstGeom>
          <a:solidFill>
            <a:srgbClr val="2f8b62"/>
          </a:solidFill>
          <a:ln w="12700">
            <a:solidFill>
              <a:srgbClr val="2f8b6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74" name="Text 45"/>
          <p:cNvSpPr/>
          <p:nvPr/>
        </p:nvSpPr>
        <p:spPr>
          <a:xfrm>
            <a:off x="6272640" y="4389120"/>
            <a:ext cx="502560" cy="3106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pc="-1" strike="noStrike">
                <a:solidFill>
                  <a:srgbClr val="7fe0ad"/>
                </a:solidFill>
                <a:latin typeface="Arial"/>
                <a:ea typeface="Arial"/>
              </a:rPr>
              <a:t>4.3</a:t>
            </a:r>
            <a:endParaRPr b="0" lang="en-US" sz="1400" spc="-1" strike="noStrike">
              <a:solidFill>
                <a:srgbClr val="ffffff"/>
              </a:solidFill>
              <a:latin typeface="DejaVu Sans"/>
            </a:endParaRPr>
          </a:p>
        </p:txBody>
      </p:sp>
      <p:sp>
        <p:nvSpPr>
          <p:cNvPr id="375" name="Text 46"/>
          <p:cNvSpPr/>
          <p:nvPr/>
        </p:nvSpPr>
        <p:spPr>
          <a:xfrm>
            <a:off x="612720" y="5083920"/>
            <a:ext cx="37486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950" spc="-1" strike="noStrike">
                <a:solidFill>
                  <a:srgbClr val="9eaab5"/>
                </a:solidFill>
                <a:latin typeface="Arial"/>
                <a:ea typeface="Arial"/>
              </a:rPr>
              <a:t>Scores are a design aid, not experimental results.</a:t>
            </a:r>
            <a:endParaRPr b="0" lang="en-US" sz="950" spc="-1" strike="noStrike">
              <a:solidFill>
                <a:srgbClr val="ffffff"/>
              </a:solidFill>
              <a:latin typeface="DejaVu Sans"/>
            </a:endParaRPr>
          </a:p>
        </p:txBody>
      </p:sp>
      <p:sp>
        <p:nvSpPr>
          <p:cNvPr id="376" name="Shape 47"/>
          <p:cNvSpPr/>
          <p:nvPr/>
        </p:nvSpPr>
        <p:spPr>
          <a:xfrm>
            <a:off x="7516440" y="1700640"/>
            <a:ext cx="4077720" cy="3593160"/>
          </a:xfrm>
          <a:prstGeom prst="roundRect">
            <a:avLst>
              <a:gd name="adj" fmla="val 2799"/>
            </a:avLst>
          </a:prstGeom>
          <a:solidFill>
            <a:srgbClr val="263d34"/>
          </a:solidFill>
          <a:ln w="11430">
            <a:solidFill>
              <a:srgbClr val="4b8c7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77" name="Text 48"/>
          <p:cNvSpPr/>
          <p:nvPr/>
        </p:nvSpPr>
        <p:spPr>
          <a:xfrm>
            <a:off x="7836480" y="1974960"/>
            <a:ext cx="3428640" cy="438480"/>
          </a:xfrm>
          <a:prstGeom prst="rect">
            <a:avLst/>
          </a:prstGeom>
          <a:noFill/>
          <a:ln w="0">
            <a:noFill/>
          </a:ln>
        </p:spPr>
        <p:style>
          <a:lnRef idx="0"/>
          <a:fillRef idx="0"/>
          <a:effectRef idx="0"/>
          <a:fontRef idx="minor"/>
        </p:style>
        <p:txBody>
          <a:bodyPr lIns="0" rIns="0" tIns="0" bIns="0" anchor="ctr">
            <a:normAutofit fontScale="89999"/>
          </a:bodyPr>
          <a:p>
            <a:pPr defTabSz="914400">
              <a:lnSpc>
                <a:spcPct val="100000"/>
              </a:lnSpc>
              <a:tabLst>
                <a:tab algn="l" pos="0"/>
              </a:tabLst>
            </a:pPr>
            <a:r>
              <a:rPr b="1" lang="en-US" sz="2050" spc="-1" strike="noStrike">
                <a:solidFill>
                  <a:srgbClr val="ffffff"/>
                </a:solidFill>
                <a:latin typeface="Arial"/>
                <a:ea typeface="Arial"/>
              </a:rPr>
              <a:t>Recommendation: E for JCIM</a:t>
            </a:r>
            <a:endParaRPr b="0" lang="en-US" sz="2050" spc="-1" strike="noStrike">
              <a:solidFill>
                <a:srgbClr val="ffffff"/>
              </a:solidFill>
              <a:latin typeface="DejaVu Sans"/>
            </a:endParaRPr>
          </a:p>
        </p:txBody>
      </p:sp>
      <p:sp>
        <p:nvSpPr>
          <p:cNvPr id="378" name="Text 49"/>
          <p:cNvSpPr/>
          <p:nvPr/>
        </p:nvSpPr>
        <p:spPr>
          <a:xfrm>
            <a:off x="7845480" y="2523600"/>
            <a:ext cx="32457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20" spc="-1" strike="noStrike">
                <a:solidFill>
                  <a:srgbClr val="b8dac9"/>
                </a:solidFill>
                <a:latin typeface="Arial"/>
                <a:ea typeface="Arial"/>
              </a:rPr>
              <a:t>It uniquely preserves all three</a:t>
            </a:r>
            <a:endParaRPr b="0" lang="en-US" sz="1320" spc="-1" strike="noStrike">
              <a:solidFill>
                <a:srgbClr val="ffffff"/>
              </a:solidFill>
              <a:latin typeface="DejaVu Sans"/>
            </a:endParaRPr>
          </a:p>
        </p:txBody>
      </p:sp>
      <p:sp>
        <p:nvSpPr>
          <p:cNvPr id="379" name="Shape 50"/>
          <p:cNvSpPr/>
          <p:nvPr/>
        </p:nvSpPr>
        <p:spPr>
          <a:xfrm>
            <a:off x="7845480" y="2944440"/>
            <a:ext cx="109440" cy="109440"/>
          </a:xfrm>
          <a:prstGeom prst="roundRect">
            <a:avLst>
              <a:gd name="adj" fmla="val 25000"/>
            </a:avLst>
          </a:prstGeom>
          <a:solidFill>
            <a:srgbClr val="78d1a2"/>
          </a:solidFill>
          <a:ln w="12700">
            <a:solidFill>
              <a:srgbClr val="78d1a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380" name="Text 51"/>
          <p:cNvSpPr/>
          <p:nvPr/>
        </p:nvSpPr>
        <p:spPr>
          <a:xfrm>
            <a:off x="8028360" y="289872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78d1a2"/>
                </a:solidFill>
                <a:latin typeface="Arial"/>
                <a:ea typeface="Arial"/>
              </a:rPr>
              <a:t>01</a:t>
            </a:r>
            <a:endParaRPr b="0" lang="en-US" sz="1120" spc="-1" strike="noStrike">
              <a:solidFill>
                <a:srgbClr val="ffffff"/>
              </a:solidFill>
              <a:latin typeface="DejaVu Sans"/>
            </a:endParaRPr>
          </a:p>
        </p:txBody>
      </p:sp>
      <p:sp>
        <p:nvSpPr>
          <p:cNvPr id="381" name="Text 52"/>
          <p:cNvSpPr/>
          <p:nvPr/>
        </p:nvSpPr>
        <p:spPr>
          <a:xfrm>
            <a:off x="8869680" y="2889360"/>
            <a:ext cx="2038680" cy="310680"/>
          </a:xfrm>
          <a:prstGeom prst="rect">
            <a:avLst/>
          </a:prstGeom>
          <a:noFill/>
          <a:ln w="0">
            <a:noFill/>
          </a:ln>
        </p:spPr>
        <p:style>
          <a:lnRef idx="0"/>
          <a:fillRef idx="0"/>
          <a:effectRef idx="0"/>
          <a:fontRef idx="minor"/>
        </p:style>
        <p:txBody>
          <a:bodyPr lIns="0" rIns="0" tIns="0" bIns="0" anchor="t">
            <a:normAutofit fontScale="87222"/>
          </a:bodyPr>
          <a:p>
            <a:pPr defTabSz="914400">
              <a:lnSpc>
                <a:spcPct val="100000"/>
              </a:lnSpc>
              <a:tabLst>
                <a:tab algn="l" pos="0"/>
              </a:tabLst>
            </a:pPr>
            <a:r>
              <a:rPr b="0" lang="en-US" sz="1110" spc="-1" strike="noStrike">
                <a:solidFill>
                  <a:srgbClr val="e5e9ed"/>
                </a:solidFill>
                <a:latin typeface="Arial"/>
                <a:ea typeface="Arial"/>
              </a:rPr>
              <a:t>Six-enzyme comparison stays central</a:t>
            </a:r>
            <a:endParaRPr b="0" lang="en-US" sz="1110" spc="-1" strike="noStrike">
              <a:solidFill>
                <a:srgbClr val="ffffff"/>
              </a:solidFill>
              <a:latin typeface="DejaVu Sans"/>
            </a:endParaRPr>
          </a:p>
        </p:txBody>
      </p:sp>
      <p:sp>
        <p:nvSpPr>
          <p:cNvPr id="382" name="Shape 53"/>
          <p:cNvSpPr/>
          <p:nvPr/>
        </p:nvSpPr>
        <p:spPr>
          <a:xfrm>
            <a:off x="7845480" y="3383280"/>
            <a:ext cx="109440" cy="109440"/>
          </a:xfrm>
          <a:prstGeom prst="roundRect">
            <a:avLst>
              <a:gd name="adj" fmla="val 25000"/>
            </a:avLst>
          </a:prstGeom>
          <a:solidFill>
            <a:srgbClr val="78d1a2"/>
          </a:solidFill>
          <a:ln w="12700">
            <a:solidFill>
              <a:srgbClr val="78d1a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383" name="Text 54"/>
          <p:cNvSpPr/>
          <p:nvPr/>
        </p:nvSpPr>
        <p:spPr>
          <a:xfrm>
            <a:off x="8028360" y="333756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78d1a2"/>
                </a:solidFill>
                <a:latin typeface="Arial"/>
                <a:ea typeface="Arial"/>
              </a:rPr>
              <a:t>02</a:t>
            </a:r>
            <a:endParaRPr b="0" lang="en-US" sz="1120" spc="-1" strike="noStrike">
              <a:solidFill>
                <a:srgbClr val="ffffff"/>
              </a:solidFill>
              <a:latin typeface="DejaVu Sans"/>
            </a:endParaRPr>
          </a:p>
        </p:txBody>
      </p:sp>
      <p:sp>
        <p:nvSpPr>
          <p:cNvPr id="384" name="Text 55"/>
          <p:cNvSpPr/>
          <p:nvPr/>
        </p:nvSpPr>
        <p:spPr>
          <a:xfrm>
            <a:off x="8869680" y="3328560"/>
            <a:ext cx="2038680" cy="310680"/>
          </a:xfrm>
          <a:prstGeom prst="rect">
            <a:avLst/>
          </a:prstGeom>
          <a:noFill/>
          <a:ln w="0">
            <a:noFill/>
          </a:ln>
        </p:spPr>
        <p:style>
          <a:lnRef idx="0"/>
          <a:fillRef idx="0"/>
          <a:effectRef idx="0"/>
          <a:fontRef idx="minor"/>
        </p:style>
        <p:txBody>
          <a:bodyPr lIns="0" rIns="0" tIns="0" bIns="0" anchor="t">
            <a:normAutofit fontScale="87222"/>
          </a:bodyPr>
          <a:p>
            <a:pPr defTabSz="914400">
              <a:lnSpc>
                <a:spcPct val="100000"/>
              </a:lnSpc>
              <a:tabLst>
                <a:tab algn="l" pos="0"/>
              </a:tabLst>
            </a:pPr>
            <a:r>
              <a:rPr b="0" lang="en-US" sz="1110" spc="-1" strike="noStrike">
                <a:solidFill>
                  <a:srgbClr val="e5e9ed"/>
                </a:solidFill>
                <a:latin typeface="Arial"/>
                <a:ea typeface="Arial"/>
              </a:rPr>
              <a:t>L10/L20 remodeling stays comparable</a:t>
            </a:r>
            <a:endParaRPr b="0" lang="en-US" sz="1110" spc="-1" strike="noStrike">
              <a:solidFill>
                <a:srgbClr val="ffffff"/>
              </a:solidFill>
              <a:latin typeface="DejaVu Sans"/>
            </a:endParaRPr>
          </a:p>
        </p:txBody>
      </p:sp>
      <p:sp>
        <p:nvSpPr>
          <p:cNvPr id="385" name="Shape 56"/>
          <p:cNvSpPr/>
          <p:nvPr/>
        </p:nvSpPr>
        <p:spPr>
          <a:xfrm>
            <a:off x="7845480" y="3822120"/>
            <a:ext cx="109440" cy="109440"/>
          </a:xfrm>
          <a:prstGeom prst="roundRect">
            <a:avLst>
              <a:gd name="adj" fmla="val 25000"/>
            </a:avLst>
          </a:prstGeom>
          <a:solidFill>
            <a:srgbClr val="78d1a2"/>
          </a:solidFill>
          <a:ln w="12700">
            <a:solidFill>
              <a:srgbClr val="78d1a2"/>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DejaVu Sans"/>
            </a:endParaRPr>
          </a:p>
        </p:txBody>
      </p:sp>
      <p:sp>
        <p:nvSpPr>
          <p:cNvPr id="386" name="Text 57"/>
          <p:cNvSpPr/>
          <p:nvPr/>
        </p:nvSpPr>
        <p:spPr>
          <a:xfrm>
            <a:off x="8028360" y="3776400"/>
            <a:ext cx="8042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20" spc="-1" strike="noStrike">
                <a:solidFill>
                  <a:srgbClr val="78d1a2"/>
                </a:solidFill>
                <a:latin typeface="Arial"/>
                <a:ea typeface="Arial"/>
              </a:rPr>
              <a:t>03</a:t>
            </a:r>
            <a:endParaRPr b="0" lang="en-US" sz="1120" spc="-1" strike="noStrike">
              <a:solidFill>
                <a:srgbClr val="ffffff"/>
              </a:solidFill>
              <a:latin typeface="DejaVu Sans"/>
            </a:endParaRPr>
          </a:p>
        </p:txBody>
      </p:sp>
      <p:sp>
        <p:nvSpPr>
          <p:cNvPr id="387" name="Text 58"/>
          <p:cNvSpPr/>
          <p:nvPr/>
        </p:nvSpPr>
        <p:spPr>
          <a:xfrm>
            <a:off x="8869680" y="3767400"/>
            <a:ext cx="2038680" cy="4111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pc="-1" strike="noStrike">
                <a:solidFill>
                  <a:srgbClr val="e5e9ed"/>
                </a:solidFill>
                <a:latin typeface="Arial"/>
                <a:ea typeface="Arial"/>
              </a:rPr>
              <a:t>Sites are not drawn as mechanisms</a:t>
            </a:r>
            <a:endParaRPr b="0" lang="en-US" sz="1110" spc="-1" strike="noStrike">
              <a:solidFill>
                <a:srgbClr val="ffffff"/>
              </a:solidFill>
              <a:latin typeface="DejaVu Sans"/>
            </a:endParaRPr>
          </a:p>
        </p:txBody>
      </p:sp>
      <p:sp>
        <p:nvSpPr>
          <p:cNvPr id="388" name="Text 59"/>
          <p:cNvSpPr/>
          <p:nvPr/>
        </p:nvSpPr>
        <p:spPr>
          <a:xfrm>
            <a:off x="7845480" y="4416480"/>
            <a:ext cx="324576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20" spc="-1" strike="noStrike">
                <a:solidFill>
                  <a:srgbClr val="ffffff"/>
                </a:solidFill>
                <a:latin typeface="Arial"/>
                <a:ea typeface="Arial"/>
              </a:rPr>
              <a:t>E+: borrow only D's visual strengths</a:t>
            </a:r>
            <a:endParaRPr b="0" lang="en-US" sz="1420" spc="-1" strike="noStrike">
              <a:solidFill>
                <a:srgbClr val="ffffff"/>
              </a:solidFill>
              <a:latin typeface="DejaVu Sans"/>
            </a:endParaRPr>
          </a:p>
        </p:txBody>
      </p:sp>
      <p:sp>
        <p:nvSpPr>
          <p:cNvPr id="389" name="Text 60"/>
          <p:cNvSpPr/>
          <p:nvPr/>
        </p:nvSpPr>
        <p:spPr>
          <a:xfrm>
            <a:off x="7845480" y="4782240"/>
            <a:ext cx="3291480" cy="420120"/>
          </a:xfrm>
          <a:prstGeom prst="rect">
            <a:avLst/>
          </a:prstGeom>
          <a:noFill/>
          <a:ln w="0">
            <a:noFill/>
          </a:ln>
        </p:spPr>
        <p:style>
          <a:lnRef idx="0"/>
          <a:fillRef idx="0"/>
          <a:effectRef idx="0"/>
          <a:fontRef idx="minor"/>
        </p:style>
        <p:txBody>
          <a:bodyPr lIns="0" rIns="0" tIns="0" bIns="0" anchor="t">
            <a:normAutofit fontScale="96666" lnSpcReduction="20000"/>
          </a:bodyPr>
          <a:p>
            <a:pPr defTabSz="914400">
              <a:lnSpc>
                <a:spcPct val="100000"/>
              </a:lnSpc>
              <a:tabLst>
                <a:tab algn="l" pos="0"/>
              </a:tabLst>
            </a:pPr>
            <a:r>
              <a:rPr b="0" lang="en-US" sz="1120" spc="-1" strike="noStrike">
                <a:solidFill>
                  <a:srgbClr val="d9e8e0"/>
                </a:solidFill>
                <a:latin typeface="Arial"/>
                <a:ea typeface="Arial"/>
              </a:rPr>
              <a:t>Add direction-free length cues; simplify the legend; enlarge site maps. Keep bond lines and effect scaling out.</a:t>
            </a:r>
            <a:endParaRPr b="0" lang="en-US" sz="1120" spc="-1" strike="noStrike">
              <a:solidFill>
                <a:srgbClr val="ffffff"/>
              </a:solidFill>
              <a:latin typeface="DejaVu Sans"/>
            </a:endParaRPr>
          </a:p>
        </p:txBody>
      </p:sp>
      <p:sp>
        <p:nvSpPr>
          <p:cNvPr id="390" name="Shape 61"/>
          <p:cNvSpPr/>
          <p:nvPr/>
        </p:nvSpPr>
        <p:spPr>
          <a:xfrm>
            <a:off x="585360" y="5559480"/>
            <a:ext cx="11009160" cy="639720"/>
          </a:xfrm>
          <a:prstGeom prst="roundRect">
            <a:avLst>
              <a:gd name="adj" fmla="val 11429"/>
            </a:avLst>
          </a:prstGeom>
          <a:solidFill>
            <a:srgbClr val="2b333e"/>
          </a:solidFill>
          <a:ln w="7620">
            <a:solidFill>
              <a:srgbClr val="47526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DejaVu Sans"/>
            </a:endParaRPr>
          </a:p>
        </p:txBody>
      </p:sp>
      <p:sp>
        <p:nvSpPr>
          <p:cNvPr id="391" name="Text 62"/>
          <p:cNvSpPr/>
          <p:nvPr/>
        </p:nvSpPr>
        <p:spPr>
          <a:xfrm>
            <a:off x="841320" y="5696640"/>
            <a:ext cx="104238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40" spc="-1" strike="noStrike">
                <a:solidFill>
                  <a:srgbClr val="ffffff"/>
                </a:solidFill>
                <a:latin typeface="Arial"/>
                <a:ea typeface="Arial"/>
              </a:rPr>
              <a:t>For a talk cover, D wins attention; for a defensible JCIM TOC, E is the stronger choice.</a:t>
            </a:r>
            <a:endParaRPr b="0" lang="en-US" sz="1540" spc="-1" strike="noStrike">
              <a:solidFill>
                <a:srgbClr val="ffffff"/>
              </a:solidFill>
              <a:latin typeface="DejaVu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King's College London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2026-09-04T12:58:19Z</dcterms:created>
  <dc:creator>AutoProPET manuscript team</dc:creator>
  <dc:description/>
  <dc:language>en-US</dc:language>
  <cp:lastModifiedBy>AutoProPET manuscript team</cp:lastModifiedBy>
  <dcterms:modified xsi:type="dcterms:W3CDTF">2026-09-04T12:58:19Z</dcterms:modified>
  <cp:revision>1</cp:revision>
  <dc:subject>PETase manuscript TOC graphic design review</dc:subject>
  <dc:title>PETase manuscript: TOC graphic design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7</vt:r8>
  </property>
  <property fmtid="{D5CDD505-2E9C-101B-9397-08002B2CF9AE}" pid="3" name="PresentationFormat">
    <vt:lpwstr>On-screen Show (16:9)</vt:lpwstr>
  </property>
  <property fmtid="{D5CDD505-2E9C-101B-9397-08002B2CF9AE}" pid="4" name="Slides">
    <vt:r8>7</vt:r8>
  </property>
</Properties>
</file>