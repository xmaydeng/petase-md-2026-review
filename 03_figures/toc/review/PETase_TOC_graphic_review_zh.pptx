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slides/slide1.xml" ContentType="application/vnd.openxmlformats-officedocument.presentationml.slide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Slides/_rels/notesSlide7.xml.rels" ContentType="application/vnd.openxmlformats-package.relationships+xml"/>
  <Override PartName="/ppt/notesSlides/_rels/notesSlide6.xml.rels" ContentType="application/vnd.openxmlformats-package.relationships+xml"/>
  <Override PartName="/ppt/notesSlides/_rels/notesSlide5.xml.rels" ContentType="application/vnd.openxmlformats-package.relationships+xml"/>
  <Override PartName="/ppt/notesSlides/_rels/notesSlide4.xml.rels" ContentType="application/vnd.openxmlformats-package.relationships+xml"/>
  <Override PartName="/ppt/notesSlides/_rels/notesSlide3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.xml.rels" ContentType="application/vnd.openxmlformats-package.relationship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chemeClr val="dk1"/>
                </a:solidFill>
                <a:latin typeface="Microsoft YaHei"/>
              </a:rPr>
              <a:t>Click to move the slide</a:t>
            </a:r>
            <a:endParaRPr b="0" lang="en-US" sz="1800" spc="-1" strike="noStrike">
              <a:solidFill>
                <a:schemeClr val="dk1"/>
              </a:solidFill>
              <a:latin typeface="Microsoft YaHe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DejaVu Sans"/>
              </a:rPr>
              <a:t>Click to edit the notes format</a:t>
            </a:r>
            <a:endParaRPr b="0" lang="en-US" sz="20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DejaVu Serif"/>
              </a:rPr>
              <a:t>&lt;header&gt;</a:t>
            </a:r>
            <a:endParaRPr b="0" lang="en-US" sz="1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DejaVu Serif"/>
              </a:defRPr>
            </a:lvl1pPr>
          </a:lstStyle>
          <a:p>
            <a:pPr indent="0" algn="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DejaVu Serif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DejaVu Serif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DejaVu Serif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DejaVu Serif"/>
              </a:defRPr>
            </a:lvl1pPr>
          </a:lstStyle>
          <a:p>
            <a:pPr indent="0" algn="r">
              <a:buNone/>
            </a:pPr>
            <a:fld id="{5ACD410C-DF4C-4BDB-B1AF-EBB1B5BFD61E}" type="slidenum">
              <a:rPr b="0" lang="en-US" sz="1400" spc="-1" strike="noStrike">
                <a:solidFill>
                  <a:srgbClr val="000000"/>
                </a:solidFill>
                <a:latin typeface="DejaVu Serif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DejaVu Serif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9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DejaVu Sans"/>
              </a:rPr>
              <a:t>这份简版汇报比较五个已完成的</a:t>
            </a:r>
            <a:r>
              <a:rPr b="0" lang="en-US" sz="2000" spc="-1" strike="noStrike">
                <a:solidFill>
                  <a:srgbClr val="000000"/>
                </a:solidFill>
                <a:latin typeface="DejaVu Sans"/>
              </a:rPr>
              <a:t>TOC</a:t>
            </a:r>
            <a:r>
              <a:rPr b="0" lang="zh-CN" sz="2000" spc="-1" strike="noStrike">
                <a:solidFill>
                  <a:srgbClr val="000000"/>
                </a:solidFill>
                <a:latin typeface="DejaVu Sans"/>
              </a:rPr>
              <a:t>方向。评价重点不是哪一张最炫，而是哪一张能在</a:t>
            </a:r>
            <a:r>
              <a:rPr b="0" lang="en-US" sz="2000" spc="-1" strike="noStrike">
                <a:solidFill>
                  <a:srgbClr val="000000"/>
                </a:solidFill>
                <a:latin typeface="DejaVu Sans"/>
              </a:rPr>
              <a:t>JCIM</a:t>
            </a:r>
            <a:r>
              <a:rPr b="0" lang="zh-CN" sz="2000" spc="-1" strike="noStrike">
                <a:solidFill>
                  <a:srgbClr val="000000"/>
                </a:solidFill>
                <a:latin typeface="DejaVu Sans"/>
              </a:rPr>
              <a:t>的缩略图尺寸里，准确传达文章的主要贡献，同时避免把代表帧或局部几何说成确定机制。</a:t>
            </a:r>
            <a:endParaRPr b="0" lang="en-US" sz="20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394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FC00F3A-25F8-4222-938F-17C3C590B0B9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DejaVu Serif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9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DejaVu Sans"/>
              </a:rPr>
              <a:t>正文有四层证据：保留、界面架构、链长重分配、局部几何。</a:t>
            </a:r>
            <a:r>
              <a:rPr b="0" lang="en-US" sz="2000" spc="-1" strike="noStrike">
                <a:solidFill>
                  <a:srgbClr val="000000"/>
                </a:solidFill>
                <a:latin typeface="DejaVu Sans"/>
              </a:rPr>
              <a:t>TOC</a:t>
            </a:r>
            <a:r>
              <a:rPr b="0" lang="zh-CN" sz="2000" spc="-1" strike="noStrike">
                <a:solidFill>
                  <a:srgbClr val="000000"/>
                </a:solidFill>
                <a:latin typeface="DejaVu Sans"/>
              </a:rPr>
              <a:t>不可能平均呈现四层，所以我们把</a:t>
            </a:r>
            <a:r>
              <a:rPr b="0" lang="en-US" sz="2000" spc="-1" strike="noStrike">
                <a:solidFill>
                  <a:srgbClr val="000000"/>
                </a:solidFill>
                <a:latin typeface="DejaVu Sans"/>
              </a:rPr>
              <a:t>retention</a:t>
            </a:r>
            <a:r>
              <a:rPr b="0" lang="zh-CN" sz="2000" spc="-1" strike="noStrike">
                <a:solidFill>
                  <a:srgbClr val="000000"/>
                </a:solidFill>
                <a:latin typeface="DejaVu Sans"/>
              </a:rPr>
              <a:t>作为入口，把六酶界面重分配作为主结论，再用</a:t>
            </a:r>
            <a:r>
              <a:rPr b="0" lang="en-US" sz="2000" spc="-1" strike="noStrike">
                <a:solidFill>
                  <a:srgbClr val="000000"/>
                </a:solidFill>
                <a:latin typeface="DejaVu Sans"/>
              </a:rPr>
              <a:t>TfCut1</a:t>
            </a:r>
            <a:r>
              <a:rPr b="0" lang="zh-CN" sz="2000" spc="-1" strike="noStrike">
                <a:solidFill>
                  <a:srgbClr val="000000"/>
                </a:solidFill>
                <a:latin typeface="DejaVu Sans"/>
              </a:rPr>
              <a:t>和</a:t>
            </a:r>
            <a:r>
              <a:rPr b="0" lang="en-US" sz="2000" spc="-1" strike="noStrike">
                <a:solidFill>
                  <a:srgbClr val="000000"/>
                </a:solidFill>
                <a:latin typeface="DejaVu Sans"/>
              </a:rPr>
              <a:t>HiC</a:t>
            </a:r>
            <a:r>
              <a:rPr b="0" lang="zh-CN" sz="2000" spc="-1" strike="noStrike">
                <a:solidFill>
                  <a:srgbClr val="000000"/>
                </a:solidFill>
                <a:latin typeface="DejaVu Sans"/>
              </a:rPr>
              <a:t>位点作为落点。任何让读者想到亲和力、活性、反应能垒或固体</a:t>
            </a:r>
            <a:r>
              <a:rPr b="0" lang="en-US" sz="2000" spc="-1" strike="noStrike">
                <a:solidFill>
                  <a:srgbClr val="000000"/>
                </a:solidFill>
                <a:latin typeface="DejaVu Sans"/>
              </a:rPr>
              <a:t>PET</a:t>
            </a:r>
            <a:r>
              <a:rPr b="0" lang="zh-CN" sz="2000" spc="-1" strike="noStrike">
                <a:solidFill>
                  <a:srgbClr val="000000"/>
                </a:solidFill>
                <a:latin typeface="DejaVu Sans"/>
              </a:rPr>
              <a:t>的图形，都应视为风险。</a:t>
            </a:r>
            <a:endParaRPr b="0" lang="en-US" sz="20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397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DF167BF-1D0F-4AA3-A80C-B9E0416218D9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DejaVu Serif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9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DejaVu Sans"/>
              </a:rPr>
              <a:t>A</a:t>
            </a:r>
            <a:r>
              <a:rPr b="0" lang="zh-CN" sz="2000" spc="-1" strike="noStrike">
                <a:solidFill>
                  <a:srgbClr val="000000"/>
                </a:solidFill>
                <a:latin typeface="DejaVu Sans"/>
              </a:rPr>
              <a:t>方案的优点是真实分子感和完整漏斗，但在</a:t>
            </a:r>
            <a:r>
              <a:rPr b="0" lang="en-US" sz="2000" spc="-1" strike="noStrike">
                <a:solidFill>
                  <a:srgbClr val="000000"/>
                </a:solidFill>
                <a:latin typeface="DejaVu Sans"/>
              </a:rPr>
              <a:t>975</a:t>
            </a:r>
            <a:r>
              <a:rPr b="0" lang="zh-CN" sz="2000" spc="-1" strike="noStrike">
                <a:solidFill>
                  <a:srgbClr val="000000"/>
                </a:solidFill>
                <a:latin typeface="DejaVu Sans"/>
              </a:rPr>
              <a:t>乘</a:t>
            </a:r>
            <a:r>
              <a:rPr b="0" lang="en-US" sz="2000" spc="-1" strike="noStrike">
                <a:solidFill>
                  <a:srgbClr val="000000"/>
                </a:solidFill>
                <a:latin typeface="DejaVu Sans"/>
              </a:rPr>
              <a:t>525</a:t>
            </a:r>
            <a:r>
              <a:rPr b="0" lang="zh-CN" sz="2000" spc="-1" strike="noStrike">
                <a:solidFill>
                  <a:srgbClr val="000000"/>
                </a:solidFill>
                <a:latin typeface="DejaVu Sans"/>
              </a:rPr>
              <a:t>像素里同时出现六张入口结构、四张</a:t>
            </a:r>
            <a:r>
              <a:rPr b="0" lang="en-US" sz="2000" spc="-1" strike="noStrike">
                <a:solidFill>
                  <a:srgbClr val="000000"/>
                </a:solidFill>
                <a:latin typeface="DejaVu Sans"/>
              </a:rPr>
              <a:t>L10/L20</a:t>
            </a:r>
            <a:r>
              <a:rPr b="0" lang="zh-CN" sz="2000" spc="-1" strike="noStrike">
                <a:solidFill>
                  <a:srgbClr val="000000"/>
                </a:solidFill>
                <a:latin typeface="DejaVu Sans"/>
              </a:rPr>
              <a:t>结构和局部接触，实际是十多个视觉焦点。</a:t>
            </a:r>
            <a:r>
              <a:rPr b="0" lang="en-US" sz="2000" spc="-1" strike="noStrike">
                <a:solidFill>
                  <a:srgbClr val="000000"/>
                </a:solidFill>
                <a:latin typeface="DejaVu Sans"/>
              </a:rPr>
              <a:t>B</a:t>
            </a:r>
            <a:r>
              <a:rPr b="0" lang="zh-CN" sz="2000" spc="-1" strike="noStrike">
                <a:solidFill>
                  <a:srgbClr val="000000"/>
                </a:solidFill>
                <a:latin typeface="DejaVu Sans"/>
              </a:rPr>
              <a:t>方案把故事压成图标，第一眼更快，但图标没有直接承载群体统计，容易把‘支持的位点’画成‘已建立的机制’。两者分别代表信息过多和抽象过度。</a:t>
            </a:r>
            <a:endParaRPr b="0" lang="en-US" sz="20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400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203EFF9-B6C3-40F6-8FC1-C84E998D502A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DejaVu Serif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0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DejaVu Sans"/>
              </a:rPr>
              <a:t>C</a:t>
            </a:r>
            <a:r>
              <a:rPr b="0" lang="zh-CN" sz="2000" spc="-1" strike="noStrike">
                <a:solidFill>
                  <a:srgbClr val="000000"/>
                </a:solidFill>
                <a:latin typeface="DejaVu Sans"/>
              </a:rPr>
              <a:t>方案最接近把正文</a:t>
            </a:r>
            <a:r>
              <a:rPr b="0" lang="en-US" sz="2000" spc="-1" strike="noStrike">
                <a:solidFill>
                  <a:srgbClr val="000000"/>
                </a:solidFill>
                <a:latin typeface="DejaVu Sans"/>
              </a:rPr>
              <a:t>Figure 4</a:t>
            </a:r>
            <a:r>
              <a:rPr b="0" lang="zh-CN" sz="2000" spc="-1" strike="noStrike">
                <a:solidFill>
                  <a:srgbClr val="000000"/>
                </a:solidFill>
                <a:latin typeface="DejaVu Sans"/>
              </a:rPr>
              <a:t>、</a:t>
            </a:r>
            <a:r>
              <a:rPr b="0" lang="en-US" sz="2000" spc="-1" strike="noStrike">
                <a:solidFill>
                  <a:srgbClr val="000000"/>
                </a:solidFill>
                <a:latin typeface="DejaVu Sans"/>
              </a:rPr>
              <a:t>Figure 5</a:t>
            </a:r>
            <a:r>
              <a:rPr b="0" lang="zh-CN" sz="2000" spc="-1" strike="noStrike">
                <a:solidFill>
                  <a:srgbClr val="000000"/>
                </a:solidFill>
                <a:latin typeface="DejaVu Sans"/>
              </a:rPr>
              <a:t>和</a:t>
            </a:r>
            <a:r>
              <a:rPr b="0" lang="en-US" sz="2000" spc="-1" strike="noStrike">
                <a:solidFill>
                  <a:srgbClr val="000000"/>
                </a:solidFill>
                <a:latin typeface="DejaVu Sans"/>
              </a:rPr>
              <a:t>Figure 7</a:t>
            </a:r>
            <a:r>
              <a:rPr b="0" lang="zh-CN" sz="2000" spc="-1" strike="noStrike">
                <a:solidFill>
                  <a:srgbClr val="000000"/>
                </a:solidFill>
                <a:latin typeface="DejaVu Sans"/>
              </a:rPr>
              <a:t>压缩到同一张图。对作者而言信息很完整，但对首次看到论文的读者，最先注意到的是四张局部作用图，而不是六酶群体的链长重分配。</a:t>
            </a:r>
            <a:r>
              <a:rPr b="0" lang="en-US" sz="2000" spc="-1" strike="noStrike">
                <a:solidFill>
                  <a:srgbClr val="000000"/>
                </a:solidFill>
                <a:latin typeface="DejaVu Sans"/>
              </a:rPr>
              <a:t>TOC</a:t>
            </a:r>
            <a:r>
              <a:rPr b="0" lang="zh-CN" sz="2000" spc="-1" strike="noStrike">
                <a:solidFill>
                  <a:srgbClr val="000000"/>
                </a:solidFill>
                <a:latin typeface="DejaVu Sans"/>
              </a:rPr>
              <a:t>尺寸下，‘完整’会转化为‘没有视觉主语’。</a:t>
            </a:r>
            <a:endParaRPr b="0" lang="en-US" sz="20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403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47C637C-B4B6-42B2-ADAA-5F46D155F40F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DejaVu Serif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0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DejaVu Sans"/>
              </a:rPr>
              <a:t>D</a:t>
            </a:r>
            <a:r>
              <a:rPr b="0" lang="zh-CN" sz="2000" spc="-1" strike="noStrike">
                <a:solidFill>
                  <a:srgbClr val="000000"/>
                </a:solidFill>
                <a:latin typeface="DejaVu Sans"/>
              </a:rPr>
              <a:t>方案是视觉层面最成功的一版：</a:t>
            </a:r>
            <a:r>
              <a:rPr b="0" lang="en-US" sz="2000" spc="-1" strike="noStrike">
                <a:solidFill>
                  <a:srgbClr val="000000"/>
                </a:solidFill>
                <a:latin typeface="DejaVu Sans"/>
              </a:rPr>
              <a:t>PET</a:t>
            </a:r>
            <a:r>
              <a:rPr b="0" lang="zh-CN" sz="2000" spc="-1" strike="noStrike">
                <a:solidFill>
                  <a:srgbClr val="000000"/>
                </a:solidFill>
                <a:latin typeface="DejaVu Sans"/>
              </a:rPr>
              <a:t>链图标直接解释</a:t>
            </a:r>
            <a:r>
              <a:rPr b="0" lang="en-US" sz="2000" spc="-1" strike="noStrike">
                <a:solidFill>
                  <a:srgbClr val="000000"/>
                </a:solidFill>
                <a:latin typeface="DejaVu Sans"/>
              </a:rPr>
              <a:t>L10</a:t>
            </a:r>
            <a:r>
              <a:rPr b="0" lang="zh-CN" sz="2000" spc="-1" strike="noStrike">
                <a:solidFill>
                  <a:srgbClr val="000000"/>
                </a:solidFill>
                <a:latin typeface="DejaVu Sans"/>
              </a:rPr>
              <a:t>和</a:t>
            </a:r>
            <a:r>
              <a:rPr b="0" lang="en-US" sz="2000" spc="-1" strike="noStrike">
                <a:solidFill>
                  <a:srgbClr val="000000"/>
                </a:solidFill>
                <a:latin typeface="DejaVu Sans"/>
              </a:rPr>
              <a:t>L20</a:t>
            </a:r>
            <a:r>
              <a:rPr b="0" lang="zh-CN" sz="2000" spc="-1" strike="noStrike">
                <a:solidFill>
                  <a:srgbClr val="000000"/>
                </a:solidFill>
                <a:latin typeface="DejaVu Sans"/>
              </a:rPr>
              <a:t>，蓝橙两色形成强记忆点，主体只有</a:t>
            </a:r>
            <a:r>
              <a:rPr b="0" lang="en-US" sz="2000" spc="-1" strike="noStrike">
                <a:solidFill>
                  <a:srgbClr val="000000"/>
                </a:solidFill>
                <a:latin typeface="DejaVu Sans"/>
              </a:rPr>
              <a:t>TfCut1</a:t>
            </a:r>
            <a:r>
              <a:rPr b="0" lang="zh-CN" sz="2000" spc="-1" strike="noStrike">
                <a:solidFill>
                  <a:srgbClr val="000000"/>
                </a:solidFill>
                <a:latin typeface="DejaVu Sans"/>
              </a:rPr>
              <a:t>和</a:t>
            </a:r>
            <a:r>
              <a:rPr b="0" lang="en-US" sz="2000" spc="-1" strike="noStrike">
                <a:solidFill>
                  <a:srgbClr val="000000"/>
                </a:solidFill>
                <a:latin typeface="DejaVu Sans"/>
              </a:rPr>
              <a:t>HiC</a:t>
            </a:r>
            <a:r>
              <a:rPr b="0" lang="zh-CN" sz="2000" spc="-1" strike="noStrike">
                <a:solidFill>
                  <a:srgbClr val="000000"/>
                </a:solidFill>
                <a:latin typeface="DejaVu Sans"/>
              </a:rPr>
              <a:t>两个结构对。但是，它把六酶比较降为背景，同时</a:t>
            </a:r>
            <a:r>
              <a:rPr b="0" lang="en-US" sz="2000" spc="-1" strike="noStrike">
                <a:solidFill>
                  <a:srgbClr val="000000"/>
                </a:solidFill>
                <a:latin typeface="DejaVu Sans"/>
              </a:rPr>
              <a:t>L10</a:t>
            </a:r>
            <a:r>
              <a:rPr b="0" lang="zh-CN" sz="2000" spc="-1" strike="noStrike">
                <a:solidFill>
                  <a:srgbClr val="000000"/>
                </a:solidFill>
                <a:latin typeface="DejaVu Sans"/>
              </a:rPr>
              <a:t>到</a:t>
            </a:r>
            <a:r>
              <a:rPr b="0" lang="en-US" sz="2000" spc="-1" strike="noStrike">
                <a:solidFill>
                  <a:srgbClr val="000000"/>
                </a:solidFill>
                <a:latin typeface="DejaVu Sans"/>
              </a:rPr>
              <a:t>L20</a:t>
            </a:r>
            <a:r>
              <a:rPr b="0" lang="zh-CN" sz="2000" spc="-1" strike="noStrike">
                <a:solidFill>
                  <a:srgbClr val="000000"/>
                </a:solidFill>
                <a:latin typeface="DejaVu Sans"/>
              </a:rPr>
              <a:t>的箭头容易被误读为同一轨迹的转换。局部标签也会让读者把偶发氢键和芳香近距离当成已经确立的机制。</a:t>
            </a:r>
            <a:endParaRPr b="0" lang="en-US" sz="20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406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5B9D3AB-7654-4325-8E97-29F4B44CD654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DejaVu Serif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0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DejaVu Sans"/>
              </a:rPr>
              <a:t>E</a:t>
            </a:r>
            <a:r>
              <a:rPr b="0" lang="zh-CN" sz="2000" spc="-1" strike="noStrike">
                <a:solidFill>
                  <a:srgbClr val="000000"/>
                </a:solidFill>
                <a:latin typeface="DejaVu Sans"/>
              </a:rPr>
              <a:t>方案把正文真正的群体证据放在第一层。左侧十二条带来自六酶</a:t>
            </a:r>
            <a:r>
              <a:rPr b="0" lang="en-US" sz="2000" spc="-1" strike="noStrike">
                <a:solidFill>
                  <a:srgbClr val="000000"/>
                </a:solidFill>
                <a:latin typeface="DejaVu Sans"/>
              </a:rPr>
              <a:t>L10/L20</a:t>
            </a:r>
            <a:r>
              <a:rPr b="0" lang="zh-CN" sz="2000" spc="-1" strike="noStrike">
                <a:solidFill>
                  <a:srgbClr val="000000"/>
                </a:solidFill>
                <a:latin typeface="DejaVu Sans"/>
              </a:rPr>
              <a:t>的</a:t>
            </a:r>
            <a:r>
              <a:rPr b="0" lang="en-US" sz="2000" spc="-1" strike="noStrike">
                <a:solidFill>
                  <a:srgbClr val="000000"/>
                </a:solidFill>
                <a:latin typeface="DejaVu Sans"/>
              </a:rPr>
              <a:t>contact-class composition</a:t>
            </a:r>
            <a:r>
              <a:rPr b="0" lang="zh-CN" sz="2000" spc="-1" strike="noStrike">
                <a:solidFill>
                  <a:srgbClr val="000000"/>
                </a:solidFill>
                <a:latin typeface="DejaVu Sans"/>
              </a:rPr>
              <a:t>，右侧只把八个支持位点放回</a:t>
            </a:r>
            <a:r>
              <a:rPr b="0" lang="en-US" sz="2000" spc="-1" strike="noStrike">
                <a:solidFill>
                  <a:srgbClr val="000000"/>
                </a:solidFill>
                <a:latin typeface="DejaVu Sans"/>
              </a:rPr>
              <a:t>TfCut1</a:t>
            </a:r>
            <a:r>
              <a:rPr b="0" lang="zh-CN" sz="2000" spc="-1" strike="noStrike">
                <a:solidFill>
                  <a:srgbClr val="000000"/>
                </a:solidFill>
                <a:latin typeface="DejaVu Sans"/>
              </a:rPr>
              <a:t>和</a:t>
            </a:r>
            <a:r>
              <a:rPr b="0" lang="en-US" sz="2000" spc="-1" strike="noStrike">
                <a:solidFill>
                  <a:srgbClr val="000000"/>
                </a:solidFill>
                <a:latin typeface="DejaVu Sans"/>
              </a:rPr>
              <a:t>HiC</a:t>
            </a:r>
            <a:r>
              <a:rPr b="0" lang="zh-CN" sz="2000" spc="-1" strike="noStrike">
                <a:solidFill>
                  <a:srgbClr val="000000"/>
                </a:solidFill>
                <a:latin typeface="DejaVu Sans"/>
              </a:rPr>
              <a:t>的空间位置。代表结构不再承担占有率或持续性含义，也不画氢键和</a:t>
            </a:r>
            <a:r>
              <a:rPr b="0" lang="en-US" sz="2000" spc="-1" strike="noStrike">
                <a:solidFill>
                  <a:srgbClr val="000000"/>
                </a:solidFill>
                <a:latin typeface="DejaVu Sans"/>
              </a:rPr>
              <a:t>π</a:t>
            </a:r>
            <a:r>
              <a:rPr b="0" lang="zh-CN" sz="2000" spc="-1" strike="noStrike">
                <a:solidFill>
                  <a:srgbClr val="000000"/>
                </a:solidFill>
                <a:latin typeface="DejaVu Sans"/>
              </a:rPr>
              <a:t>作用，因此它最接近论文可以防守的结论。代价是视觉上更分析型，可以继续做轻量视觉优化。</a:t>
            </a:r>
            <a:endParaRPr b="0" lang="en-US" sz="20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409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E30D88B-2F2B-4E49-8F3A-3E66B746259F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DejaVu Serif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1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DejaVu Sans"/>
              </a:rPr>
              <a:t>最终建议不是简单地选最漂亮的一张。</a:t>
            </a:r>
            <a:r>
              <a:rPr b="0" lang="en-US" sz="2000" spc="-1" strike="noStrike">
                <a:solidFill>
                  <a:srgbClr val="000000"/>
                </a:solidFill>
                <a:latin typeface="DejaVu Sans"/>
              </a:rPr>
              <a:t>D</a:t>
            </a:r>
            <a:r>
              <a:rPr b="0" lang="zh-CN" sz="2000" spc="-1" strike="noStrike">
                <a:solidFill>
                  <a:srgbClr val="000000"/>
                </a:solidFill>
                <a:latin typeface="DejaVu Sans"/>
              </a:rPr>
              <a:t>是视觉冠军，适合演讲或概念封面；</a:t>
            </a:r>
            <a:r>
              <a:rPr b="0" lang="en-US" sz="2000" spc="-1" strike="noStrike">
                <a:solidFill>
                  <a:srgbClr val="000000"/>
                </a:solidFill>
                <a:latin typeface="DejaVu Sans"/>
              </a:rPr>
              <a:t>E</a:t>
            </a:r>
            <a:r>
              <a:rPr b="0" lang="zh-CN" sz="2000" spc="-1" strike="noStrike">
                <a:solidFill>
                  <a:srgbClr val="000000"/>
                </a:solidFill>
                <a:latin typeface="DejaVu Sans"/>
              </a:rPr>
              <a:t>是投稿冠军，因为它以群体数据为主语、保留六酶比较，也严格限制结构和位点的解释。最理想的下一步是</a:t>
            </a:r>
            <a:r>
              <a:rPr b="0" lang="en-US" sz="2000" spc="-1" strike="noStrike">
                <a:solidFill>
                  <a:srgbClr val="000000"/>
                </a:solidFill>
                <a:latin typeface="DejaVu Sans"/>
              </a:rPr>
              <a:t>E</a:t>
            </a:r>
            <a:r>
              <a:rPr b="0" lang="zh-CN" sz="2000" spc="-1" strike="noStrike">
                <a:solidFill>
                  <a:srgbClr val="000000"/>
                </a:solidFill>
                <a:latin typeface="DejaVu Sans"/>
              </a:rPr>
              <a:t>加少量</a:t>
            </a:r>
            <a:r>
              <a:rPr b="0" lang="en-US" sz="2000" spc="-1" strike="noStrike">
                <a:solidFill>
                  <a:srgbClr val="000000"/>
                </a:solidFill>
                <a:latin typeface="DejaVu Sans"/>
              </a:rPr>
              <a:t>D</a:t>
            </a:r>
            <a:r>
              <a:rPr b="0" lang="zh-CN" sz="2000" spc="-1" strike="noStrike">
                <a:solidFill>
                  <a:srgbClr val="000000"/>
                </a:solidFill>
                <a:latin typeface="DejaVu Sans"/>
              </a:rPr>
              <a:t>的视觉语言，例如不带箭头的短链</a:t>
            </a:r>
            <a:r>
              <a:rPr b="0" lang="en-US" sz="2000" spc="-1" strike="noStrike">
                <a:solidFill>
                  <a:srgbClr val="000000"/>
                </a:solidFill>
                <a:latin typeface="DejaVu Sans"/>
              </a:rPr>
              <a:t>/</a:t>
            </a:r>
            <a:r>
              <a:rPr b="0" lang="zh-CN" sz="2000" spc="-1" strike="noStrike">
                <a:solidFill>
                  <a:srgbClr val="000000"/>
                </a:solidFill>
                <a:latin typeface="DejaVu Sans"/>
              </a:rPr>
              <a:t>长链图标和更精简的标题，但不恢复局部键线或机制符号。</a:t>
            </a:r>
            <a:endParaRPr b="0" lang="en-US" sz="20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412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0E5ED09-560A-4956-828A-EF620DB8C44C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DejaVu Serif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chemeClr val="dk1"/>
                </a:solidFill>
                <a:latin typeface="Microsoft YaHei"/>
              </a:rPr>
              <a:t>Click to edit the title text format</a:t>
            </a:r>
            <a:endParaRPr b="0" lang="en-US" sz="1800" spc="-1" strike="noStrike">
              <a:solidFill>
                <a:schemeClr val="dk1"/>
              </a:solidFill>
              <a:latin typeface="Microsoft YaHe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Microsoft YaHe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Microsoft YaHe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Microsoft YaHei"/>
              </a:rPr>
              <a:t>Second Outline Level</a:t>
            </a:r>
            <a:endParaRPr b="0" lang="en-US" sz="2400" spc="-1" strike="noStrike">
              <a:solidFill>
                <a:schemeClr val="dk1"/>
              </a:solidFill>
              <a:latin typeface="Microsoft YaHe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Microsoft YaHei"/>
              </a:rPr>
              <a:t>Third Outline Level</a:t>
            </a:r>
            <a:endParaRPr b="0" lang="en-US" sz="2000" spc="-1" strike="noStrike">
              <a:solidFill>
                <a:schemeClr val="dk1"/>
              </a:solidFill>
              <a:latin typeface="Microsoft YaHe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Microsoft YaHei"/>
              </a:rPr>
              <a:t>Fourth Outline Level</a:t>
            </a:r>
            <a:endParaRPr b="0" lang="en-US" sz="2000" spc="-1" strike="noStrike">
              <a:solidFill>
                <a:schemeClr val="dk1"/>
              </a:solidFill>
              <a:latin typeface="Microsoft YaHe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Microsoft YaHei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Microsoft YaHe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Microsoft YaHei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Microsoft YaHe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Microsoft YaHei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Microsoft YaHe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2026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0"/>
          <p:cNvSpPr/>
          <p:nvPr/>
        </p:nvSpPr>
        <p:spPr>
          <a:xfrm>
            <a:off x="567000" y="384120"/>
            <a:ext cx="78634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137" strike="noStrike">
                <a:solidFill>
                  <a:srgbClr val="b8c2cc"/>
                </a:solidFill>
                <a:latin typeface="Microsoft YaHei"/>
                <a:ea typeface="Microsoft YaHei"/>
              </a:rPr>
              <a:t>PETase MANUSCRIPT  ·  JCIM TOC GRAPHIC REVIEW</a:t>
            </a:r>
            <a:endParaRPr b="0" lang="en-US" sz="1000" spc="-1" strike="noStrike">
              <a:solidFill>
                <a:srgbClr val="ffffff"/>
              </a:solidFill>
              <a:latin typeface="DejaVu Sans"/>
            </a:endParaRPr>
          </a:p>
        </p:txBody>
      </p:sp>
      <p:sp>
        <p:nvSpPr>
          <p:cNvPr id="9" name="Text 1"/>
          <p:cNvSpPr/>
          <p:nvPr/>
        </p:nvSpPr>
        <p:spPr>
          <a:xfrm>
            <a:off x="567000" y="768240"/>
            <a:ext cx="9966600" cy="69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3200" spc="-1" strike="noStrike">
                <a:solidFill>
                  <a:srgbClr val="ffffff"/>
                </a:solidFill>
                <a:latin typeface="Microsoft YaHei"/>
                <a:ea typeface="Microsoft YaHei"/>
              </a:rPr>
              <a:t>我们希望读者在</a:t>
            </a:r>
            <a:r>
              <a:rPr b="1" lang="en-US" sz="3200" spc="-1" strike="noStrike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  <a:r>
              <a:rPr b="1" lang="zh-CN" sz="3200" spc="-1" strike="noStrike">
                <a:solidFill>
                  <a:srgbClr val="ffffff"/>
                </a:solidFill>
                <a:latin typeface="Microsoft YaHei"/>
                <a:ea typeface="Microsoft YaHei"/>
              </a:rPr>
              <a:t>秒内看懂什么？</a:t>
            </a:r>
            <a:endParaRPr b="0" lang="en-US" sz="3200" spc="-1" strike="noStrike">
              <a:solidFill>
                <a:srgbClr val="ffffff"/>
              </a:solidFill>
              <a:latin typeface="DejaVu Sans"/>
            </a:endParaRPr>
          </a:p>
        </p:txBody>
      </p:sp>
      <p:sp>
        <p:nvSpPr>
          <p:cNvPr id="10" name="Text 2"/>
          <p:cNvSpPr/>
          <p:nvPr/>
        </p:nvSpPr>
        <p:spPr>
          <a:xfrm>
            <a:off x="585360" y="1536120"/>
            <a:ext cx="859500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20" spc="-1" strike="noStrike">
                <a:solidFill>
                  <a:srgbClr val="dce3e9"/>
                </a:solidFill>
                <a:latin typeface="Microsoft YaHei"/>
                <a:ea typeface="Microsoft YaHei"/>
              </a:rPr>
              <a:t>5 </a:t>
            </a:r>
            <a:r>
              <a:rPr b="0" lang="zh-CN" sz="1520" spc="-1" strike="noStrike">
                <a:solidFill>
                  <a:srgbClr val="dce3e9"/>
                </a:solidFill>
                <a:latin typeface="Microsoft YaHei"/>
                <a:ea typeface="Microsoft YaHei"/>
              </a:rPr>
              <a:t>个设计方向  </a:t>
            </a:r>
            <a:r>
              <a:rPr b="0" lang="en-US" sz="1520" spc="-1" strike="noStrike">
                <a:solidFill>
                  <a:srgbClr val="dce3e9"/>
                </a:solidFill>
                <a:latin typeface="Microsoft YaHei"/>
                <a:ea typeface="Microsoft YaHei"/>
              </a:rPr>
              <a:t>·  </a:t>
            </a:r>
            <a:r>
              <a:rPr b="0" lang="zh-CN" sz="1520" spc="-1" strike="noStrike">
                <a:solidFill>
                  <a:srgbClr val="dce3e9"/>
                </a:solidFill>
                <a:latin typeface="Microsoft YaHei"/>
                <a:ea typeface="Microsoft YaHei"/>
              </a:rPr>
              <a:t>一套证据标准  </a:t>
            </a:r>
            <a:r>
              <a:rPr b="0" lang="en-US" sz="1520" spc="-1" strike="noStrike">
                <a:solidFill>
                  <a:srgbClr val="dce3e9"/>
                </a:solidFill>
                <a:latin typeface="Microsoft YaHei"/>
                <a:ea typeface="Microsoft YaHei"/>
              </a:rPr>
              <a:t>·  </a:t>
            </a:r>
            <a:r>
              <a:rPr b="0" lang="zh-CN" sz="1520" spc="-1" strike="noStrike">
                <a:solidFill>
                  <a:srgbClr val="dce3e9"/>
                </a:solidFill>
                <a:latin typeface="Microsoft YaHei"/>
                <a:ea typeface="Microsoft YaHei"/>
              </a:rPr>
              <a:t>一个投稿建议</a:t>
            </a:r>
            <a:endParaRPr b="0" lang="en-US" sz="1520" spc="-1" strike="noStrike">
              <a:solidFill>
                <a:srgbClr val="ffffff"/>
              </a:solidFill>
              <a:latin typeface="DejaVu Sans"/>
            </a:endParaRPr>
          </a:p>
        </p:txBody>
      </p:sp>
      <p:sp>
        <p:nvSpPr>
          <p:cNvPr id="11" name="Shape 3"/>
          <p:cNvSpPr/>
          <p:nvPr/>
        </p:nvSpPr>
        <p:spPr>
          <a:xfrm>
            <a:off x="10716840" y="393120"/>
            <a:ext cx="493560" cy="228240"/>
          </a:xfrm>
          <a:prstGeom prst="roundRect">
            <a:avLst>
              <a:gd name="adj" fmla="val 20000"/>
            </a:avLst>
          </a:prstGeom>
          <a:solidFill>
            <a:srgbClr val="2583b6"/>
          </a:solidFill>
          <a:ln w="12700">
            <a:solidFill>
              <a:srgbClr val="2583b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DejaVu Sans"/>
            </a:endParaRPr>
          </a:p>
        </p:txBody>
      </p:sp>
      <p:sp>
        <p:nvSpPr>
          <p:cNvPr id="12" name="Text 4"/>
          <p:cNvSpPr/>
          <p:nvPr/>
        </p:nvSpPr>
        <p:spPr>
          <a:xfrm>
            <a:off x="10716840" y="402480"/>
            <a:ext cx="49356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-1" strike="noStrike">
                <a:solidFill>
                  <a:srgbClr val="ffffff"/>
                </a:solidFill>
                <a:latin typeface="Microsoft YaHei"/>
                <a:ea typeface="Microsoft YaHei"/>
              </a:rPr>
              <a:t>L10</a:t>
            </a:r>
            <a:endParaRPr b="0" lang="en-US" sz="850" spc="-1" strike="noStrike">
              <a:solidFill>
                <a:srgbClr val="ffffff"/>
              </a:solidFill>
              <a:latin typeface="DejaVu Sans"/>
            </a:endParaRPr>
          </a:p>
        </p:txBody>
      </p:sp>
      <p:sp>
        <p:nvSpPr>
          <p:cNvPr id="13" name="Shape 5"/>
          <p:cNvSpPr/>
          <p:nvPr/>
        </p:nvSpPr>
        <p:spPr>
          <a:xfrm>
            <a:off x="11256120" y="393120"/>
            <a:ext cx="493560" cy="228240"/>
          </a:xfrm>
          <a:prstGeom prst="roundRect">
            <a:avLst>
              <a:gd name="adj" fmla="val 20000"/>
            </a:avLst>
          </a:prstGeom>
          <a:solidFill>
            <a:srgbClr val="d66a1f"/>
          </a:solidFill>
          <a:ln w="12700">
            <a:solidFill>
              <a:srgbClr val="d66a1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DejaVu Sans"/>
            </a:endParaRPr>
          </a:p>
        </p:txBody>
      </p:sp>
      <p:sp>
        <p:nvSpPr>
          <p:cNvPr id="14" name="Text 6"/>
          <p:cNvSpPr/>
          <p:nvPr/>
        </p:nvSpPr>
        <p:spPr>
          <a:xfrm>
            <a:off x="11256120" y="402480"/>
            <a:ext cx="49356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-1" strike="noStrike">
                <a:solidFill>
                  <a:srgbClr val="ffffff"/>
                </a:solidFill>
                <a:latin typeface="Microsoft YaHei"/>
                <a:ea typeface="Microsoft YaHei"/>
              </a:rPr>
              <a:t>L20</a:t>
            </a:r>
            <a:endParaRPr b="0" lang="en-US" sz="850" spc="-1" strike="noStrike">
              <a:solidFill>
                <a:srgbClr val="ffffff"/>
              </a:solidFill>
              <a:latin typeface="DejaVu Sans"/>
            </a:endParaRPr>
          </a:p>
        </p:txBody>
      </p:sp>
      <p:sp>
        <p:nvSpPr>
          <p:cNvPr id="15" name="Shape 7"/>
          <p:cNvSpPr/>
          <p:nvPr/>
        </p:nvSpPr>
        <p:spPr>
          <a:xfrm>
            <a:off x="11192040" y="507240"/>
            <a:ext cx="73080" cy="360"/>
          </a:xfrm>
          <a:prstGeom prst="line">
            <a:avLst/>
          </a:prstGeom>
          <a:ln w="15240">
            <a:solidFill>
              <a:srgbClr val="56616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DejaVu Sans"/>
            </a:endParaRPr>
          </a:p>
        </p:txBody>
      </p:sp>
      <p:sp>
        <p:nvSpPr>
          <p:cNvPr id="16" name="Shape 8"/>
          <p:cNvSpPr/>
          <p:nvPr/>
        </p:nvSpPr>
        <p:spPr>
          <a:xfrm>
            <a:off x="567000" y="2176200"/>
            <a:ext cx="2139480" cy="1965600"/>
          </a:xfrm>
          <a:prstGeom prst="roundRect">
            <a:avLst>
              <a:gd name="adj" fmla="val 3721"/>
            </a:avLst>
          </a:prstGeom>
          <a:solidFill>
            <a:srgbClr val="303844"/>
          </a:solidFill>
          <a:ln w="8890">
            <a:solidFill>
              <a:srgbClr val="5661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DejaVu Sans"/>
            </a:endParaRPr>
          </a:p>
        </p:txBody>
      </p:sp>
      <p:pic>
        <p:nvPicPr>
          <p:cNvPr id="17" name="Image 0" descr="TOC graphic option A: 结构漏斗"/>
          <p:cNvPicPr/>
          <p:nvPr/>
        </p:nvPicPr>
        <p:blipFill>
          <a:blip r:embed="rId1"/>
          <a:stretch/>
        </p:blipFill>
        <p:spPr>
          <a:xfrm>
            <a:off x="640080" y="2277000"/>
            <a:ext cx="1992960" cy="1074240"/>
          </a:xfrm>
          <a:prstGeom prst="rect">
            <a:avLst/>
          </a:prstGeom>
          <a:ln w="0">
            <a:noFill/>
          </a:ln>
        </p:spPr>
      </p:pic>
      <p:sp>
        <p:nvSpPr>
          <p:cNvPr id="18" name="Shape 9"/>
          <p:cNvSpPr/>
          <p:nvPr/>
        </p:nvSpPr>
        <p:spPr>
          <a:xfrm>
            <a:off x="676800" y="3547800"/>
            <a:ext cx="310680" cy="310680"/>
          </a:xfrm>
          <a:prstGeom prst="ellipse">
            <a:avLst/>
          </a:prstGeom>
          <a:solidFill>
            <a:srgbClr val="2583b6"/>
          </a:solidFill>
          <a:ln w="12700">
            <a:solidFill>
              <a:srgbClr val="2583b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DejaVu Sans"/>
            </a:endParaRPr>
          </a:p>
        </p:txBody>
      </p:sp>
      <p:sp>
        <p:nvSpPr>
          <p:cNvPr id="19" name="Text 10"/>
          <p:cNvSpPr/>
          <p:nvPr/>
        </p:nvSpPr>
        <p:spPr>
          <a:xfrm>
            <a:off x="676800" y="3557160"/>
            <a:ext cx="3106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Microsoft YaHei"/>
                <a:ea typeface="Microsoft YaHei"/>
              </a:rPr>
              <a:t>A</a:t>
            </a:r>
            <a:endParaRPr b="0" lang="en-US" sz="1000" spc="-1" strike="noStrike">
              <a:solidFill>
                <a:srgbClr val="ffffff"/>
              </a:solidFill>
              <a:latin typeface="DejaVu Sans"/>
            </a:endParaRPr>
          </a:p>
        </p:txBody>
      </p:sp>
      <p:sp>
        <p:nvSpPr>
          <p:cNvPr id="20" name="Text 11"/>
          <p:cNvSpPr/>
          <p:nvPr/>
        </p:nvSpPr>
        <p:spPr>
          <a:xfrm>
            <a:off x="1060560" y="3529440"/>
            <a:ext cx="151740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1220" spc="-1" strike="noStrike">
                <a:solidFill>
                  <a:srgbClr val="ffffff"/>
                </a:solidFill>
                <a:latin typeface="Microsoft YaHei"/>
                <a:ea typeface="Microsoft YaHei"/>
              </a:rPr>
              <a:t>结构漏斗</a:t>
            </a:r>
            <a:endParaRPr b="0" lang="en-US" sz="1220" spc="-1" strike="noStrike">
              <a:solidFill>
                <a:srgbClr val="ffffff"/>
              </a:solidFill>
              <a:latin typeface="DejaVu Sans"/>
            </a:endParaRPr>
          </a:p>
        </p:txBody>
      </p:sp>
      <p:sp>
        <p:nvSpPr>
          <p:cNvPr id="21" name="Shape 12"/>
          <p:cNvSpPr/>
          <p:nvPr/>
        </p:nvSpPr>
        <p:spPr>
          <a:xfrm>
            <a:off x="2843640" y="2176200"/>
            <a:ext cx="2139480" cy="1965600"/>
          </a:xfrm>
          <a:prstGeom prst="roundRect">
            <a:avLst>
              <a:gd name="adj" fmla="val 3721"/>
            </a:avLst>
          </a:prstGeom>
          <a:solidFill>
            <a:srgbClr val="303844"/>
          </a:solidFill>
          <a:ln w="8890">
            <a:solidFill>
              <a:srgbClr val="5661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DejaVu Sans"/>
            </a:endParaRPr>
          </a:p>
        </p:txBody>
      </p:sp>
      <p:pic>
        <p:nvPicPr>
          <p:cNvPr id="22" name="Image 1" descr="TOC graphic option B: 图标示意"/>
          <p:cNvPicPr/>
          <p:nvPr/>
        </p:nvPicPr>
        <p:blipFill>
          <a:blip r:embed="rId2"/>
          <a:stretch/>
        </p:blipFill>
        <p:spPr>
          <a:xfrm>
            <a:off x="2917080" y="2277000"/>
            <a:ext cx="1992960" cy="1074240"/>
          </a:xfrm>
          <a:prstGeom prst="rect">
            <a:avLst/>
          </a:prstGeom>
          <a:ln w="0">
            <a:noFill/>
          </a:ln>
        </p:spPr>
      </p:pic>
      <p:sp>
        <p:nvSpPr>
          <p:cNvPr id="23" name="Shape 13"/>
          <p:cNvSpPr/>
          <p:nvPr/>
        </p:nvSpPr>
        <p:spPr>
          <a:xfrm>
            <a:off x="2953440" y="3547800"/>
            <a:ext cx="310680" cy="310680"/>
          </a:xfrm>
          <a:prstGeom prst="ellipse">
            <a:avLst/>
          </a:prstGeom>
          <a:solidFill>
            <a:srgbClr val="a87908"/>
          </a:solidFill>
          <a:ln w="12700">
            <a:solidFill>
              <a:srgbClr val="a8790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DejaVu Sans"/>
            </a:endParaRPr>
          </a:p>
        </p:txBody>
      </p:sp>
      <p:sp>
        <p:nvSpPr>
          <p:cNvPr id="24" name="Text 14"/>
          <p:cNvSpPr/>
          <p:nvPr/>
        </p:nvSpPr>
        <p:spPr>
          <a:xfrm>
            <a:off x="2953440" y="3557160"/>
            <a:ext cx="3106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Microsoft YaHei"/>
                <a:ea typeface="Microsoft YaHei"/>
              </a:rPr>
              <a:t>B</a:t>
            </a:r>
            <a:endParaRPr b="0" lang="en-US" sz="1000" spc="-1" strike="noStrike">
              <a:solidFill>
                <a:srgbClr val="ffffff"/>
              </a:solidFill>
              <a:latin typeface="DejaVu Sans"/>
            </a:endParaRPr>
          </a:p>
        </p:txBody>
      </p:sp>
      <p:sp>
        <p:nvSpPr>
          <p:cNvPr id="25" name="Text 15"/>
          <p:cNvSpPr/>
          <p:nvPr/>
        </p:nvSpPr>
        <p:spPr>
          <a:xfrm>
            <a:off x="3337560" y="3529440"/>
            <a:ext cx="151740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1220" spc="-1" strike="noStrike">
                <a:solidFill>
                  <a:srgbClr val="ffffff"/>
                </a:solidFill>
                <a:latin typeface="Microsoft YaHei"/>
                <a:ea typeface="Microsoft YaHei"/>
              </a:rPr>
              <a:t>图标示意</a:t>
            </a:r>
            <a:endParaRPr b="0" lang="en-US" sz="1220" spc="-1" strike="noStrike">
              <a:solidFill>
                <a:srgbClr val="ffffff"/>
              </a:solidFill>
              <a:latin typeface="DejaVu Sans"/>
            </a:endParaRPr>
          </a:p>
        </p:txBody>
      </p:sp>
      <p:sp>
        <p:nvSpPr>
          <p:cNvPr id="26" name="Shape 16"/>
          <p:cNvSpPr/>
          <p:nvPr/>
        </p:nvSpPr>
        <p:spPr>
          <a:xfrm>
            <a:off x="5120640" y="2176200"/>
            <a:ext cx="2139480" cy="1965600"/>
          </a:xfrm>
          <a:prstGeom prst="roundRect">
            <a:avLst>
              <a:gd name="adj" fmla="val 3721"/>
            </a:avLst>
          </a:prstGeom>
          <a:solidFill>
            <a:srgbClr val="303844"/>
          </a:solidFill>
          <a:ln w="8890">
            <a:solidFill>
              <a:srgbClr val="5661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DejaVu Sans"/>
            </a:endParaRPr>
          </a:p>
        </p:txBody>
      </p:sp>
      <p:pic>
        <p:nvPicPr>
          <p:cNvPr id="27" name="Image 2" descr="TOC graphic option C: 六酶网格"/>
          <p:cNvPicPr/>
          <p:nvPr/>
        </p:nvPicPr>
        <p:blipFill>
          <a:blip r:embed="rId3"/>
          <a:stretch/>
        </p:blipFill>
        <p:spPr>
          <a:xfrm>
            <a:off x="5193720" y="2277000"/>
            <a:ext cx="1992960" cy="1074240"/>
          </a:xfrm>
          <a:prstGeom prst="rect">
            <a:avLst/>
          </a:prstGeom>
          <a:ln w="0">
            <a:noFill/>
          </a:ln>
        </p:spPr>
      </p:pic>
      <p:sp>
        <p:nvSpPr>
          <p:cNvPr id="28" name="Shape 17"/>
          <p:cNvSpPr/>
          <p:nvPr/>
        </p:nvSpPr>
        <p:spPr>
          <a:xfrm>
            <a:off x="5230440" y="3547800"/>
            <a:ext cx="310680" cy="310680"/>
          </a:xfrm>
          <a:prstGeom prst="ellipse">
            <a:avLst/>
          </a:prstGeom>
          <a:solidFill>
            <a:srgbClr val="8064a2"/>
          </a:solidFill>
          <a:ln w="12700">
            <a:solidFill>
              <a:srgbClr val="8064a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DejaVu Sans"/>
            </a:endParaRPr>
          </a:p>
        </p:txBody>
      </p:sp>
      <p:sp>
        <p:nvSpPr>
          <p:cNvPr id="29" name="Text 18"/>
          <p:cNvSpPr/>
          <p:nvPr/>
        </p:nvSpPr>
        <p:spPr>
          <a:xfrm>
            <a:off x="5230440" y="3557160"/>
            <a:ext cx="3106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Microsoft YaHei"/>
                <a:ea typeface="Microsoft YaHei"/>
              </a:rPr>
              <a:t>C</a:t>
            </a:r>
            <a:endParaRPr b="0" lang="en-US" sz="1000" spc="-1" strike="noStrike">
              <a:solidFill>
                <a:srgbClr val="ffffff"/>
              </a:solidFill>
              <a:latin typeface="DejaVu Sans"/>
            </a:endParaRPr>
          </a:p>
        </p:txBody>
      </p:sp>
      <p:sp>
        <p:nvSpPr>
          <p:cNvPr id="30" name="Text 19"/>
          <p:cNvSpPr/>
          <p:nvPr/>
        </p:nvSpPr>
        <p:spPr>
          <a:xfrm>
            <a:off x="5614560" y="3529440"/>
            <a:ext cx="151740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1220" spc="-1" strike="noStrike">
                <a:solidFill>
                  <a:srgbClr val="ffffff"/>
                </a:solidFill>
                <a:latin typeface="Microsoft YaHei"/>
                <a:ea typeface="Microsoft YaHei"/>
              </a:rPr>
              <a:t>六酶网格</a:t>
            </a:r>
            <a:endParaRPr b="0" lang="en-US" sz="1220" spc="-1" strike="noStrike">
              <a:solidFill>
                <a:srgbClr val="ffffff"/>
              </a:solidFill>
              <a:latin typeface="DejaVu Sans"/>
            </a:endParaRPr>
          </a:p>
        </p:txBody>
      </p:sp>
      <p:sp>
        <p:nvSpPr>
          <p:cNvPr id="31" name="Shape 20"/>
          <p:cNvSpPr/>
          <p:nvPr/>
        </p:nvSpPr>
        <p:spPr>
          <a:xfrm>
            <a:off x="7397640" y="2176200"/>
            <a:ext cx="2139480" cy="1965600"/>
          </a:xfrm>
          <a:prstGeom prst="roundRect">
            <a:avLst>
              <a:gd name="adj" fmla="val 3721"/>
            </a:avLst>
          </a:prstGeom>
          <a:solidFill>
            <a:srgbClr val="303844"/>
          </a:solidFill>
          <a:ln w="8890">
            <a:solidFill>
              <a:srgbClr val="5661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DejaVu Sans"/>
            </a:endParaRPr>
          </a:p>
        </p:txBody>
      </p:sp>
      <p:pic>
        <p:nvPicPr>
          <p:cNvPr id="32" name="Image 3" descr="TOC graphic option D: 主视觉"/>
          <p:cNvPicPr/>
          <p:nvPr/>
        </p:nvPicPr>
        <p:blipFill>
          <a:blip r:embed="rId4"/>
          <a:stretch/>
        </p:blipFill>
        <p:spPr>
          <a:xfrm>
            <a:off x="7470720" y="2277000"/>
            <a:ext cx="1992960" cy="1074240"/>
          </a:xfrm>
          <a:prstGeom prst="rect">
            <a:avLst/>
          </a:prstGeom>
          <a:ln w="0">
            <a:noFill/>
          </a:ln>
        </p:spPr>
      </p:pic>
      <p:sp>
        <p:nvSpPr>
          <p:cNvPr id="33" name="Shape 21"/>
          <p:cNvSpPr/>
          <p:nvPr/>
        </p:nvSpPr>
        <p:spPr>
          <a:xfrm>
            <a:off x="7507080" y="3547800"/>
            <a:ext cx="310680" cy="310680"/>
          </a:xfrm>
          <a:prstGeom prst="ellipse">
            <a:avLst/>
          </a:prstGeom>
          <a:solidFill>
            <a:srgbClr val="d66a1f"/>
          </a:solidFill>
          <a:ln w="12700">
            <a:solidFill>
              <a:srgbClr val="d66a1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DejaVu Sans"/>
            </a:endParaRPr>
          </a:p>
        </p:txBody>
      </p:sp>
      <p:sp>
        <p:nvSpPr>
          <p:cNvPr id="34" name="Text 22"/>
          <p:cNvSpPr/>
          <p:nvPr/>
        </p:nvSpPr>
        <p:spPr>
          <a:xfrm>
            <a:off x="7507080" y="3557160"/>
            <a:ext cx="3106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Microsoft YaHei"/>
                <a:ea typeface="Microsoft YaHei"/>
              </a:rPr>
              <a:t>D</a:t>
            </a:r>
            <a:endParaRPr b="0" lang="en-US" sz="1000" spc="-1" strike="noStrike">
              <a:solidFill>
                <a:srgbClr val="ffffff"/>
              </a:solidFill>
              <a:latin typeface="DejaVu Sans"/>
            </a:endParaRPr>
          </a:p>
        </p:txBody>
      </p:sp>
      <p:sp>
        <p:nvSpPr>
          <p:cNvPr id="35" name="Text 23"/>
          <p:cNvSpPr/>
          <p:nvPr/>
        </p:nvSpPr>
        <p:spPr>
          <a:xfrm>
            <a:off x="7891200" y="3529440"/>
            <a:ext cx="151740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1220" spc="-1" strike="noStrike">
                <a:solidFill>
                  <a:srgbClr val="ffffff"/>
                </a:solidFill>
                <a:latin typeface="Microsoft YaHei"/>
                <a:ea typeface="Microsoft YaHei"/>
              </a:rPr>
              <a:t>主视觉</a:t>
            </a:r>
            <a:endParaRPr b="0" lang="en-US" sz="1220" spc="-1" strike="noStrike">
              <a:solidFill>
                <a:srgbClr val="ffffff"/>
              </a:solidFill>
              <a:latin typeface="DejaVu Sans"/>
            </a:endParaRPr>
          </a:p>
        </p:txBody>
      </p:sp>
      <p:sp>
        <p:nvSpPr>
          <p:cNvPr id="36" name="Shape 24"/>
          <p:cNvSpPr/>
          <p:nvPr/>
        </p:nvSpPr>
        <p:spPr>
          <a:xfrm>
            <a:off x="9674280" y="2176200"/>
            <a:ext cx="2139480" cy="1965600"/>
          </a:xfrm>
          <a:prstGeom prst="roundRect">
            <a:avLst>
              <a:gd name="adj" fmla="val 3721"/>
            </a:avLst>
          </a:prstGeom>
          <a:solidFill>
            <a:srgbClr val="303844"/>
          </a:solidFill>
          <a:ln w="8890">
            <a:solidFill>
              <a:srgbClr val="5661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DejaVu Sans"/>
            </a:endParaRPr>
          </a:p>
        </p:txBody>
      </p:sp>
      <p:pic>
        <p:nvPicPr>
          <p:cNvPr id="37" name="Image 4" descr="TOC graphic option E: 群体指纹"/>
          <p:cNvPicPr/>
          <p:nvPr/>
        </p:nvPicPr>
        <p:blipFill>
          <a:blip r:embed="rId5"/>
          <a:stretch/>
        </p:blipFill>
        <p:spPr>
          <a:xfrm>
            <a:off x="9747360" y="2277000"/>
            <a:ext cx="1992960" cy="1074240"/>
          </a:xfrm>
          <a:prstGeom prst="rect">
            <a:avLst/>
          </a:prstGeom>
          <a:ln w="0">
            <a:noFill/>
          </a:ln>
        </p:spPr>
      </p:pic>
      <p:sp>
        <p:nvSpPr>
          <p:cNvPr id="38" name="Shape 25"/>
          <p:cNvSpPr/>
          <p:nvPr/>
        </p:nvSpPr>
        <p:spPr>
          <a:xfrm>
            <a:off x="9784080" y="3547800"/>
            <a:ext cx="310680" cy="310680"/>
          </a:xfrm>
          <a:prstGeom prst="ellipse">
            <a:avLst/>
          </a:prstGeom>
          <a:solidFill>
            <a:srgbClr val="2f8b62"/>
          </a:solidFill>
          <a:ln w="12700">
            <a:solidFill>
              <a:srgbClr val="2f8b6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DejaVu Sans"/>
            </a:endParaRPr>
          </a:p>
        </p:txBody>
      </p:sp>
      <p:sp>
        <p:nvSpPr>
          <p:cNvPr id="39" name="Text 26"/>
          <p:cNvSpPr/>
          <p:nvPr/>
        </p:nvSpPr>
        <p:spPr>
          <a:xfrm>
            <a:off x="9784080" y="3557160"/>
            <a:ext cx="3106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Microsoft YaHei"/>
                <a:ea typeface="Microsoft YaHei"/>
              </a:rPr>
              <a:t>E</a:t>
            </a:r>
            <a:endParaRPr b="0" lang="en-US" sz="1000" spc="-1" strike="noStrike">
              <a:solidFill>
                <a:srgbClr val="ffffff"/>
              </a:solidFill>
              <a:latin typeface="DejaVu Sans"/>
            </a:endParaRPr>
          </a:p>
        </p:txBody>
      </p:sp>
      <p:sp>
        <p:nvSpPr>
          <p:cNvPr id="40" name="Text 27"/>
          <p:cNvSpPr/>
          <p:nvPr/>
        </p:nvSpPr>
        <p:spPr>
          <a:xfrm>
            <a:off x="10168200" y="3529440"/>
            <a:ext cx="151740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1220" spc="-1" strike="noStrike">
                <a:solidFill>
                  <a:srgbClr val="ffffff"/>
                </a:solidFill>
                <a:latin typeface="Microsoft YaHei"/>
                <a:ea typeface="Microsoft YaHei"/>
              </a:rPr>
              <a:t>群体指纹</a:t>
            </a:r>
            <a:endParaRPr b="0" lang="en-US" sz="1220" spc="-1" strike="noStrike">
              <a:solidFill>
                <a:srgbClr val="ffffff"/>
              </a:solidFill>
              <a:latin typeface="DejaVu Sans"/>
            </a:endParaRPr>
          </a:p>
        </p:txBody>
      </p:sp>
      <p:sp>
        <p:nvSpPr>
          <p:cNvPr id="41" name="Shape 28"/>
          <p:cNvSpPr/>
          <p:nvPr/>
        </p:nvSpPr>
        <p:spPr>
          <a:xfrm>
            <a:off x="567000" y="4700160"/>
            <a:ext cx="11018160" cy="1005480"/>
          </a:xfrm>
          <a:prstGeom prst="roundRect">
            <a:avLst>
              <a:gd name="adj" fmla="val 9091"/>
            </a:avLst>
          </a:prstGeom>
          <a:solidFill>
            <a:srgbClr val="2b333e"/>
          </a:solidFill>
          <a:ln w="8890">
            <a:solidFill>
              <a:srgbClr val="47526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DejaVu Sans"/>
            </a:endParaRPr>
          </a:p>
        </p:txBody>
      </p:sp>
      <p:sp>
        <p:nvSpPr>
          <p:cNvPr id="42" name="Text 29"/>
          <p:cNvSpPr/>
          <p:nvPr/>
        </p:nvSpPr>
        <p:spPr>
          <a:xfrm>
            <a:off x="841320" y="4910400"/>
            <a:ext cx="10238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1250" spc="-1" strike="noStrike">
                <a:solidFill>
                  <a:srgbClr val="aeb8c2"/>
                </a:solidFill>
                <a:latin typeface="Microsoft YaHei"/>
                <a:ea typeface="Microsoft YaHei"/>
              </a:rPr>
              <a:t>核心命题</a:t>
            </a:r>
            <a:endParaRPr b="0" lang="en-US" sz="1250" spc="-1" strike="noStrike">
              <a:solidFill>
                <a:srgbClr val="ffffff"/>
              </a:solidFill>
              <a:latin typeface="DejaVu Sans"/>
            </a:endParaRPr>
          </a:p>
        </p:txBody>
      </p:sp>
      <p:sp>
        <p:nvSpPr>
          <p:cNvPr id="43" name="Text 30"/>
          <p:cNvSpPr/>
          <p:nvPr/>
        </p:nvSpPr>
        <p:spPr>
          <a:xfrm>
            <a:off x="1938600" y="4809600"/>
            <a:ext cx="9097920" cy="42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96666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50" spc="-1" strike="noStrike">
                <a:solidFill>
                  <a:srgbClr val="ffffff"/>
                </a:solidFill>
                <a:latin typeface="Microsoft YaHei"/>
                <a:ea typeface="Microsoft YaHei"/>
              </a:rPr>
              <a:t>PET chain length remodels retained interfaces differently</a:t>
            </a:r>
            <a:endParaRPr b="0" lang="en-US" sz="2250" spc="-1" strike="noStrike">
              <a:solidFill>
                <a:srgbClr val="ffffff"/>
              </a:solidFill>
              <a:latin typeface="DejaVu Sans"/>
            </a:endParaRPr>
          </a:p>
        </p:txBody>
      </p:sp>
      <p:sp>
        <p:nvSpPr>
          <p:cNvPr id="44" name="Text 31"/>
          <p:cNvSpPr/>
          <p:nvPr/>
        </p:nvSpPr>
        <p:spPr>
          <a:xfrm>
            <a:off x="1947600" y="5266800"/>
            <a:ext cx="89607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zh-CN" sz="1240" spc="-1" strike="noStrike">
                <a:solidFill>
                  <a:srgbClr val="c6d0d8"/>
                </a:solidFill>
                <a:latin typeface="Microsoft YaHei"/>
                <a:ea typeface="Microsoft YaHei"/>
              </a:rPr>
              <a:t>不是“更强结合”，而是“不同酶以不同方式重排其保留界面”。</a:t>
            </a:r>
            <a:endParaRPr b="0" lang="en-US" sz="1240" spc="-1" strike="noStrike">
              <a:solidFill>
                <a:srgbClr val="ffffff"/>
              </a:solidFill>
              <a:latin typeface="DejaVu Sans"/>
            </a:endParaRPr>
          </a:p>
        </p:txBody>
      </p:sp>
      <p:sp>
        <p:nvSpPr>
          <p:cNvPr id="45" name="Text 32"/>
          <p:cNvSpPr/>
          <p:nvPr/>
        </p:nvSpPr>
        <p:spPr>
          <a:xfrm>
            <a:off x="502920" y="6528960"/>
            <a:ext cx="493740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80" spc="-1" strike="noStrike">
                <a:solidFill>
                  <a:srgbClr val="aeb8c2"/>
                </a:solidFill>
                <a:latin typeface="Microsoft YaHei"/>
                <a:ea typeface="Microsoft YaHei"/>
              </a:rPr>
              <a:t>PETase manuscript · TOC graphic review</a:t>
            </a:r>
            <a:endParaRPr b="0" lang="en-US" sz="880" spc="-1" strike="noStrike">
              <a:solidFill>
                <a:srgbClr val="ffffff"/>
              </a:solidFill>
              <a:latin typeface="DejaVu Sans"/>
            </a:endParaRPr>
          </a:p>
        </p:txBody>
      </p:sp>
      <p:sp>
        <p:nvSpPr>
          <p:cNvPr id="46" name="Text 33"/>
          <p:cNvSpPr/>
          <p:nvPr/>
        </p:nvSpPr>
        <p:spPr>
          <a:xfrm>
            <a:off x="11247120" y="6501240"/>
            <a:ext cx="4384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20" spc="-1" strike="noStrike">
                <a:solidFill>
                  <a:srgbClr val="aeb8c2"/>
                </a:solidFill>
                <a:latin typeface="Microsoft YaHei"/>
                <a:ea typeface="Microsoft YaHei"/>
              </a:rPr>
              <a:t>01</a:t>
            </a:r>
            <a:endParaRPr b="0" lang="en-US" sz="920" spc="-1" strike="noStrike">
              <a:solidFill>
                <a:srgbClr val="ffffff"/>
              </a:solidFill>
              <a:latin typeface="DejaVu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ext 0"/>
          <p:cNvSpPr/>
          <p:nvPr/>
        </p:nvSpPr>
        <p:spPr>
          <a:xfrm>
            <a:off x="530280" y="219600"/>
            <a:ext cx="713196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pc="128" strike="noStrike">
                <a:solidFill>
                  <a:srgbClr val="657180"/>
                </a:solidFill>
                <a:latin typeface="Microsoft YaHei"/>
                <a:ea typeface="Microsoft YaHei"/>
              </a:rPr>
              <a:t>DESIGN CONTRACT</a:t>
            </a:r>
            <a:endParaRPr b="0" lang="en-US" sz="95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48" name="Text 1"/>
          <p:cNvSpPr/>
          <p:nvPr/>
        </p:nvSpPr>
        <p:spPr>
          <a:xfrm>
            <a:off x="530280" y="484560"/>
            <a:ext cx="1051524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2850" spc="-1" strike="noStrike">
                <a:solidFill>
                  <a:srgbClr val="252a34"/>
                </a:solidFill>
                <a:latin typeface="Microsoft YaHei"/>
                <a:ea typeface="Microsoft YaHei"/>
              </a:rPr>
              <a:t>先定科学任务，再谈画面</a:t>
            </a:r>
            <a:endParaRPr b="0" lang="en-US" sz="285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49" name="Shape 2"/>
          <p:cNvSpPr/>
          <p:nvPr/>
        </p:nvSpPr>
        <p:spPr>
          <a:xfrm>
            <a:off x="10716840" y="283320"/>
            <a:ext cx="493560" cy="228240"/>
          </a:xfrm>
          <a:prstGeom prst="roundRect">
            <a:avLst>
              <a:gd name="adj" fmla="val 20000"/>
            </a:avLst>
          </a:prstGeom>
          <a:solidFill>
            <a:srgbClr val="2583b6"/>
          </a:solidFill>
          <a:ln w="12700">
            <a:solidFill>
              <a:srgbClr val="2583b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DejaVu Sans"/>
            </a:endParaRPr>
          </a:p>
        </p:txBody>
      </p:sp>
      <p:sp>
        <p:nvSpPr>
          <p:cNvPr id="50" name="Text 3"/>
          <p:cNvSpPr/>
          <p:nvPr/>
        </p:nvSpPr>
        <p:spPr>
          <a:xfrm>
            <a:off x="10716840" y="292680"/>
            <a:ext cx="49356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-1" strike="noStrike">
                <a:solidFill>
                  <a:srgbClr val="ffffff"/>
                </a:solidFill>
                <a:latin typeface="Microsoft YaHei"/>
                <a:ea typeface="Microsoft YaHei"/>
              </a:rPr>
              <a:t>L10</a:t>
            </a:r>
            <a:endParaRPr b="0" lang="en-US" sz="85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51" name="Shape 4"/>
          <p:cNvSpPr/>
          <p:nvPr/>
        </p:nvSpPr>
        <p:spPr>
          <a:xfrm>
            <a:off x="11256120" y="283320"/>
            <a:ext cx="493560" cy="228240"/>
          </a:xfrm>
          <a:prstGeom prst="roundRect">
            <a:avLst>
              <a:gd name="adj" fmla="val 20000"/>
            </a:avLst>
          </a:prstGeom>
          <a:solidFill>
            <a:srgbClr val="d66a1f"/>
          </a:solidFill>
          <a:ln w="12700">
            <a:solidFill>
              <a:srgbClr val="d66a1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DejaVu Sans"/>
            </a:endParaRPr>
          </a:p>
        </p:txBody>
      </p:sp>
      <p:sp>
        <p:nvSpPr>
          <p:cNvPr id="52" name="Text 5"/>
          <p:cNvSpPr/>
          <p:nvPr/>
        </p:nvSpPr>
        <p:spPr>
          <a:xfrm>
            <a:off x="11256120" y="292680"/>
            <a:ext cx="49356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-1" strike="noStrike">
                <a:solidFill>
                  <a:srgbClr val="ffffff"/>
                </a:solidFill>
                <a:latin typeface="Microsoft YaHei"/>
                <a:ea typeface="Microsoft YaHei"/>
              </a:rPr>
              <a:t>L20</a:t>
            </a:r>
            <a:endParaRPr b="0" lang="en-US" sz="85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53" name="Shape 6"/>
          <p:cNvSpPr/>
          <p:nvPr/>
        </p:nvSpPr>
        <p:spPr>
          <a:xfrm>
            <a:off x="11192040" y="397440"/>
            <a:ext cx="73080" cy="360"/>
          </a:xfrm>
          <a:prstGeom prst="line">
            <a:avLst/>
          </a:prstGeom>
          <a:ln w="15240">
            <a:solidFill>
              <a:srgbClr val="d7dee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54" name="Text 7"/>
          <p:cNvSpPr/>
          <p:nvPr/>
        </p:nvSpPr>
        <p:spPr>
          <a:xfrm>
            <a:off x="502920" y="6528960"/>
            <a:ext cx="493740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80" spc="-1" strike="noStrike">
                <a:solidFill>
                  <a:srgbClr val="8a96a3"/>
                </a:solidFill>
                <a:latin typeface="Microsoft YaHei"/>
                <a:ea typeface="Microsoft YaHei"/>
              </a:rPr>
              <a:t>PETase manuscript · TOC graphic review</a:t>
            </a:r>
            <a:endParaRPr b="0" lang="en-US" sz="88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55" name="Text 8"/>
          <p:cNvSpPr/>
          <p:nvPr/>
        </p:nvSpPr>
        <p:spPr>
          <a:xfrm>
            <a:off x="11247120" y="6501240"/>
            <a:ext cx="4384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20" spc="-1" strike="noStrike">
                <a:solidFill>
                  <a:srgbClr val="8a96a3"/>
                </a:solidFill>
                <a:latin typeface="Microsoft YaHei"/>
                <a:ea typeface="Microsoft YaHei"/>
              </a:rPr>
              <a:t>02</a:t>
            </a:r>
            <a:endParaRPr b="0" lang="en-US" sz="92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56" name="Shape 9"/>
          <p:cNvSpPr/>
          <p:nvPr/>
        </p:nvSpPr>
        <p:spPr>
          <a:xfrm>
            <a:off x="567000" y="1225440"/>
            <a:ext cx="2541600" cy="1124280"/>
          </a:xfrm>
          <a:prstGeom prst="roundRect">
            <a:avLst>
              <a:gd name="adj" fmla="val 6504"/>
            </a:avLst>
          </a:prstGeom>
          <a:solidFill>
            <a:srgbClr val="ffffff"/>
          </a:solidFill>
          <a:ln w="10160">
            <a:solidFill>
              <a:srgbClr val="d8dee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57" name="Text 10"/>
          <p:cNvSpPr/>
          <p:nvPr/>
        </p:nvSpPr>
        <p:spPr>
          <a:xfrm>
            <a:off x="731520" y="1362600"/>
            <a:ext cx="86832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900" spc="-1" strike="noStrike">
                <a:solidFill>
                  <a:srgbClr val="252a34"/>
                </a:solidFill>
                <a:latin typeface="Microsoft YaHei"/>
                <a:ea typeface="Microsoft YaHei"/>
              </a:rPr>
              <a:t>126</a:t>
            </a:r>
            <a:endParaRPr b="0" lang="en-US" sz="29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58" name="Text 11"/>
          <p:cNvSpPr/>
          <p:nvPr/>
        </p:nvSpPr>
        <p:spPr>
          <a:xfrm>
            <a:off x="1563480" y="1398960"/>
            <a:ext cx="135288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30" spc="-1" strike="noStrike">
                <a:solidFill>
                  <a:srgbClr val="252a34"/>
                </a:solidFill>
                <a:latin typeface="Microsoft YaHei"/>
                <a:ea typeface="Microsoft YaHei"/>
              </a:rPr>
              <a:t>independent 100-ns MD</a:t>
            </a:r>
            <a:endParaRPr b="0" lang="en-US" sz="123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59" name="Text 12"/>
          <p:cNvSpPr/>
          <p:nvPr/>
        </p:nvSpPr>
        <p:spPr>
          <a:xfrm>
            <a:off x="740520" y="1929240"/>
            <a:ext cx="2057040" cy="19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zh-CN" sz="980" spc="-1" strike="noStrike">
                <a:solidFill>
                  <a:srgbClr val="657180"/>
                </a:solidFill>
                <a:latin typeface="Microsoft YaHei"/>
                <a:ea typeface="Microsoft YaHei"/>
              </a:rPr>
              <a:t>研究规模</a:t>
            </a:r>
            <a:endParaRPr b="0" lang="en-US" sz="98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60" name="Shape 13"/>
          <p:cNvSpPr/>
          <p:nvPr/>
        </p:nvSpPr>
        <p:spPr>
          <a:xfrm>
            <a:off x="3355920" y="1225440"/>
            <a:ext cx="2541600" cy="1124280"/>
          </a:xfrm>
          <a:prstGeom prst="roundRect">
            <a:avLst>
              <a:gd name="adj" fmla="val 6504"/>
            </a:avLst>
          </a:prstGeom>
          <a:solidFill>
            <a:srgbClr val="eaf4f9"/>
          </a:solidFill>
          <a:ln w="10160">
            <a:solidFill>
              <a:srgbClr val="2583b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61" name="Text 14"/>
          <p:cNvSpPr/>
          <p:nvPr/>
        </p:nvSpPr>
        <p:spPr>
          <a:xfrm>
            <a:off x="3520440" y="1362600"/>
            <a:ext cx="86832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900" spc="-1" strike="noStrike">
                <a:solidFill>
                  <a:srgbClr val="2583b6"/>
                </a:solidFill>
                <a:latin typeface="Microsoft YaHei"/>
                <a:ea typeface="Microsoft YaHei"/>
              </a:rPr>
              <a:t>6</a:t>
            </a:r>
            <a:endParaRPr b="0" lang="en-US" sz="29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62" name="Text 15"/>
          <p:cNvSpPr/>
          <p:nvPr/>
        </p:nvSpPr>
        <p:spPr>
          <a:xfrm>
            <a:off x="4352400" y="1398960"/>
            <a:ext cx="135288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30" spc="-1" strike="noStrike">
                <a:solidFill>
                  <a:srgbClr val="252a34"/>
                </a:solidFill>
                <a:latin typeface="Microsoft YaHei"/>
                <a:ea typeface="Microsoft YaHei"/>
              </a:rPr>
              <a:t>natural PET hydrolases</a:t>
            </a:r>
            <a:endParaRPr b="0" lang="en-US" sz="123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63" name="Text 16"/>
          <p:cNvSpPr/>
          <p:nvPr/>
        </p:nvSpPr>
        <p:spPr>
          <a:xfrm>
            <a:off x="3529440" y="1929240"/>
            <a:ext cx="2057040" cy="19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zh-CN" sz="980" spc="-1" strike="noStrike">
                <a:solidFill>
                  <a:srgbClr val="657180"/>
                </a:solidFill>
                <a:latin typeface="Microsoft YaHei"/>
                <a:ea typeface="Microsoft YaHei"/>
              </a:rPr>
              <a:t>比较范围</a:t>
            </a:r>
            <a:endParaRPr b="0" lang="en-US" sz="98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64" name="Shape 17"/>
          <p:cNvSpPr/>
          <p:nvPr/>
        </p:nvSpPr>
        <p:spPr>
          <a:xfrm>
            <a:off x="6144840" y="1225440"/>
            <a:ext cx="2541600" cy="1124280"/>
          </a:xfrm>
          <a:prstGeom prst="roundRect">
            <a:avLst>
              <a:gd name="adj" fmla="val 6504"/>
            </a:avLst>
          </a:prstGeom>
          <a:solidFill>
            <a:srgbClr val="fbefe7"/>
          </a:solidFill>
          <a:ln w="10160">
            <a:solidFill>
              <a:srgbClr val="d66a1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65" name="Text 18"/>
          <p:cNvSpPr/>
          <p:nvPr/>
        </p:nvSpPr>
        <p:spPr>
          <a:xfrm>
            <a:off x="6309360" y="1362600"/>
            <a:ext cx="86832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900" spc="-1" strike="noStrike">
                <a:solidFill>
                  <a:srgbClr val="d66a1f"/>
                </a:solidFill>
                <a:latin typeface="Microsoft YaHei"/>
                <a:ea typeface="Microsoft YaHei"/>
              </a:rPr>
              <a:t>71</a:t>
            </a:r>
            <a:endParaRPr b="0" lang="en-US" sz="29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66" name="Text 19"/>
          <p:cNvSpPr/>
          <p:nvPr/>
        </p:nvSpPr>
        <p:spPr>
          <a:xfrm>
            <a:off x="7141320" y="1398960"/>
            <a:ext cx="135288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30" spc="-1" strike="noStrike">
                <a:solidFill>
                  <a:srgbClr val="252a34"/>
                </a:solidFill>
                <a:latin typeface="Microsoft YaHei"/>
                <a:ea typeface="Microsoft YaHei"/>
              </a:rPr>
              <a:t>retained trajectories</a:t>
            </a:r>
            <a:endParaRPr b="0" lang="en-US" sz="123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67" name="Text 20"/>
          <p:cNvSpPr/>
          <p:nvPr/>
        </p:nvSpPr>
        <p:spPr>
          <a:xfrm>
            <a:off x="6318360" y="1929240"/>
            <a:ext cx="2057040" cy="19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zh-CN" sz="980" spc="-1" strike="noStrike">
                <a:solidFill>
                  <a:srgbClr val="657180"/>
                </a:solidFill>
                <a:latin typeface="Microsoft YaHei"/>
                <a:ea typeface="Microsoft YaHei"/>
              </a:rPr>
              <a:t>分析入口</a:t>
            </a:r>
            <a:endParaRPr b="0" lang="en-US" sz="98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68" name="Shape 21"/>
          <p:cNvSpPr/>
          <p:nvPr/>
        </p:nvSpPr>
        <p:spPr>
          <a:xfrm>
            <a:off x="8933760" y="1225440"/>
            <a:ext cx="2541600" cy="1124280"/>
          </a:xfrm>
          <a:prstGeom prst="roundRect">
            <a:avLst>
              <a:gd name="adj" fmla="val 6504"/>
            </a:avLst>
          </a:prstGeom>
          <a:solidFill>
            <a:srgbClr val="e9f5ef"/>
          </a:solidFill>
          <a:ln w="10160">
            <a:solidFill>
              <a:srgbClr val="2f8b6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69" name="Text 22"/>
          <p:cNvSpPr/>
          <p:nvPr/>
        </p:nvSpPr>
        <p:spPr>
          <a:xfrm>
            <a:off x="9098280" y="1362600"/>
            <a:ext cx="86832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900" spc="-1" strike="noStrike">
                <a:solidFill>
                  <a:srgbClr val="2f8b62"/>
                </a:solidFill>
                <a:latin typeface="Microsoft YaHei"/>
                <a:ea typeface="Microsoft YaHei"/>
              </a:rPr>
              <a:t>8</a:t>
            </a:r>
            <a:endParaRPr b="0" lang="en-US" sz="29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70" name="Text 23"/>
          <p:cNvSpPr/>
          <p:nvPr/>
        </p:nvSpPr>
        <p:spPr>
          <a:xfrm>
            <a:off x="9930240" y="1398960"/>
            <a:ext cx="135288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30" spc="-1" strike="noStrike">
                <a:solidFill>
                  <a:srgbClr val="252a34"/>
                </a:solidFill>
                <a:latin typeface="Microsoft YaHei"/>
                <a:ea typeface="Microsoft YaHei"/>
              </a:rPr>
              <a:t>supported contact gains</a:t>
            </a:r>
            <a:endParaRPr b="0" lang="en-US" sz="123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71" name="Text 24"/>
          <p:cNvSpPr/>
          <p:nvPr/>
        </p:nvSpPr>
        <p:spPr>
          <a:xfrm>
            <a:off x="9107280" y="1929240"/>
            <a:ext cx="2057040" cy="19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zh-CN" sz="980" spc="-1" strike="noStrike">
                <a:solidFill>
                  <a:srgbClr val="657180"/>
                </a:solidFill>
                <a:latin typeface="Microsoft YaHei"/>
                <a:ea typeface="Microsoft YaHei"/>
              </a:rPr>
              <a:t>位点落点</a:t>
            </a:r>
            <a:endParaRPr b="0" lang="en-US" sz="98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72" name="Text 25"/>
          <p:cNvSpPr/>
          <p:nvPr/>
        </p:nvSpPr>
        <p:spPr>
          <a:xfrm>
            <a:off x="585360" y="2651760"/>
            <a:ext cx="274284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1800" spc="-1" strike="noStrike">
                <a:solidFill>
                  <a:srgbClr val="252a34"/>
                </a:solidFill>
                <a:latin typeface="Microsoft YaHei"/>
                <a:ea typeface="Microsoft YaHei"/>
              </a:rPr>
              <a:t>理想的</a:t>
            </a:r>
            <a:r>
              <a:rPr b="1" lang="en-US" sz="1800" spc="-1" strike="noStrike">
                <a:solidFill>
                  <a:srgbClr val="252a34"/>
                </a:solidFill>
                <a:latin typeface="Microsoft YaHei"/>
                <a:ea typeface="Microsoft YaHei"/>
              </a:rPr>
              <a:t>3</a:t>
            </a:r>
            <a:r>
              <a:rPr b="1" lang="zh-CN" sz="1800" spc="-1" strike="noStrike">
                <a:solidFill>
                  <a:srgbClr val="252a34"/>
                </a:solidFill>
                <a:latin typeface="Microsoft YaHei"/>
                <a:ea typeface="Microsoft YaHei"/>
              </a:rPr>
              <a:t>秒阅读路径</a:t>
            </a:r>
            <a:endParaRPr b="0" lang="en-US" sz="18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73" name="Shape 26"/>
          <p:cNvSpPr/>
          <p:nvPr/>
        </p:nvSpPr>
        <p:spPr>
          <a:xfrm>
            <a:off x="585360" y="3127320"/>
            <a:ext cx="2422800" cy="1124280"/>
          </a:xfrm>
          <a:prstGeom prst="roundRect">
            <a:avLst>
              <a:gd name="adj" fmla="val 6504"/>
            </a:avLst>
          </a:prstGeom>
          <a:solidFill>
            <a:srgbClr val="ffffff"/>
          </a:solidFill>
          <a:ln w="12700">
            <a:solidFill>
              <a:srgbClr val="65718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74" name="Shape 27"/>
          <p:cNvSpPr/>
          <p:nvPr/>
        </p:nvSpPr>
        <p:spPr>
          <a:xfrm>
            <a:off x="749880" y="3310200"/>
            <a:ext cx="328680" cy="328680"/>
          </a:xfrm>
          <a:prstGeom prst="ellipse">
            <a:avLst/>
          </a:prstGeom>
          <a:solidFill>
            <a:srgbClr val="657180"/>
          </a:solidFill>
          <a:ln w="12700">
            <a:solidFill>
              <a:srgbClr val="65718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DejaVu Sans"/>
            </a:endParaRPr>
          </a:p>
        </p:txBody>
      </p:sp>
      <p:sp>
        <p:nvSpPr>
          <p:cNvPr id="75" name="Text 28"/>
          <p:cNvSpPr/>
          <p:nvPr/>
        </p:nvSpPr>
        <p:spPr>
          <a:xfrm>
            <a:off x="749880" y="3319200"/>
            <a:ext cx="328680" cy="26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  <a:endParaRPr b="0" lang="en-US" sz="10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76" name="Text 29"/>
          <p:cNvSpPr/>
          <p:nvPr/>
        </p:nvSpPr>
        <p:spPr>
          <a:xfrm>
            <a:off x="1197720" y="3227760"/>
            <a:ext cx="15724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20" spc="-1" strike="noStrike">
                <a:solidFill>
                  <a:srgbClr val="657180"/>
                </a:solidFill>
                <a:latin typeface="Microsoft YaHei"/>
                <a:ea typeface="Microsoft YaHei"/>
              </a:rPr>
              <a:t>Retention</a:t>
            </a:r>
            <a:endParaRPr b="0" lang="en-US" sz="152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77" name="Text 30"/>
          <p:cNvSpPr/>
          <p:nvPr/>
        </p:nvSpPr>
        <p:spPr>
          <a:xfrm>
            <a:off x="1197720" y="3611880"/>
            <a:ext cx="15724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zh-CN" sz="1160" spc="-1" strike="noStrike">
                <a:solidFill>
                  <a:srgbClr val="252a34"/>
                </a:solidFill>
                <a:latin typeface="Microsoft YaHei"/>
                <a:ea typeface="Microsoft YaHei"/>
              </a:rPr>
              <a:t>只是筛选条件</a:t>
            </a:r>
            <a:endParaRPr b="0" lang="en-US" sz="116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78" name="Shape 31"/>
          <p:cNvSpPr/>
          <p:nvPr/>
        </p:nvSpPr>
        <p:spPr>
          <a:xfrm>
            <a:off x="3090600" y="3502080"/>
            <a:ext cx="209880" cy="310680"/>
          </a:xfrm>
          <a:prstGeom prst="chevron">
            <a:avLst>
              <a:gd name="adj" fmla="val 50000"/>
            </a:avLst>
          </a:prstGeom>
          <a:solidFill>
            <a:srgbClr val="b9c2ca"/>
          </a:solidFill>
          <a:ln w="12700">
            <a:solidFill>
              <a:srgbClr val="b9c2c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79" name="Shape 32"/>
          <p:cNvSpPr/>
          <p:nvPr/>
        </p:nvSpPr>
        <p:spPr>
          <a:xfrm>
            <a:off x="3401640" y="3127320"/>
            <a:ext cx="2422800" cy="1124280"/>
          </a:xfrm>
          <a:prstGeom prst="roundRect">
            <a:avLst>
              <a:gd name="adj" fmla="val 6504"/>
            </a:avLst>
          </a:prstGeom>
          <a:solidFill>
            <a:srgbClr val="ffffff"/>
          </a:solidFill>
          <a:ln w="12700">
            <a:solidFill>
              <a:srgbClr val="2583b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80" name="Shape 33"/>
          <p:cNvSpPr/>
          <p:nvPr/>
        </p:nvSpPr>
        <p:spPr>
          <a:xfrm>
            <a:off x="3566160" y="3310200"/>
            <a:ext cx="328680" cy="328680"/>
          </a:xfrm>
          <a:prstGeom prst="ellipse">
            <a:avLst/>
          </a:prstGeom>
          <a:solidFill>
            <a:srgbClr val="2583b6"/>
          </a:solidFill>
          <a:ln w="12700">
            <a:solidFill>
              <a:srgbClr val="2583b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DejaVu Sans"/>
            </a:endParaRPr>
          </a:p>
        </p:txBody>
      </p:sp>
      <p:sp>
        <p:nvSpPr>
          <p:cNvPr id="81" name="Text 34"/>
          <p:cNvSpPr/>
          <p:nvPr/>
        </p:nvSpPr>
        <p:spPr>
          <a:xfrm>
            <a:off x="3566160" y="3319200"/>
            <a:ext cx="328680" cy="26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  <a:endParaRPr b="0" lang="en-US" sz="10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82" name="Text 35"/>
          <p:cNvSpPr/>
          <p:nvPr/>
        </p:nvSpPr>
        <p:spPr>
          <a:xfrm>
            <a:off x="4014360" y="3227760"/>
            <a:ext cx="15724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75000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20" spc="-1" strike="noStrike">
                <a:solidFill>
                  <a:srgbClr val="2583b6"/>
                </a:solidFill>
                <a:latin typeface="Microsoft YaHei"/>
                <a:ea typeface="Microsoft YaHei"/>
              </a:rPr>
              <a:t>Interface fingerprint</a:t>
            </a:r>
            <a:endParaRPr b="0" lang="en-US" sz="152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83" name="Text 36"/>
          <p:cNvSpPr/>
          <p:nvPr/>
        </p:nvSpPr>
        <p:spPr>
          <a:xfrm>
            <a:off x="4014360" y="3611880"/>
            <a:ext cx="15724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zh-CN" sz="1160" spc="-1" strike="noStrike">
                <a:solidFill>
                  <a:srgbClr val="252a34"/>
                </a:solidFill>
                <a:latin typeface="Microsoft YaHei"/>
                <a:ea typeface="Microsoft YaHei"/>
              </a:rPr>
              <a:t>六酶界面不同</a:t>
            </a:r>
            <a:endParaRPr b="0" lang="en-US" sz="116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84" name="Shape 37"/>
          <p:cNvSpPr/>
          <p:nvPr/>
        </p:nvSpPr>
        <p:spPr>
          <a:xfrm>
            <a:off x="5906880" y="3502080"/>
            <a:ext cx="209880" cy="310680"/>
          </a:xfrm>
          <a:prstGeom prst="chevron">
            <a:avLst>
              <a:gd name="adj" fmla="val 50000"/>
            </a:avLst>
          </a:prstGeom>
          <a:solidFill>
            <a:srgbClr val="b9c2ca"/>
          </a:solidFill>
          <a:ln w="12700">
            <a:solidFill>
              <a:srgbClr val="b9c2c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85" name="Shape 38"/>
          <p:cNvSpPr/>
          <p:nvPr/>
        </p:nvSpPr>
        <p:spPr>
          <a:xfrm>
            <a:off x="6217920" y="3127320"/>
            <a:ext cx="2422800" cy="1124280"/>
          </a:xfrm>
          <a:prstGeom prst="roundRect">
            <a:avLst>
              <a:gd name="adj" fmla="val 6504"/>
            </a:avLst>
          </a:prstGeom>
          <a:solidFill>
            <a:srgbClr val="ffffff"/>
          </a:solidFill>
          <a:ln w="12700">
            <a:solidFill>
              <a:srgbClr val="d66a1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86" name="Shape 39"/>
          <p:cNvSpPr/>
          <p:nvPr/>
        </p:nvSpPr>
        <p:spPr>
          <a:xfrm>
            <a:off x="6382440" y="3310200"/>
            <a:ext cx="328680" cy="328680"/>
          </a:xfrm>
          <a:prstGeom prst="ellipse">
            <a:avLst/>
          </a:prstGeom>
          <a:solidFill>
            <a:srgbClr val="d66a1f"/>
          </a:solidFill>
          <a:ln w="12700">
            <a:solidFill>
              <a:srgbClr val="d66a1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DejaVu Sans"/>
            </a:endParaRPr>
          </a:p>
        </p:txBody>
      </p:sp>
      <p:sp>
        <p:nvSpPr>
          <p:cNvPr id="87" name="Text 40"/>
          <p:cNvSpPr/>
          <p:nvPr/>
        </p:nvSpPr>
        <p:spPr>
          <a:xfrm>
            <a:off x="6382440" y="3319200"/>
            <a:ext cx="328680" cy="26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  <a:endParaRPr b="0" lang="en-US" sz="10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88" name="Text 41"/>
          <p:cNvSpPr/>
          <p:nvPr/>
        </p:nvSpPr>
        <p:spPr>
          <a:xfrm>
            <a:off x="6830640" y="3227760"/>
            <a:ext cx="15724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20" spc="-1" strike="noStrike">
                <a:solidFill>
                  <a:srgbClr val="d66a1f"/>
                </a:solidFill>
                <a:latin typeface="Microsoft YaHei"/>
                <a:ea typeface="Microsoft YaHei"/>
              </a:rPr>
              <a:t>L10 vs L20</a:t>
            </a:r>
            <a:endParaRPr b="0" lang="en-US" sz="152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89" name="Text 42"/>
          <p:cNvSpPr/>
          <p:nvPr/>
        </p:nvSpPr>
        <p:spPr>
          <a:xfrm>
            <a:off x="6830640" y="3611880"/>
            <a:ext cx="15724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zh-CN" sz="1160" spc="-1" strike="noStrike">
                <a:solidFill>
                  <a:srgbClr val="252a34"/>
                </a:solidFill>
                <a:latin typeface="Microsoft YaHei"/>
                <a:ea typeface="Microsoft YaHei"/>
              </a:rPr>
              <a:t>链长触发不同重排</a:t>
            </a:r>
            <a:endParaRPr b="0" lang="en-US" sz="116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90" name="Shape 43"/>
          <p:cNvSpPr/>
          <p:nvPr/>
        </p:nvSpPr>
        <p:spPr>
          <a:xfrm>
            <a:off x="8723520" y="3502080"/>
            <a:ext cx="209880" cy="310680"/>
          </a:xfrm>
          <a:prstGeom prst="chevron">
            <a:avLst>
              <a:gd name="adj" fmla="val 50000"/>
            </a:avLst>
          </a:prstGeom>
          <a:solidFill>
            <a:srgbClr val="b9c2ca"/>
          </a:solidFill>
          <a:ln w="12700">
            <a:solidFill>
              <a:srgbClr val="b9c2c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91" name="Shape 44"/>
          <p:cNvSpPr/>
          <p:nvPr/>
        </p:nvSpPr>
        <p:spPr>
          <a:xfrm>
            <a:off x="9034200" y="3127320"/>
            <a:ext cx="2422800" cy="1124280"/>
          </a:xfrm>
          <a:prstGeom prst="roundRect">
            <a:avLst>
              <a:gd name="adj" fmla="val 6504"/>
            </a:avLst>
          </a:prstGeom>
          <a:solidFill>
            <a:srgbClr val="ffffff"/>
          </a:solidFill>
          <a:ln w="12700">
            <a:solidFill>
              <a:srgbClr val="2f8b6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92" name="Shape 45"/>
          <p:cNvSpPr/>
          <p:nvPr/>
        </p:nvSpPr>
        <p:spPr>
          <a:xfrm>
            <a:off x="9198720" y="3310200"/>
            <a:ext cx="328680" cy="328680"/>
          </a:xfrm>
          <a:prstGeom prst="ellipse">
            <a:avLst/>
          </a:prstGeom>
          <a:solidFill>
            <a:srgbClr val="2f8b62"/>
          </a:solidFill>
          <a:ln w="12700">
            <a:solidFill>
              <a:srgbClr val="2f8b6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DejaVu Sans"/>
            </a:endParaRPr>
          </a:p>
        </p:txBody>
      </p:sp>
      <p:sp>
        <p:nvSpPr>
          <p:cNvPr id="93" name="Text 46"/>
          <p:cNvSpPr/>
          <p:nvPr/>
        </p:nvSpPr>
        <p:spPr>
          <a:xfrm>
            <a:off x="9198720" y="3319200"/>
            <a:ext cx="328680" cy="26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Microsoft YaHei"/>
                <a:ea typeface="Microsoft YaHei"/>
              </a:rPr>
              <a:t>4</a:t>
            </a:r>
            <a:endParaRPr b="0" lang="en-US" sz="10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94" name="Text 47"/>
          <p:cNvSpPr/>
          <p:nvPr/>
        </p:nvSpPr>
        <p:spPr>
          <a:xfrm>
            <a:off x="9646920" y="3227760"/>
            <a:ext cx="15724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87222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20" spc="-1" strike="noStrike">
                <a:solidFill>
                  <a:srgbClr val="2f8b62"/>
                </a:solidFill>
                <a:latin typeface="Microsoft YaHei"/>
                <a:ea typeface="Microsoft YaHei"/>
              </a:rPr>
              <a:t>Supported sites</a:t>
            </a:r>
            <a:endParaRPr b="0" lang="en-US" sz="152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95" name="Text 48"/>
          <p:cNvSpPr/>
          <p:nvPr/>
        </p:nvSpPr>
        <p:spPr>
          <a:xfrm>
            <a:off x="9646920" y="3611880"/>
            <a:ext cx="15724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60" spc="-1" strike="noStrike">
                <a:solidFill>
                  <a:srgbClr val="252a34"/>
                </a:solidFill>
                <a:latin typeface="Microsoft YaHei"/>
                <a:ea typeface="Microsoft YaHei"/>
              </a:rPr>
              <a:t>TfCut1/HiC</a:t>
            </a:r>
            <a:r>
              <a:rPr b="0" lang="zh-CN" sz="1160" spc="-1" strike="noStrike">
                <a:solidFill>
                  <a:srgbClr val="252a34"/>
                </a:solidFill>
                <a:latin typeface="Microsoft YaHei"/>
                <a:ea typeface="Microsoft YaHei"/>
              </a:rPr>
              <a:t>定位</a:t>
            </a:r>
            <a:endParaRPr b="0" lang="en-US" sz="116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96" name="Shape 49"/>
          <p:cNvSpPr/>
          <p:nvPr/>
        </p:nvSpPr>
        <p:spPr>
          <a:xfrm>
            <a:off x="585360" y="4718160"/>
            <a:ext cx="11009160" cy="1124280"/>
          </a:xfrm>
          <a:prstGeom prst="roundRect">
            <a:avLst>
              <a:gd name="adj" fmla="val 6504"/>
            </a:avLst>
          </a:prstGeom>
          <a:solidFill>
            <a:srgbClr val="f9eae8"/>
          </a:solidFill>
          <a:ln w="10160">
            <a:solidFill>
              <a:srgbClr val="e9c5c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97" name="Text 50"/>
          <p:cNvSpPr/>
          <p:nvPr/>
        </p:nvSpPr>
        <p:spPr>
          <a:xfrm>
            <a:off x="831960" y="4928760"/>
            <a:ext cx="141696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1550" spc="-1" strike="noStrike">
                <a:solidFill>
                  <a:srgbClr val="c24f45"/>
                </a:solidFill>
                <a:latin typeface="Microsoft YaHei"/>
                <a:ea typeface="Microsoft YaHei"/>
              </a:rPr>
              <a:t>必须避免的暗示</a:t>
            </a:r>
            <a:endParaRPr b="0" lang="en-US" sz="155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98" name="Shape 51"/>
          <p:cNvSpPr/>
          <p:nvPr/>
        </p:nvSpPr>
        <p:spPr>
          <a:xfrm>
            <a:off x="2468880" y="4965120"/>
            <a:ext cx="246600" cy="246600"/>
          </a:xfrm>
          <a:prstGeom prst="ellipse">
            <a:avLst/>
          </a:prstGeom>
          <a:solidFill>
            <a:srgbClr val="c24f45"/>
          </a:solidFill>
          <a:ln w="12700">
            <a:solidFill>
              <a:srgbClr val="c24f4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DejaVu Sans"/>
            </a:endParaRPr>
          </a:p>
        </p:txBody>
      </p:sp>
      <p:sp>
        <p:nvSpPr>
          <p:cNvPr id="99" name="Text 52"/>
          <p:cNvSpPr/>
          <p:nvPr/>
        </p:nvSpPr>
        <p:spPr>
          <a:xfrm>
            <a:off x="2468880" y="4956120"/>
            <a:ext cx="2466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ffffff"/>
                </a:solidFill>
                <a:latin typeface="Microsoft YaHei"/>
                <a:ea typeface="Microsoft YaHei"/>
              </a:rPr>
              <a:t>×</a:t>
            </a:r>
            <a:endParaRPr b="0" lang="en-US" sz="105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100" name="Text 53"/>
          <p:cNvSpPr/>
          <p:nvPr/>
        </p:nvSpPr>
        <p:spPr>
          <a:xfrm>
            <a:off x="2816280" y="4910400"/>
            <a:ext cx="16455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1240" spc="-1" strike="noStrike">
                <a:solidFill>
                  <a:srgbClr val="252a34"/>
                </a:solidFill>
                <a:latin typeface="Microsoft YaHei"/>
                <a:ea typeface="Microsoft YaHei"/>
              </a:rPr>
              <a:t>更强结合</a:t>
            </a:r>
            <a:endParaRPr b="0" lang="en-US" sz="124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101" name="Shape 54"/>
          <p:cNvSpPr/>
          <p:nvPr/>
        </p:nvSpPr>
        <p:spPr>
          <a:xfrm>
            <a:off x="4608720" y="4965120"/>
            <a:ext cx="246600" cy="246600"/>
          </a:xfrm>
          <a:prstGeom prst="ellipse">
            <a:avLst/>
          </a:prstGeom>
          <a:solidFill>
            <a:srgbClr val="c24f45"/>
          </a:solidFill>
          <a:ln w="12700">
            <a:solidFill>
              <a:srgbClr val="c24f4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DejaVu Sans"/>
            </a:endParaRPr>
          </a:p>
        </p:txBody>
      </p:sp>
      <p:sp>
        <p:nvSpPr>
          <p:cNvPr id="102" name="Text 55"/>
          <p:cNvSpPr/>
          <p:nvPr/>
        </p:nvSpPr>
        <p:spPr>
          <a:xfrm>
            <a:off x="4608720" y="4956120"/>
            <a:ext cx="2466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ffffff"/>
                </a:solidFill>
                <a:latin typeface="Microsoft YaHei"/>
                <a:ea typeface="Microsoft YaHei"/>
              </a:rPr>
              <a:t>×</a:t>
            </a:r>
            <a:endParaRPr b="0" lang="en-US" sz="105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103" name="Text 56"/>
          <p:cNvSpPr/>
          <p:nvPr/>
        </p:nvSpPr>
        <p:spPr>
          <a:xfrm>
            <a:off x="4956120" y="4910400"/>
            <a:ext cx="16455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1240" spc="-1" strike="noStrike">
                <a:solidFill>
                  <a:srgbClr val="252a34"/>
                </a:solidFill>
                <a:latin typeface="Microsoft YaHei"/>
                <a:ea typeface="Microsoft YaHei"/>
              </a:rPr>
              <a:t>活性提高</a:t>
            </a:r>
            <a:endParaRPr b="0" lang="en-US" sz="124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104" name="Shape 57"/>
          <p:cNvSpPr/>
          <p:nvPr/>
        </p:nvSpPr>
        <p:spPr>
          <a:xfrm>
            <a:off x="6748200" y="4965120"/>
            <a:ext cx="246600" cy="246600"/>
          </a:xfrm>
          <a:prstGeom prst="ellipse">
            <a:avLst/>
          </a:prstGeom>
          <a:solidFill>
            <a:srgbClr val="c24f45"/>
          </a:solidFill>
          <a:ln w="12700">
            <a:solidFill>
              <a:srgbClr val="c24f4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DejaVu Sans"/>
            </a:endParaRPr>
          </a:p>
        </p:txBody>
      </p:sp>
      <p:sp>
        <p:nvSpPr>
          <p:cNvPr id="105" name="Text 58"/>
          <p:cNvSpPr/>
          <p:nvPr/>
        </p:nvSpPr>
        <p:spPr>
          <a:xfrm>
            <a:off x="6748200" y="4956120"/>
            <a:ext cx="2466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ffffff"/>
                </a:solidFill>
                <a:latin typeface="Microsoft YaHei"/>
                <a:ea typeface="Microsoft YaHei"/>
              </a:rPr>
              <a:t>×</a:t>
            </a:r>
            <a:endParaRPr b="0" lang="en-US" sz="105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106" name="Text 59"/>
          <p:cNvSpPr/>
          <p:nvPr/>
        </p:nvSpPr>
        <p:spPr>
          <a:xfrm>
            <a:off x="7095600" y="4910400"/>
            <a:ext cx="16455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1240" spc="-1" strike="noStrike">
                <a:solidFill>
                  <a:srgbClr val="252a34"/>
                </a:solidFill>
                <a:latin typeface="Microsoft YaHei"/>
                <a:ea typeface="Microsoft YaHei"/>
              </a:rPr>
              <a:t>确定催化机制</a:t>
            </a:r>
            <a:endParaRPr b="0" lang="en-US" sz="124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107" name="Shape 60"/>
          <p:cNvSpPr/>
          <p:nvPr/>
        </p:nvSpPr>
        <p:spPr>
          <a:xfrm>
            <a:off x="8888040" y="4965120"/>
            <a:ext cx="246600" cy="246600"/>
          </a:xfrm>
          <a:prstGeom prst="ellipse">
            <a:avLst/>
          </a:prstGeom>
          <a:solidFill>
            <a:srgbClr val="c24f45"/>
          </a:solidFill>
          <a:ln w="12700">
            <a:solidFill>
              <a:srgbClr val="c24f4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DejaVu Sans"/>
            </a:endParaRPr>
          </a:p>
        </p:txBody>
      </p:sp>
      <p:sp>
        <p:nvSpPr>
          <p:cNvPr id="108" name="Text 61"/>
          <p:cNvSpPr/>
          <p:nvPr/>
        </p:nvSpPr>
        <p:spPr>
          <a:xfrm>
            <a:off x="8888040" y="4956120"/>
            <a:ext cx="2466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ffffff"/>
                </a:solidFill>
                <a:latin typeface="Microsoft YaHei"/>
                <a:ea typeface="Microsoft YaHei"/>
              </a:rPr>
              <a:t>×</a:t>
            </a:r>
            <a:endParaRPr b="0" lang="en-US" sz="105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109" name="Text 62"/>
          <p:cNvSpPr/>
          <p:nvPr/>
        </p:nvSpPr>
        <p:spPr>
          <a:xfrm>
            <a:off x="9235440" y="4910400"/>
            <a:ext cx="16455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1240" spc="-1" strike="noStrike">
                <a:solidFill>
                  <a:srgbClr val="252a34"/>
                </a:solidFill>
                <a:latin typeface="Microsoft YaHei"/>
                <a:ea typeface="Microsoft YaHei"/>
              </a:rPr>
              <a:t>固体 </a:t>
            </a:r>
            <a:r>
              <a:rPr b="1" lang="en-US" sz="1240" spc="-1" strike="noStrike">
                <a:solidFill>
                  <a:srgbClr val="252a34"/>
                </a:solidFill>
                <a:latin typeface="Microsoft YaHei"/>
                <a:ea typeface="Microsoft YaHei"/>
              </a:rPr>
              <a:t>PET </a:t>
            </a:r>
            <a:r>
              <a:rPr b="1" lang="zh-CN" sz="1240" spc="-1" strike="noStrike">
                <a:solidFill>
                  <a:srgbClr val="252a34"/>
                </a:solidFill>
                <a:latin typeface="Microsoft YaHei"/>
                <a:ea typeface="Microsoft YaHei"/>
              </a:rPr>
              <a:t>表面行为</a:t>
            </a:r>
            <a:endParaRPr b="0" lang="en-US" sz="124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110" name="Text 63"/>
          <p:cNvSpPr/>
          <p:nvPr/>
        </p:nvSpPr>
        <p:spPr>
          <a:xfrm>
            <a:off x="2468880" y="5321880"/>
            <a:ext cx="82108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zh-CN" sz="1130" spc="-1" strike="noStrike">
                <a:solidFill>
                  <a:srgbClr val="657180"/>
                </a:solidFill>
                <a:latin typeface="Microsoft YaHei"/>
                <a:ea typeface="Microsoft YaHei"/>
              </a:rPr>
              <a:t>摘要图的任务是压缩主结论，不是复述整个 </a:t>
            </a:r>
            <a:r>
              <a:rPr b="0" lang="en-US" sz="1130" spc="-1" strike="noStrike">
                <a:solidFill>
                  <a:srgbClr val="657180"/>
                </a:solidFill>
                <a:latin typeface="Microsoft YaHei"/>
                <a:ea typeface="Microsoft YaHei"/>
              </a:rPr>
              <a:t>Methods</a:t>
            </a:r>
            <a:r>
              <a:rPr b="0" lang="zh-CN" sz="1130" spc="-1" strike="noStrike">
                <a:solidFill>
                  <a:srgbClr val="657180"/>
                </a:solidFill>
                <a:latin typeface="Microsoft YaHei"/>
                <a:ea typeface="Microsoft YaHei"/>
              </a:rPr>
              <a:t>，也不是替未来实验先下结论。</a:t>
            </a:r>
            <a:endParaRPr b="0" lang="en-US" sz="1130" spc="-1" strike="noStrike">
              <a:solidFill>
                <a:srgbClr val="000000"/>
              </a:solidFill>
              <a:latin typeface="DejaVu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Text 0"/>
          <p:cNvSpPr/>
          <p:nvPr/>
        </p:nvSpPr>
        <p:spPr>
          <a:xfrm>
            <a:off x="530280" y="219600"/>
            <a:ext cx="713196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pc="128" strike="noStrike">
                <a:solidFill>
                  <a:srgbClr val="657180"/>
                </a:solidFill>
                <a:latin typeface="Microsoft YaHei"/>
                <a:ea typeface="Microsoft YaHei"/>
              </a:rPr>
              <a:t>EARLY DIRECTIONS</a:t>
            </a:r>
            <a:endParaRPr b="0" lang="en-US" sz="95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112" name="Text 1"/>
          <p:cNvSpPr/>
          <p:nvPr/>
        </p:nvSpPr>
        <p:spPr>
          <a:xfrm>
            <a:off x="530280" y="484560"/>
            <a:ext cx="1051524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2850" spc="-1" strike="noStrike">
                <a:solidFill>
                  <a:srgbClr val="252a34"/>
                </a:solidFill>
                <a:latin typeface="Microsoft YaHei"/>
                <a:ea typeface="Microsoft YaHei"/>
              </a:rPr>
              <a:t>方案 </a:t>
            </a:r>
            <a:r>
              <a:rPr b="1" lang="en-US" sz="2850" spc="-1" strike="noStrike">
                <a:solidFill>
                  <a:srgbClr val="252a34"/>
                </a:solidFill>
                <a:latin typeface="Microsoft YaHei"/>
                <a:ea typeface="Microsoft YaHei"/>
              </a:rPr>
              <a:t>A–B</a:t>
            </a:r>
            <a:r>
              <a:rPr b="1" lang="zh-CN" sz="2850" spc="-1" strike="noStrike">
                <a:solidFill>
                  <a:srgbClr val="252a34"/>
                </a:solidFill>
                <a:latin typeface="Microsoft YaHei"/>
                <a:ea typeface="Microsoft YaHei"/>
              </a:rPr>
              <a:t>｜结构漏斗与图标化示意</a:t>
            </a:r>
            <a:endParaRPr b="0" lang="en-US" sz="285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113" name="Shape 2"/>
          <p:cNvSpPr/>
          <p:nvPr/>
        </p:nvSpPr>
        <p:spPr>
          <a:xfrm>
            <a:off x="10716840" y="283320"/>
            <a:ext cx="493560" cy="228240"/>
          </a:xfrm>
          <a:prstGeom prst="roundRect">
            <a:avLst>
              <a:gd name="adj" fmla="val 20000"/>
            </a:avLst>
          </a:prstGeom>
          <a:solidFill>
            <a:srgbClr val="2583b6"/>
          </a:solidFill>
          <a:ln w="12700">
            <a:solidFill>
              <a:srgbClr val="2583b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DejaVu Sans"/>
            </a:endParaRPr>
          </a:p>
        </p:txBody>
      </p:sp>
      <p:sp>
        <p:nvSpPr>
          <p:cNvPr id="114" name="Text 3"/>
          <p:cNvSpPr/>
          <p:nvPr/>
        </p:nvSpPr>
        <p:spPr>
          <a:xfrm>
            <a:off x="10716840" y="292680"/>
            <a:ext cx="49356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-1" strike="noStrike">
                <a:solidFill>
                  <a:srgbClr val="ffffff"/>
                </a:solidFill>
                <a:latin typeface="Microsoft YaHei"/>
                <a:ea typeface="Microsoft YaHei"/>
              </a:rPr>
              <a:t>L10</a:t>
            </a:r>
            <a:endParaRPr b="0" lang="en-US" sz="85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115" name="Shape 4"/>
          <p:cNvSpPr/>
          <p:nvPr/>
        </p:nvSpPr>
        <p:spPr>
          <a:xfrm>
            <a:off x="11256120" y="283320"/>
            <a:ext cx="493560" cy="228240"/>
          </a:xfrm>
          <a:prstGeom prst="roundRect">
            <a:avLst>
              <a:gd name="adj" fmla="val 20000"/>
            </a:avLst>
          </a:prstGeom>
          <a:solidFill>
            <a:srgbClr val="d66a1f"/>
          </a:solidFill>
          <a:ln w="12700">
            <a:solidFill>
              <a:srgbClr val="d66a1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DejaVu Sans"/>
            </a:endParaRPr>
          </a:p>
        </p:txBody>
      </p:sp>
      <p:sp>
        <p:nvSpPr>
          <p:cNvPr id="116" name="Text 5"/>
          <p:cNvSpPr/>
          <p:nvPr/>
        </p:nvSpPr>
        <p:spPr>
          <a:xfrm>
            <a:off x="11256120" y="292680"/>
            <a:ext cx="49356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-1" strike="noStrike">
                <a:solidFill>
                  <a:srgbClr val="ffffff"/>
                </a:solidFill>
                <a:latin typeface="Microsoft YaHei"/>
                <a:ea typeface="Microsoft YaHei"/>
              </a:rPr>
              <a:t>L20</a:t>
            </a:r>
            <a:endParaRPr b="0" lang="en-US" sz="85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117" name="Shape 6"/>
          <p:cNvSpPr/>
          <p:nvPr/>
        </p:nvSpPr>
        <p:spPr>
          <a:xfrm>
            <a:off x="11192040" y="397440"/>
            <a:ext cx="73080" cy="360"/>
          </a:xfrm>
          <a:prstGeom prst="line">
            <a:avLst/>
          </a:prstGeom>
          <a:ln w="15240">
            <a:solidFill>
              <a:srgbClr val="d7dee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118" name="Text 7"/>
          <p:cNvSpPr/>
          <p:nvPr/>
        </p:nvSpPr>
        <p:spPr>
          <a:xfrm>
            <a:off x="502920" y="6528960"/>
            <a:ext cx="493740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80" spc="-1" strike="noStrike">
                <a:solidFill>
                  <a:srgbClr val="8a96a3"/>
                </a:solidFill>
                <a:latin typeface="Microsoft YaHei"/>
                <a:ea typeface="Microsoft YaHei"/>
              </a:rPr>
              <a:t>PETase manuscript · TOC graphic review</a:t>
            </a:r>
            <a:endParaRPr b="0" lang="en-US" sz="88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119" name="Text 8"/>
          <p:cNvSpPr/>
          <p:nvPr/>
        </p:nvSpPr>
        <p:spPr>
          <a:xfrm>
            <a:off x="11247120" y="6501240"/>
            <a:ext cx="4384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20" spc="-1" strike="noStrike">
                <a:solidFill>
                  <a:srgbClr val="8a96a3"/>
                </a:solidFill>
                <a:latin typeface="Microsoft YaHei"/>
                <a:ea typeface="Microsoft YaHei"/>
              </a:rPr>
              <a:t>03</a:t>
            </a:r>
            <a:endParaRPr b="0" lang="en-US" sz="92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120" name="Shape 9"/>
          <p:cNvSpPr/>
          <p:nvPr/>
        </p:nvSpPr>
        <p:spPr>
          <a:xfrm>
            <a:off x="567000" y="1143000"/>
            <a:ext cx="347040" cy="347040"/>
          </a:xfrm>
          <a:prstGeom prst="ellipse">
            <a:avLst/>
          </a:prstGeom>
          <a:solidFill>
            <a:srgbClr val="2583b6"/>
          </a:solidFill>
          <a:ln w="12700">
            <a:solidFill>
              <a:srgbClr val="2583b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DejaVu Sans"/>
            </a:endParaRPr>
          </a:p>
        </p:txBody>
      </p:sp>
      <p:sp>
        <p:nvSpPr>
          <p:cNvPr id="121" name="Text 10"/>
          <p:cNvSpPr/>
          <p:nvPr/>
        </p:nvSpPr>
        <p:spPr>
          <a:xfrm>
            <a:off x="567000" y="1152000"/>
            <a:ext cx="347040" cy="28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-1" strike="noStrike">
                <a:solidFill>
                  <a:srgbClr val="ffffff"/>
                </a:solidFill>
                <a:latin typeface="Microsoft YaHei"/>
                <a:ea typeface="Microsoft YaHei"/>
              </a:rPr>
              <a:t>A</a:t>
            </a:r>
            <a:endParaRPr b="0" lang="en-US" sz="115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122" name="Text 11"/>
          <p:cNvSpPr/>
          <p:nvPr/>
        </p:nvSpPr>
        <p:spPr>
          <a:xfrm>
            <a:off x="1024200" y="1124640"/>
            <a:ext cx="42973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1850" spc="-1" strike="noStrike">
                <a:solidFill>
                  <a:srgbClr val="252a34"/>
                </a:solidFill>
                <a:latin typeface="Microsoft YaHei"/>
                <a:ea typeface="Microsoft YaHei"/>
              </a:rPr>
              <a:t>真实结构漏斗</a:t>
            </a:r>
            <a:endParaRPr b="0" lang="en-US" sz="185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123" name="Shape 12"/>
          <p:cNvSpPr/>
          <p:nvPr/>
        </p:nvSpPr>
        <p:spPr>
          <a:xfrm>
            <a:off x="567000" y="1636920"/>
            <a:ext cx="5412960" cy="2916720"/>
          </a:xfrm>
          <a:prstGeom prst="roundRect">
            <a:avLst>
              <a:gd name="adj" fmla="val 2508"/>
            </a:avLst>
          </a:prstGeom>
          <a:solidFill>
            <a:srgbClr val="ffffff"/>
          </a:solidFill>
          <a:ln w="10160">
            <a:solidFill>
              <a:srgbClr val="d8dee4"/>
            </a:solidFill>
            <a:round/>
          </a:ln>
          <a:effectLst>
            <a:outerShdw algn="bl" blurRad="25560" dir="8100000" dist="12218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DejaVu Sans"/>
            </a:endParaRPr>
          </a:p>
        </p:txBody>
      </p:sp>
      <p:pic>
        <p:nvPicPr>
          <p:cNvPr id="124" name="Image 0" descr="Option A: 真实结构漏斗"/>
          <p:cNvPicPr/>
          <p:nvPr/>
        </p:nvPicPr>
        <p:blipFill>
          <a:blip r:embed="rId1"/>
          <a:stretch/>
        </p:blipFill>
        <p:spPr>
          <a:xfrm>
            <a:off x="631080" y="1700640"/>
            <a:ext cx="5284800" cy="2788560"/>
          </a:xfrm>
          <a:prstGeom prst="rect">
            <a:avLst/>
          </a:prstGeom>
          <a:ln w="0">
            <a:noFill/>
          </a:ln>
        </p:spPr>
      </p:pic>
      <p:sp>
        <p:nvSpPr>
          <p:cNvPr id="125" name="Shape 13"/>
          <p:cNvSpPr/>
          <p:nvPr/>
        </p:nvSpPr>
        <p:spPr>
          <a:xfrm>
            <a:off x="3886200" y="1170360"/>
            <a:ext cx="932400" cy="292320"/>
          </a:xfrm>
          <a:prstGeom prst="roundRect">
            <a:avLst>
              <a:gd name="adj" fmla="val 25000"/>
            </a:avLst>
          </a:prstGeom>
          <a:solidFill>
            <a:srgbClr val="2583b6"/>
          </a:solidFill>
          <a:ln w="7620">
            <a:solidFill>
              <a:srgbClr val="2583b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DejaVu Sans"/>
            </a:endParaRPr>
          </a:p>
        </p:txBody>
      </p:sp>
      <p:sp>
        <p:nvSpPr>
          <p:cNvPr id="126" name="Text 14"/>
          <p:cNvSpPr/>
          <p:nvPr/>
        </p:nvSpPr>
        <p:spPr>
          <a:xfrm>
            <a:off x="3940920" y="1179720"/>
            <a:ext cx="822600" cy="24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960" spc="-1" strike="noStrike">
                <a:solidFill>
                  <a:srgbClr val="ffffff"/>
                </a:solidFill>
                <a:latin typeface="Microsoft YaHei"/>
                <a:ea typeface="Microsoft YaHei"/>
              </a:rPr>
              <a:t>分子感强</a:t>
            </a:r>
            <a:endParaRPr b="0" lang="en-US" sz="96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127" name="Shape 15"/>
          <p:cNvSpPr/>
          <p:nvPr/>
        </p:nvSpPr>
        <p:spPr>
          <a:xfrm>
            <a:off x="4910400" y="1170360"/>
            <a:ext cx="1023840" cy="292320"/>
          </a:xfrm>
          <a:prstGeom prst="roundRect">
            <a:avLst>
              <a:gd name="adj" fmla="val 25000"/>
            </a:avLst>
          </a:prstGeom>
          <a:solidFill>
            <a:srgbClr val="f9eae8"/>
          </a:solidFill>
          <a:ln w="7620">
            <a:solidFill>
              <a:srgbClr val="e8c3b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128" name="Text 16"/>
          <p:cNvSpPr/>
          <p:nvPr/>
        </p:nvSpPr>
        <p:spPr>
          <a:xfrm>
            <a:off x="4965120" y="1179720"/>
            <a:ext cx="914040" cy="24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960" spc="-1" strike="noStrike">
                <a:solidFill>
                  <a:srgbClr val="c24f45"/>
                </a:solidFill>
                <a:latin typeface="Microsoft YaHei"/>
                <a:ea typeface="Microsoft YaHei"/>
              </a:rPr>
              <a:t>信息过载</a:t>
            </a:r>
            <a:endParaRPr b="0" lang="en-US" sz="96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129" name="Shape 17"/>
          <p:cNvSpPr/>
          <p:nvPr/>
        </p:nvSpPr>
        <p:spPr>
          <a:xfrm>
            <a:off x="594360" y="4782240"/>
            <a:ext cx="109440" cy="109440"/>
          </a:xfrm>
          <a:prstGeom prst="roundRect">
            <a:avLst>
              <a:gd name="adj" fmla="val 25000"/>
            </a:avLst>
          </a:prstGeom>
          <a:solidFill>
            <a:srgbClr val="2583b6"/>
          </a:solidFill>
          <a:ln w="12700">
            <a:solidFill>
              <a:srgbClr val="2583b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DejaVu Sans"/>
            </a:endParaRPr>
          </a:p>
        </p:txBody>
      </p:sp>
      <p:sp>
        <p:nvSpPr>
          <p:cNvPr id="130" name="Text 18"/>
          <p:cNvSpPr/>
          <p:nvPr/>
        </p:nvSpPr>
        <p:spPr>
          <a:xfrm>
            <a:off x="777240" y="4736520"/>
            <a:ext cx="8042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1120" spc="-1" strike="noStrike">
                <a:solidFill>
                  <a:srgbClr val="2583b6"/>
                </a:solidFill>
                <a:latin typeface="Microsoft YaHei"/>
                <a:ea typeface="Microsoft YaHei"/>
              </a:rPr>
              <a:t>想呈现</a:t>
            </a:r>
            <a:endParaRPr b="0" lang="en-US" sz="112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131" name="Text 19"/>
          <p:cNvSpPr/>
          <p:nvPr/>
        </p:nvSpPr>
        <p:spPr>
          <a:xfrm>
            <a:off x="1618560" y="4727520"/>
            <a:ext cx="429732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zh-CN" sz="1210" spc="-1" strike="noStrike">
                <a:solidFill>
                  <a:srgbClr val="252a34"/>
                </a:solidFill>
                <a:latin typeface="Microsoft YaHei"/>
                <a:ea typeface="Microsoft YaHei"/>
              </a:rPr>
              <a:t>六酶 → </a:t>
            </a:r>
            <a:r>
              <a:rPr b="0" lang="en-US" sz="1210" spc="-1" strike="noStrike">
                <a:solidFill>
                  <a:srgbClr val="252a34"/>
                </a:solidFill>
                <a:latin typeface="Microsoft YaHei"/>
                <a:ea typeface="Microsoft YaHei"/>
              </a:rPr>
              <a:t>TfCut1/HiC → </a:t>
            </a:r>
            <a:r>
              <a:rPr b="0" lang="zh-CN" sz="1210" spc="-1" strike="noStrike">
                <a:solidFill>
                  <a:srgbClr val="252a34"/>
                </a:solidFill>
                <a:latin typeface="Microsoft YaHei"/>
                <a:ea typeface="Microsoft YaHei"/>
              </a:rPr>
              <a:t>局部接触，逐层聚焦</a:t>
            </a:r>
            <a:endParaRPr b="0" lang="en-US" sz="121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132" name="Shape 20"/>
          <p:cNvSpPr/>
          <p:nvPr/>
        </p:nvSpPr>
        <p:spPr>
          <a:xfrm>
            <a:off x="594360" y="5166360"/>
            <a:ext cx="109440" cy="109440"/>
          </a:xfrm>
          <a:prstGeom prst="roundRect">
            <a:avLst>
              <a:gd name="adj" fmla="val 25000"/>
            </a:avLst>
          </a:prstGeom>
          <a:solidFill>
            <a:srgbClr val="2f8b62"/>
          </a:solidFill>
          <a:ln w="12700">
            <a:solidFill>
              <a:srgbClr val="2f8b6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DejaVu Sans"/>
            </a:endParaRPr>
          </a:p>
        </p:txBody>
      </p:sp>
      <p:sp>
        <p:nvSpPr>
          <p:cNvPr id="133" name="Text 21"/>
          <p:cNvSpPr/>
          <p:nvPr/>
        </p:nvSpPr>
        <p:spPr>
          <a:xfrm>
            <a:off x="777240" y="5120640"/>
            <a:ext cx="8042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1120" spc="-1" strike="noStrike">
                <a:solidFill>
                  <a:srgbClr val="2f8b62"/>
                </a:solidFill>
                <a:latin typeface="Microsoft YaHei"/>
                <a:ea typeface="Microsoft YaHei"/>
              </a:rPr>
              <a:t>吸引点</a:t>
            </a:r>
            <a:endParaRPr b="0" lang="en-US" sz="112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134" name="Text 22"/>
          <p:cNvSpPr/>
          <p:nvPr/>
        </p:nvSpPr>
        <p:spPr>
          <a:xfrm>
            <a:off x="1618560" y="5111640"/>
            <a:ext cx="429732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zh-CN" sz="1210" spc="-1" strike="noStrike">
                <a:solidFill>
                  <a:srgbClr val="252a34"/>
                </a:solidFill>
                <a:latin typeface="Microsoft YaHei"/>
                <a:ea typeface="Microsoft YaHei"/>
              </a:rPr>
              <a:t>使用真实坐标；分子身份明确；故事链完整</a:t>
            </a:r>
            <a:endParaRPr b="0" lang="en-US" sz="121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135" name="Shape 23"/>
          <p:cNvSpPr/>
          <p:nvPr/>
        </p:nvSpPr>
        <p:spPr>
          <a:xfrm>
            <a:off x="594360" y="5550480"/>
            <a:ext cx="109440" cy="109440"/>
          </a:xfrm>
          <a:prstGeom prst="roundRect">
            <a:avLst>
              <a:gd name="adj" fmla="val 25000"/>
            </a:avLst>
          </a:prstGeom>
          <a:solidFill>
            <a:srgbClr val="c24f45"/>
          </a:solidFill>
          <a:ln w="12700">
            <a:solidFill>
              <a:srgbClr val="c24f4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DejaVu Sans"/>
            </a:endParaRPr>
          </a:p>
        </p:txBody>
      </p:sp>
      <p:sp>
        <p:nvSpPr>
          <p:cNvPr id="136" name="Text 24"/>
          <p:cNvSpPr/>
          <p:nvPr/>
        </p:nvSpPr>
        <p:spPr>
          <a:xfrm>
            <a:off x="777240" y="5504760"/>
            <a:ext cx="8042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1120" spc="-1" strike="noStrike">
                <a:solidFill>
                  <a:srgbClr val="c24f45"/>
                </a:solidFill>
                <a:latin typeface="Microsoft YaHei"/>
                <a:ea typeface="Microsoft YaHei"/>
              </a:rPr>
              <a:t>主要风险</a:t>
            </a:r>
            <a:endParaRPr b="0" lang="en-US" sz="112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137" name="Text 25"/>
          <p:cNvSpPr/>
          <p:nvPr/>
        </p:nvSpPr>
        <p:spPr>
          <a:xfrm>
            <a:off x="1618560" y="5495400"/>
            <a:ext cx="429732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10" spc="-1" strike="noStrike">
                <a:solidFill>
                  <a:srgbClr val="252a34"/>
                </a:solidFill>
                <a:latin typeface="Microsoft YaHei"/>
                <a:ea typeface="Microsoft YaHei"/>
              </a:rPr>
              <a:t>10</a:t>
            </a:r>
            <a:r>
              <a:rPr b="0" lang="zh-CN" sz="1210" spc="-1" strike="noStrike">
                <a:solidFill>
                  <a:srgbClr val="252a34"/>
                </a:solidFill>
                <a:latin typeface="Microsoft YaHei"/>
                <a:ea typeface="Microsoft YaHei"/>
              </a:rPr>
              <a:t>个结构缩略图难读；单帧承担过多证据；局部作用暗示过强</a:t>
            </a:r>
            <a:endParaRPr b="0" lang="en-US" sz="121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138" name="Shape 26"/>
          <p:cNvSpPr/>
          <p:nvPr/>
        </p:nvSpPr>
        <p:spPr>
          <a:xfrm>
            <a:off x="594360" y="5934600"/>
            <a:ext cx="109440" cy="109440"/>
          </a:xfrm>
          <a:prstGeom prst="roundRect">
            <a:avLst>
              <a:gd name="adj" fmla="val 25000"/>
            </a:avLst>
          </a:prstGeom>
          <a:solidFill>
            <a:srgbClr val="657180"/>
          </a:solidFill>
          <a:ln w="12700">
            <a:solidFill>
              <a:srgbClr val="65718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DejaVu Sans"/>
            </a:endParaRPr>
          </a:p>
        </p:txBody>
      </p:sp>
      <p:sp>
        <p:nvSpPr>
          <p:cNvPr id="139" name="Text 27"/>
          <p:cNvSpPr/>
          <p:nvPr/>
        </p:nvSpPr>
        <p:spPr>
          <a:xfrm>
            <a:off x="777240" y="5888880"/>
            <a:ext cx="8042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1120" spc="-1" strike="noStrike">
                <a:solidFill>
                  <a:srgbClr val="657180"/>
                </a:solidFill>
                <a:latin typeface="Microsoft YaHei"/>
                <a:ea typeface="Microsoft YaHei"/>
              </a:rPr>
              <a:t>适合</a:t>
            </a:r>
            <a:endParaRPr b="0" lang="en-US" sz="112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140" name="Text 28"/>
          <p:cNvSpPr/>
          <p:nvPr/>
        </p:nvSpPr>
        <p:spPr>
          <a:xfrm>
            <a:off x="1618560" y="5879520"/>
            <a:ext cx="429732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zh-CN" sz="1210" spc="-1" strike="noStrike">
                <a:solidFill>
                  <a:srgbClr val="252a34"/>
                </a:solidFill>
                <a:latin typeface="Microsoft YaHei"/>
                <a:ea typeface="Microsoft YaHei"/>
              </a:rPr>
              <a:t>内部汇报或结果总览，不优先用于最终</a:t>
            </a:r>
            <a:r>
              <a:rPr b="0" lang="en-US" sz="1210" spc="-1" strike="noStrike">
                <a:solidFill>
                  <a:srgbClr val="252a34"/>
                </a:solidFill>
                <a:latin typeface="Microsoft YaHei"/>
                <a:ea typeface="Microsoft YaHei"/>
              </a:rPr>
              <a:t>TOC</a:t>
            </a:r>
            <a:endParaRPr b="0" lang="en-US" sz="121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141" name="Shape 29"/>
          <p:cNvSpPr/>
          <p:nvPr/>
        </p:nvSpPr>
        <p:spPr>
          <a:xfrm>
            <a:off x="6199560" y="1143000"/>
            <a:ext cx="347040" cy="347040"/>
          </a:xfrm>
          <a:prstGeom prst="ellipse">
            <a:avLst/>
          </a:prstGeom>
          <a:solidFill>
            <a:srgbClr val="a87908"/>
          </a:solidFill>
          <a:ln w="12700">
            <a:solidFill>
              <a:srgbClr val="a8790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DejaVu Sans"/>
            </a:endParaRPr>
          </a:p>
        </p:txBody>
      </p:sp>
      <p:sp>
        <p:nvSpPr>
          <p:cNvPr id="142" name="Text 30"/>
          <p:cNvSpPr/>
          <p:nvPr/>
        </p:nvSpPr>
        <p:spPr>
          <a:xfrm>
            <a:off x="6199560" y="1152000"/>
            <a:ext cx="347040" cy="28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-1" strike="noStrike">
                <a:solidFill>
                  <a:srgbClr val="ffffff"/>
                </a:solidFill>
                <a:latin typeface="Microsoft YaHei"/>
                <a:ea typeface="Microsoft YaHei"/>
              </a:rPr>
              <a:t>B</a:t>
            </a:r>
            <a:endParaRPr b="0" lang="en-US" sz="115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143" name="Text 31"/>
          <p:cNvSpPr/>
          <p:nvPr/>
        </p:nvSpPr>
        <p:spPr>
          <a:xfrm>
            <a:off x="6656760" y="1124640"/>
            <a:ext cx="42973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1850" spc="-1" strike="noStrike">
                <a:solidFill>
                  <a:srgbClr val="252a34"/>
                </a:solidFill>
                <a:latin typeface="Microsoft YaHei"/>
                <a:ea typeface="Microsoft YaHei"/>
              </a:rPr>
              <a:t>图标化示意</a:t>
            </a:r>
            <a:endParaRPr b="0" lang="en-US" sz="185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144" name="Shape 32"/>
          <p:cNvSpPr/>
          <p:nvPr/>
        </p:nvSpPr>
        <p:spPr>
          <a:xfrm>
            <a:off x="6199560" y="1636920"/>
            <a:ext cx="5412960" cy="2916720"/>
          </a:xfrm>
          <a:prstGeom prst="roundRect">
            <a:avLst>
              <a:gd name="adj" fmla="val 2508"/>
            </a:avLst>
          </a:prstGeom>
          <a:solidFill>
            <a:srgbClr val="ffffff"/>
          </a:solidFill>
          <a:ln w="10160">
            <a:solidFill>
              <a:srgbClr val="d8dee4"/>
            </a:solidFill>
            <a:round/>
          </a:ln>
          <a:effectLst>
            <a:outerShdw algn="bl" blurRad="25560" dir="8100000" dist="12218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DejaVu Sans"/>
            </a:endParaRPr>
          </a:p>
        </p:txBody>
      </p:sp>
      <p:pic>
        <p:nvPicPr>
          <p:cNvPr id="145" name="Image 1" descr="Option B: 图标化示意"/>
          <p:cNvPicPr/>
          <p:nvPr/>
        </p:nvPicPr>
        <p:blipFill>
          <a:blip r:embed="rId2"/>
          <a:stretch/>
        </p:blipFill>
        <p:spPr>
          <a:xfrm>
            <a:off x="6263640" y="1700640"/>
            <a:ext cx="5284800" cy="2788560"/>
          </a:xfrm>
          <a:prstGeom prst="rect">
            <a:avLst/>
          </a:prstGeom>
          <a:ln w="0">
            <a:noFill/>
          </a:ln>
        </p:spPr>
      </p:pic>
      <p:sp>
        <p:nvSpPr>
          <p:cNvPr id="146" name="Shape 33"/>
          <p:cNvSpPr/>
          <p:nvPr/>
        </p:nvSpPr>
        <p:spPr>
          <a:xfrm>
            <a:off x="9518760" y="1170360"/>
            <a:ext cx="932400" cy="292320"/>
          </a:xfrm>
          <a:prstGeom prst="roundRect">
            <a:avLst>
              <a:gd name="adj" fmla="val 25000"/>
            </a:avLst>
          </a:prstGeom>
          <a:solidFill>
            <a:srgbClr val="a87908"/>
          </a:solidFill>
          <a:ln w="7620">
            <a:solidFill>
              <a:srgbClr val="a8790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DejaVu Sans"/>
            </a:endParaRPr>
          </a:p>
        </p:txBody>
      </p:sp>
      <p:sp>
        <p:nvSpPr>
          <p:cNvPr id="147" name="Text 34"/>
          <p:cNvSpPr/>
          <p:nvPr/>
        </p:nvSpPr>
        <p:spPr>
          <a:xfrm>
            <a:off x="9573840" y="1179720"/>
            <a:ext cx="822600" cy="24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960" spc="-1" strike="noStrike">
                <a:solidFill>
                  <a:srgbClr val="ffffff"/>
                </a:solidFill>
                <a:latin typeface="Microsoft YaHei"/>
                <a:ea typeface="Microsoft YaHei"/>
              </a:rPr>
              <a:t>理解最快</a:t>
            </a:r>
            <a:endParaRPr b="0" lang="en-US" sz="96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148" name="Shape 35"/>
          <p:cNvSpPr/>
          <p:nvPr/>
        </p:nvSpPr>
        <p:spPr>
          <a:xfrm>
            <a:off x="10542960" y="1170360"/>
            <a:ext cx="1023840" cy="292320"/>
          </a:xfrm>
          <a:prstGeom prst="roundRect">
            <a:avLst>
              <a:gd name="adj" fmla="val 25000"/>
            </a:avLst>
          </a:prstGeom>
          <a:solidFill>
            <a:srgbClr val="f9eae8"/>
          </a:solidFill>
          <a:ln w="7620">
            <a:solidFill>
              <a:srgbClr val="e8c3b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149" name="Text 36"/>
          <p:cNvSpPr/>
          <p:nvPr/>
        </p:nvSpPr>
        <p:spPr>
          <a:xfrm>
            <a:off x="10598040" y="1179720"/>
            <a:ext cx="914040" cy="24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960" spc="-1" strike="noStrike">
                <a:solidFill>
                  <a:srgbClr val="c24f45"/>
                </a:solidFill>
                <a:latin typeface="Microsoft YaHei"/>
                <a:ea typeface="Microsoft YaHei"/>
              </a:rPr>
              <a:t>数据锚定弱</a:t>
            </a:r>
            <a:endParaRPr b="0" lang="en-US" sz="96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150" name="Shape 37"/>
          <p:cNvSpPr/>
          <p:nvPr/>
        </p:nvSpPr>
        <p:spPr>
          <a:xfrm>
            <a:off x="6226920" y="4782240"/>
            <a:ext cx="109440" cy="109440"/>
          </a:xfrm>
          <a:prstGeom prst="roundRect">
            <a:avLst>
              <a:gd name="adj" fmla="val 25000"/>
            </a:avLst>
          </a:prstGeom>
          <a:solidFill>
            <a:srgbClr val="a87908"/>
          </a:solidFill>
          <a:ln w="12700">
            <a:solidFill>
              <a:srgbClr val="a8790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DejaVu Sans"/>
            </a:endParaRPr>
          </a:p>
        </p:txBody>
      </p:sp>
      <p:sp>
        <p:nvSpPr>
          <p:cNvPr id="151" name="Text 38"/>
          <p:cNvSpPr/>
          <p:nvPr/>
        </p:nvSpPr>
        <p:spPr>
          <a:xfrm>
            <a:off x="6409800" y="4736520"/>
            <a:ext cx="8042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1120" spc="-1" strike="noStrike">
                <a:solidFill>
                  <a:srgbClr val="a87908"/>
                </a:solidFill>
                <a:latin typeface="Microsoft YaHei"/>
                <a:ea typeface="Microsoft YaHei"/>
              </a:rPr>
              <a:t>想呈现</a:t>
            </a:r>
            <a:endParaRPr b="0" lang="en-US" sz="112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152" name="Text 39"/>
          <p:cNvSpPr/>
          <p:nvPr/>
        </p:nvSpPr>
        <p:spPr>
          <a:xfrm>
            <a:off x="7251120" y="4727520"/>
            <a:ext cx="429732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zh-CN" sz="1210" spc="-1" strike="noStrike">
                <a:solidFill>
                  <a:srgbClr val="252a34"/>
                </a:solidFill>
                <a:latin typeface="Microsoft YaHei"/>
                <a:ea typeface="Microsoft YaHei"/>
              </a:rPr>
              <a:t>不同界面 </a:t>
            </a:r>
            <a:r>
              <a:rPr b="0" lang="en-US" sz="1210" spc="-1" strike="noStrike">
                <a:solidFill>
                  <a:srgbClr val="252a34"/>
                </a:solidFill>
                <a:latin typeface="Microsoft YaHei"/>
                <a:ea typeface="Microsoft YaHei"/>
              </a:rPr>
              <a:t>+ </a:t>
            </a:r>
            <a:r>
              <a:rPr b="0" lang="zh-CN" sz="1210" spc="-1" strike="noStrike">
                <a:solidFill>
                  <a:srgbClr val="252a34"/>
                </a:solidFill>
                <a:latin typeface="Microsoft YaHei"/>
                <a:ea typeface="Microsoft YaHei"/>
              </a:rPr>
              <a:t>短链</a:t>
            </a:r>
            <a:r>
              <a:rPr b="0" lang="en-US" sz="1210" spc="-1" strike="noStrike">
                <a:solidFill>
                  <a:srgbClr val="252a34"/>
                </a:solidFill>
                <a:latin typeface="Microsoft YaHei"/>
                <a:ea typeface="Microsoft YaHei"/>
              </a:rPr>
              <a:t>/</a:t>
            </a:r>
            <a:r>
              <a:rPr b="0" lang="zh-CN" sz="1210" spc="-1" strike="noStrike">
                <a:solidFill>
                  <a:srgbClr val="252a34"/>
                </a:solidFill>
                <a:latin typeface="Microsoft YaHei"/>
                <a:ea typeface="Microsoft YaHei"/>
              </a:rPr>
              <a:t>长链 </a:t>
            </a:r>
            <a:r>
              <a:rPr b="0" lang="en-US" sz="1210" spc="-1" strike="noStrike">
                <a:solidFill>
                  <a:srgbClr val="252a34"/>
                </a:solidFill>
                <a:latin typeface="Microsoft YaHei"/>
                <a:ea typeface="Microsoft YaHei"/>
              </a:rPr>
              <a:t>+ </a:t>
            </a:r>
            <a:r>
              <a:rPr b="0" lang="zh-CN" sz="1210" spc="-1" strike="noStrike">
                <a:solidFill>
                  <a:srgbClr val="252a34"/>
                </a:solidFill>
                <a:latin typeface="Microsoft YaHei"/>
                <a:ea typeface="Microsoft YaHei"/>
              </a:rPr>
              <a:t>两类局部靶点</a:t>
            </a:r>
            <a:endParaRPr b="0" lang="en-US" sz="121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153" name="Shape 40"/>
          <p:cNvSpPr/>
          <p:nvPr/>
        </p:nvSpPr>
        <p:spPr>
          <a:xfrm>
            <a:off x="6226920" y="5166360"/>
            <a:ext cx="109440" cy="109440"/>
          </a:xfrm>
          <a:prstGeom prst="roundRect">
            <a:avLst>
              <a:gd name="adj" fmla="val 25000"/>
            </a:avLst>
          </a:prstGeom>
          <a:solidFill>
            <a:srgbClr val="2f8b62"/>
          </a:solidFill>
          <a:ln w="12700">
            <a:solidFill>
              <a:srgbClr val="2f8b6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DejaVu Sans"/>
            </a:endParaRPr>
          </a:p>
        </p:txBody>
      </p:sp>
      <p:sp>
        <p:nvSpPr>
          <p:cNvPr id="154" name="Text 41"/>
          <p:cNvSpPr/>
          <p:nvPr/>
        </p:nvSpPr>
        <p:spPr>
          <a:xfrm>
            <a:off x="6409800" y="5120640"/>
            <a:ext cx="8042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1120" spc="-1" strike="noStrike">
                <a:solidFill>
                  <a:srgbClr val="2f8b62"/>
                </a:solidFill>
                <a:latin typeface="Microsoft YaHei"/>
                <a:ea typeface="Microsoft YaHei"/>
              </a:rPr>
              <a:t>吸引点</a:t>
            </a:r>
            <a:endParaRPr b="0" lang="en-US" sz="112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155" name="Text 42"/>
          <p:cNvSpPr/>
          <p:nvPr/>
        </p:nvSpPr>
        <p:spPr>
          <a:xfrm>
            <a:off x="7251120" y="5111640"/>
            <a:ext cx="429732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zh-CN" sz="1210" spc="-1" strike="noStrike">
                <a:solidFill>
                  <a:srgbClr val="252a34"/>
                </a:solidFill>
                <a:latin typeface="Microsoft YaHei"/>
                <a:ea typeface="Microsoft YaHei"/>
              </a:rPr>
              <a:t>轮廓简洁；</a:t>
            </a:r>
            <a:r>
              <a:rPr b="0" lang="en-US" sz="1210" spc="-1" strike="noStrike">
                <a:solidFill>
                  <a:srgbClr val="252a34"/>
                </a:solidFill>
                <a:latin typeface="Microsoft YaHei"/>
                <a:ea typeface="Microsoft YaHei"/>
              </a:rPr>
              <a:t>L10/L20</a:t>
            </a:r>
            <a:r>
              <a:rPr b="0" lang="zh-CN" sz="1210" spc="-1" strike="noStrike">
                <a:solidFill>
                  <a:srgbClr val="252a34"/>
                </a:solidFill>
                <a:latin typeface="Microsoft YaHei"/>
                <a:ea typeface="Microsoft YaHei"/>
              </a:rPr>
              <a:t>醒目；缩略图识别快</a:t>
            </a:r>
            <a:endParaRPr b="0" lang="en-US" sz="121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156" name="Shape 43"/>
          <p:cNvSpPr/>
          <p:nvPr/>
        </p:nvSpPr>
        <p:spPr>
          <a:xfrm>
            <a:off x="6226920" y="5550480"/>
            <a:ext cx="109440" cy="109440"/>
          </a:xfrm>
          <a:prstGeom prst="roundRect">
            <a:avLst>
              <a:gd name="adj" fmla="val 25000"/>
            </a:avLst>
          </a:prstGeom>
          <a:solidFill>
            <a:srgbClr val="c24f45"/>
          </a:solidFill>
          <a:ln w="12700">
            <a:solidFill>
              <a:srgbClr val="c24f4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DejaVu Sans"/>
            </a:endParaRPr>
          </a:p>
        </p:txBody>
      </p:sp>
      <p:sp>
        <p:nvSpPr>
          <p:cNvPr id="157" name="Text 44"/>
          <p:cNvSpPr/>
          <p:nvPr/>
        </p:nvSpPr>
        <p:spPr>
          <a:xfrm>
            <a:off x="6409800" y="5504760"/>
            <a:ext cx="8042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1120" spc="-1" strike="noStrike">
                <a:solidFill>
                  <a:srgbClr val="c24f45"/>
                </a:solidFill>
                <a:latin typeface="Microsoft YaHei"/>
                <a:ea typeface="Microsoft YaHei"/>
              </a:rPr>
              <a:t>主要风险</a:t>
            </a:r>
            <a:endParaRPr b="0" lang="en-US" sz="112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158" name="Text 45"/>
          <p:cNvSpPr/>
          <p:nvPr/>
        </p:nvSpPr>
        <p:spPr>
          <a:xfrm>
            <a:off x="7251120" y="5495400"/>
            <a:ext cx="429732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zh-CN" sz="1210" spc="-1" strike="noStrike">
                <a:solidFill>
                  <a:srgbClr val="252a34"/>
                </a:solidFill>
                <a:latin typeface="Microsoft YaHei"/>
                <a:ea typeface="Microsoft YaHei"/>
              </a:rPr>
              <a:t>热点位置像示意假设；</a:t>
            </a:r>
            <a:r>
              <a:rPr b="0" lang="en-US" sz="1210" spc="-1" strike="noStrike">
                <a:solidFill>
                  <a:srgbClr val="252a34"/>
                </a:solidFill>
                <a:latin typeface="Microsoft YaHei"/>
                <a:ea typeface="Microsoft YaHei"/>
              </a:rPr>
              <a:t>H bond/F210</a:t>
            </a:r>
            <a:r>
              <a:rPr b="0" lang="zh-CN" sz="1210" spc="-1" strike="noStrike">
                <a:solidFill>
                  <a:srgbClr val="252a34"/>
                </a:solidFill>
                <a:latin typeface="Microsoft YaHei"/>
                <a:ea typeface="Microsoft YaHei"/>
              </a:rPr>
              <a:t>图标容易被读成确定机制</a:t>
            </a:r>
            <a:endParaRPr b="0" lang="en-US" sz="121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159" name="Shape 46"/>
          <p:cNvSpPr/>
          <p:nvPr/>
        </p:nvSpPr>
        <p:spPr>
          <a:xfrm>
            <a:off x="6226920" y="5934600"/>
            <a:ext cx="109440" cy="109440"/>
          </a:xfrm>
          <a:prstGeom prst="roundRect">
            <a:avLst>
              <a:gd name="adj" fmla="val 25000"/>
            </a:avLst>
          </a:prstGeom>
          <a:solidFill>
            <a:srgbClr val="657180"/>
          </a:solidFill>
          <a:ln w="12700">
            <a:solidFill>
              <a:srgbClr val="65718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DejaVu Sans"/>
            </a:endParaRPr>
          </a:p>
        </p:txBody>
      </p:sp>
      <p:sp>
        <p:nvSpPr>
          <p:cNvPr id="160" name="Text 47"/>
          <p:cNvSpPr/>
          <p:nvPr/>
        </p:nvSpPr>
        <p:spPr>
          <a:xfrm>
            <a:off x="6409800" y="5888880"/>
            <a:ext cx="8042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1120" spc="-1" strike="noStrike">
                <a:solidFill>
                  <a:srgbClr val="657180"/>
                </a:solidFill>
                <a:latin typeface="Microsoft YaHei"/>
                <a:ea typeface="Microsoft YaHei"/>
              </a:rPr>
              <a:t>适合</a:t>
            </a:r>
            <a:endParaRPr b="0" lang="en-US" sz="112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161" name="Text 48"/>
          <p:cNvSpPr/>
          <p:nvPr/>
        </p:nvSpPr>
        <p:spPr>
          <a:xfrm>
            <a:off x="7251120" y="5879520"/>
            <a:ext cx="429732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zh-CN" sz="1210" spc="-1" strike="noStrike">
                <a:solidFill>
                  <a:srgbClr val="252a34"/>
                </a:solidFill>
                <a:latin typeface="Microsoft YaHei"/>
                <a:ea typeface="Microsoft YaHei"/>
              </a:rPr>
              <a:t>演讲封面或概念草图，不宜作为数据主导的投稿图</a:t>
            </a:r>
            <a:endParaRPr b="0" lang="en-US" sz="1210" spc="-1" strike="noStrike">
              <a:solidFill>
                <a:srgbClr val="000000"/>
              </a:solidFill>
              <a:latin typeface="DejaVu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Text 0"/>
          <p:cNvSpPr/>
          <p:nvPr/>
        </p:nvSpPr>
        <p:spPr>
          <a:xfrm>
            <a:off x="530280" y="219600"/>
            <a:ext cx="713196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pc="128" strike="noStrike">
                <a:solidFill>
                  <a:srgbClr val="657180"/>
                </a:solidFill>
                <a:latin typeface="Microsoft YaHei"/>
                <a:ea typeface="Microsoft YaHei"/>
              </a:rPr>
              <a:t>MOLECULAR GRID</a:t>
            </a:r>
            <a:endParaRPr b="0" lang="en-US" sz="95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163" name="Text 1"/>
          <p:cNvSpPr/>
          <p:nvPr/>
        </p:nvSpPr>
        <p:spPr>
          <a:xfrm>
            <a:off x="530280" y="484560"/>
            <a:ext cx="1051524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2850" spc="-1" strike="noStrike">
                <a:solidFill>
                  <a:srgbClr val="252a34"/>
                </a:solidFill>
                <a:latin typeface="Microsoft YaHei"/>
                <a:ea typeface="Microsoft YaHei"/>
              </a:rPr>
              <a:t>方案 </a:t>
            </a:r>
            <a:r>
              <a:rPr b="1" lang="en-US" sz="2850" spc="-1" strike="noStrike">
                <a:solidFill>
                  <a:srgbClr val="252a34"/>
                </a:solidFill>
                <a:latin typeface="Microsoft YaHei"/>
                <a:ea typeface="Microsoft YaHei"/>
              </a:rPr>
              <a:t>C</a:t>
            </a:r>
            <a:r>
              <a:rPr b="1" lang="zh-CN" sz="2850" spc="-1" strike="noStrike">
                <a:solidFill>
                  <a:srgbClr val="252a34"/>
                </a:solidFill>
                <a:latin typeface="Microsoft YaHei"/>
                <a:ea typeface="Microsoft YaHei"/>
              </a:rPr>
              <a:t>｜六酶网格：信息最全，也是最拥挤</a:t>
            </a:r>
            <a:endParaRPr b="0" lang="en-US" sz="285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164" name="Shape 2"/>
          <p:cNvSpPr/>
          <p:nvPr/>
        </p:nvSpPr>
        <p:spPr>
          <a:xfrm>
            <a:off x="10716840" y="283320"/>
            <a:ext cx="493560" cy="228240"/>
          </a:xfrm>
          <a:prstGeom prst="roundRect">
            <a:avLst>
              <a:gd name="adj" fmla="val 20000"/>
            </a:avLst>
          </a:prstGeom>
          <a:solidFill>
            <a:srgbClr val="2583b6"/>
          </a:solidFill>
          <a:ln w="12700">
            <a:solidFill>
              <a:srgbClr val="2583b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DejaVu Sans"/>
            </a:endParaRPr>
          </a:p>
        </p:txBody>
      </p:sp>
      <p:sp>
        <p:nvSpPr>
          <p:cNvPr id="165" name="Text 3"/>
          <p:cNvSpPr/>
          <p:nvPr/>
        </p:nvSpPr>
        <p:spPr>
          <a:xfrm>
            <a:off x="10716840" y="292680"/>
            <a:ext cx="49356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-1" strike="noStrike">
                <a:solidFill>
                  <a:srgbClr val="ffffff"/>
                </a:solidFill>
                <a:latin typeface="Microsoft YaHei"/>
                <a:ea typeface="Microsoft YaHei"/>
              </a:rPr>
              <a:t>L10</a:t>
            </a:r>
            <a:endParaRPr b="0" lang="en-US" sz="85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166" name="Shape 4"/>
          <p:cNvSpPr/>
          <p:nvPr/>
        </p:nvSpPr>
        <p:spPr>
          <a:xfrm>
            <a:off x="11256120" y="283320"/>
            <a:ext cx="493560" cy="228240"/>
          </a:xfrm>
          <a:prstGeom prst="roundRect">
            <a:avLst>
              <a:gd name="adj" fmla="val 20000"/>
            </a:avLst>
          </a:prstGeom>
          <a:solidFill>
            <a:srgbClr val="d66a1f"/>
          </a:solidFill>
          <a:ln w="12700">
            <a:solidFill>
              <a:srgbClr val="d66a1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DejaVu Sans"/>
            </a:endParaRPr>
          </a:p>
        </p:txBody>
      </p:sp>
      <p:sp>
        <p:nvSpPr>
          <p:cNvPr id="167" name="Text 5"/>
          <p:cNvSpPr/>
          <p:nvPr/>
        </p:nvSpPr>
        <p:spPr>
          <a:xfrm>
            <a:off x="11256120" y="292680"/>
            <a:ext cx="49356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-1" strike="noStrike">
                <a:solidFill>
                  <a:srgbClr val="ffffff"/>
                </a:solidFill>
                <a:latin typeface="Microsoft YaHei"/>
                <a:ea typeface="Microsoft YaHei"/>
              </a:rPr>
              <a:t>L20</a:t>
            </a:r>
            <a:endParaRPr b="0" lang="en-US" sz="85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168" name="Shape 6"/>
          <p:cNvSpPr/>
          <p:nvPr/>
        </p:nvSpPr>
        <p:spPr>
          <a:xfrm>
            <a:off x="11192040" y="397440"/>
            <a:ext cx="73080" cy="360"/>
          </a:xfrm>
          <a:prstGeom prst="line">
            <a:avLst/>
          </a:prstGeom>
          <a:ln w="15240">
            <a:solidFill>
              <a:srgbClr val="d7dee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169" name="Text 7"/>
          <p:cNvSpPr/>
          <p:nvPr/>
        </p:nvSpPr>
        <p:spPr>
          <a:xfrm>
            <a:off x="502920" y="6528960"/>
            <a:ext cx="493740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80" spc="-1" strike="noStrike">
                <a:solidFill>
                  <a:srgbClr val="8a96a3"/>
                </a:solidFill>
                <a:latin typeface="Microsoft YaHei"/>
                <a:ea typeface="Microsoft YaHei"/>
              </a:rPr>
              <a:t>PETase manuscript · TOC graphic review</a:t>
            </a:r>
            <a:endParaRPr b="0" lang="en-US" sz="88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170" name="Text 8"/>
          <p:cNvSpPr/>
          <p:nvPr/>
        </p:nvSpPr>
        <p:spPr>
          <a:xfrm>
            <a:off x="11247120" y="6501240"/>
            <a:ext cx="4384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20" spc="-1" strike="noStrike">
                <a:solidFill>
                  <a:srgbClr val="8a96a3"/>
                </a:solidFill>
                <a:latin typeface="Microsoft YaHei"/>
                <a:ea typeface="Microsoft YaHei"/>
              </a:rPr>
              <a:t>04</a:t>
            </a:r>
            <a:endParaRPr b="0" lang="en-US" sz="92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171" name="Shape 9"/>
          <p:cNvSpPr/>
          <p:nvPr/>
        </p:nvSpPr>
        <p:spPr>
          <a:xfrm>
            <a:off x="576000" y="1143000"/>
            <a:ext cx="347040" cy="347040"/>
          </a:xfrm>
          <a:prstGeom prst="ellipse">
            <a:avLst/>
          </a:prstGeom>
          <a:solidFill>
            <a:srgbClr val="8064a2"/>
          </a:solidFill>
          <a:ln w="12700">
            <a:solidFill>
              <a:srgbClr val="8064a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DejaVu Sans"/>
            </a:endParaRPr>
          </a:p>
        </p:txBody>
      </p:sp>
      <p:sp>
        <p:nvSpPr>
          <p:cNvPr id="172" name="Text 10"/>
          <p:cNvSpPr/>
          <p:nvPr/>
        </p:nvSpPr>
        <p:spPr>
          <a:xfrm>
            <a:off x="576000" y="1152000"/>
            <a:ext cx="347040" cy="28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-1" strike="noStrike">
                <a:solidFill>
                  <a:srgbClr val="ffffff"/>
                </a:solidFill>
                <a:latin typeface="Microsoft YaHei"/>
                <a:ea typeface="Microsoft YaHei"/>
              </a:rPr>
              <a:t>C</a:t>
            </a:r>
            <a:endParaRPr b="0" lang="en-US" sz="115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173" name="Text 11"/>
          <p:cNvSpPr/>
          <p:nvPr/>
        </p:nvSpPr>
        <p:spPr>
          <a:xfrm>
            <a:off x="1033200" y="1124640"/>
            <a:ext cx="42973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1850" spc="-1" strike="noStrike">
                <a:solidFill>
                  <a:srgbClr val="252a34"/>
                </a:solidFill>
                <a:latin typeface="Microsoft YaHei"/>
                <a:ea typeface="Microsoft YaHei"/>
              </a:rPr>
              <a:t>六酶结构 </a:t>
            </a:r>
            <a:r>
              <a:rPr b="1" lang="en-US" sz="1850" spc="-1" strike="noStrike">
                <a:solidFill>
                  <a:srgbClr val="252a34"/>
                </a:solidFill>
                <a:latin typeface="Microsoft YaHei"/>
                <a:ea typeface="Microsoft YaHei"/>
              </a:rPr>
              <a:t>+ </a:t>
            </a:r>
            <a:r>
              <a:rPr b="1" lang="zh-CN" sz="1850" spc="-1" strike="noStrike">
                <a:solidFill>
                  <a:srgbClr val="252a34"/>
                </a:solidFill>
                <a:latin typeface="Microsoft YaHei"/>
                <a:ea typeface="Microsoft YaHei"/>
              </a:rPr>
              <a:t>四个局部事件</a:t>
            </a:r>
            <a:endParaRPr b="0" lang="en-US" sz="185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174" name="Shape 12"/>
          <p:cNvSpPr/>
          <p:nvPr/>
        </p:nvSpPr>
        <p:spPr>
          <a:xfrm>
            <a:off x="576000" y="1618560"/>
            <a:ext cx="7452000" cy="4014000"/>
          </a:xfrm>
          <a:prstGeom prst="roundRect">
            <a:avLst>
              <a:gd name="adj" fmla="val 1822"/>
            </a:avLst>
          </a:prstGeom>
          <a:solidFill>
            <a:srgbClr val="ffffff"/>
          </a:solidFill>
          <a:ln w="10160">
            <a:solidFill>
              <a:srgbClr val="d8dee4"/>
            </a:solidFill>
            <a:round/>
          </a:ln>
          <a:effectLst>
            <a:outerShdw algn="bl" blurRad="25560" dir="8100000" dist="12218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DejaVu Sans"/>
            </a:endParaRPr>
          </a:p>
        </p:txBody>
      </p:sp>
      <p:pic>
        <p:nvPicPr>
          <p:cNvPr id="175" name="Image 0" descr="Option C: molecular grid"/>
          <p:cNvPicPr/>
          <p:nvPr/>
        </p:nvPicPr>
        <p:blipFill>
          <a:blip r:embed="rId1"/>
          <a:stretch/>
        </p:blipFill>
        <p:spPr>
          <a:xfrm>
            <a:off x="649080" y="1691640"/>
            <a:ext cx="7305840" cy="3867480"/>
          </a:xfrm>
          <a:prstGeom prst="rect">
            <a:avLst/>
          </a:prstGeom>
          <a:ln w="0">
            <a:noFill/>
          </a:ln>
        </p:spPr>
      </p:pic>
      <p:sp>
        <p:nvSpPr>
          <p:cNvPr id="176" name="Shape 13"/>
          <p:cNvSpPr/>
          <p:nvPr/>
        </p:nvSpPr>
        <p:spPr>
          <a:xfrm>
            <a:off x="8321040" y="1143000"/>
            <a:ext cx="3254760" cy="5028840"/>
          </a:xfrm>
          <a:prstGeom prst="roundRect">
            <a:avLst>
              <a:gd name="adj" fmla="val 2809"/>
            </a:avLst>
          </a:prstGeom>
          <a:solidFill>
            <a:srgbClr val="ffffff"/>
          </a:solidFill>
          <a:ln w="10160">
            <a:solidFill>
              <a:srgbClr val="d8dee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177" name="Shape 14"/>
          <p:cNvSpPr/>
          <p:nvPr/>
        </p:nvSpPr>
        <p:spPr>
          <a:xfrm>
            <a:off x="8595360" y="1389960"/>
            <a:ext cx="1243080" cy="292320"/>
          </a:xfrm>
          <a:prstGeom prst="roundRect">
            <a:avLst>
              <a:gd name="adj" fmla="val 25000"/>
            </a:avLst>
          </a:prstGeom>
          <a:solidFill>
            <a:srgbClr val="8064a2"/>
          </a:solidFill>
          <a:ln w="7620">
            <a:solidFill>
              <a:srgbClr val="8064a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DejaVu Sans"/>
            </a:endParaRPr>
          </a:p>
        </p:txBody>
      </p:sp>
      <p:sp>
        <p:nvSpPr>
          <p:cNvPr id="178" name="Text 15"/>
          <p:cNvSpPr/>
          <p:nvPr/>
        </p:nvSpPr>
        <p:spPr>
          <a:xfrm>
            <a:off x="8650080" y="1398960"/>
            <a:ext cx="1133640" cy="24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960" spc="-1" strike="noStrike">
                <a:solidFill>
                  <a:srgbClr val="ffffff"/>
                </a:solidFill>
                <a:latin typeface="Microsoft YaHei"/>
                <a:ea typeface="Microsoft YaHei"/>
              </a:rPr>
              <a:t>分子细节冠军</a:t>
            </a:r>
            <a:endParaRPr b="0" lang="en-US" sz="96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179" name="Shape 16"/>
          <p:cNvSpPr/>
          <p:nvPr/>
        </p:nvSpPr>
        <p:spPr>
          <a:xfrm>
            <a:off x="9966960" y="1389960"/>
            <a:ext cx="1225080" cy="292320"/>
          </a:xfrm>
          <a:prstGeom prst="roundRect">
            <a:avLst>
              <a:gd name="adj" fmla="val 25000"/>
            </a:avLst>
          </a:prstGeom>
          <a:solidFill>
            <a:srgbClr val="f9eae8"/>
          </a:solidFill>
          <a:ln w="7620">
            <a:solidFill>
              <a:srgbClr val="e8c3b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180" name="Text 17"/>
          <p:cNvSpPr/>
          <p:nvPr/>
        </p:nvSpPr>
        <p:spPr>
          <a:xfrm>
            <a:off x="10021680" y="1398960"/>
            <a:ext cx="1115280" cy="24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960" spc="-1" strike="noStrike">
                <a:solidFill>
                  <a:srgbClr val="c24f45"/>
                </a:solidFill>
                <a:latin typeface="Microsoft YaHei"/>
                <a:ea typeface="Microsoft YaHei"/>
              </a:rPr>
              <a:t>缩略图失守</a:t>
            </a:r>
            <a:endParaRPr b="0" lang="en-US" sz="96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181" name="Shape 18"/>
          <p:cNvSpPr/>
          <p:nvPr/>
        </p:nvSpPr>
        <p:spPr>
          <a:xfrm>
            <a:off x="8577000" y="1956960"/>
            <a:ext cx="109440" cy="109440"/>
          </a:xfrm>
          <a:prstGeom prst="roundRect">
            <a:avLst>
              <a:gd name="adj" fmla="val 25000"/>
            </a:avLst>
          </a:prstGeom>
          <a:solidFill>
            <a:srgbClr val="8064a2"/>
          </a:solidFill>
          <a:ln w="12700">
            <a:solidFill>
              <a:srgbClr val="8064a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DejaVu Sans"/>
            </a:endParaRPr>
          </a:p>
        </p:txBody>
      </p:sp>
      <p:sp>
        <p:nvSpPr>
          <p:cNvPr id="182" name="Text 19"/>
          <p:cNvSpPr/>
          <p:nvPr/>
        </p:nvSpPr>
        <p:spPr>
          <a:xfrm>
            <a:off x="8759880" y="1911240"/>
            <a:ext cx="8042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1120" spc="-1" strike="noStrike">
                <a:solidFill>
                  <a:srgbClr val="8064a2"/>
                </a:solidFill>
                <a:latin typeface="Microsoft YaHei"/>
                <a:ea typeface="Microsoft YaHei"/>
              </a:rPr>
              <a:t>设计意图</a:t>
            </a:r>
            <a:endParaRPr b="0" lang="en-US" sz="112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183" name="Text 20"/>
          <p:cNvSpPr/>
          <p:nvPr/>
        </p:nvSpPr>
        <p:spPr>
          <a:xfrm>
            <a:off x="9601200" y="1901880"/>
            <a:ext cx="1672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zh-CN" sz="1210" spc="-1" strike="noStrike">
                <a:solidFill>
                  <a:srgbClr val="252a34"/>
                </a:solidFill>
                <a:latin typeface="Microsoft YaHei"/>
                <a:ea typeface="Microsoft YaHei"/>
              </a:rPr>
              <a:t>覆盖六酶界面、链长重排和</a:t>
            </a:r>
            <a:r>
              <a:rPr b="0" lang="en-US" sz="1210" spc="-1" strike="noStrike">
                <a:solidFill>
                  <a:srgbClr val="252a34"/>
                </a:solidFill>
                <a:latin typeface="Microsoft YaHei"/>
                <a:ea typeface="Microsoft YaHei"/>
              </a:rPr>
              <a:t>4</a:t>
            </a:r>
            <a:r>
              <a:rPr b="0" lang="zh-CN" sz="1210" spc="-1" strike="noStrike">
                <a:solidFill>
                  <a:srgbClr val="252a34"/>
                </a:solidFill>
                <a:latin typeface="Microsoft YaHei"/>
                <a:ea typeface="Microsoft YaHei"/>
              </a:rPr>
              <a:t>个局部事件。</a:t>
            </a:r>
            <a:endParaRPr b="0" lang="en-US" sz="121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184" name="Shape 21"/>
          <p:cNvSpPr/>
          <p:nvPr/>
        </p:nvSpPr>
        <p:spPr>
          <a:xfrm>
            <a:off x="8577000" y="2633400"/>
            <a:ext cx="109440" cy="109440"/>
          </a:xfrm>
          <a:prstGeom prst="roundRect">
            <a:avLst>
              <a:gd name="adj" fmla="val 25000"/>
            </a:avLst>
          </a:prstGeom>
          <a:solidFill>
            <a:srgbClr val="2f8b62"/>
          </a:solidFill>
          <a:ln w="12700">
            <a:solidFill>
              <a:srgbClr val="2f8b6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DejaVu Sans"/>
            </a:endParaRPr>
          </a:p>
        </p:txBody>
      </p:sp>
      <p:sp>
        <p:nvSpPr>
          <p:cNvPr id="185" name="Text 22"/>
          <p:cNvSpPr/>
          <p:nvPr/>
        </p:nvSpPr>
        <p:spPr>
          <a:xfrm>
            <a:off x="8759880" y="2587680"/>
            <a:ext cx="8042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1120" spc="-1" strike="noStrike">
                <a:solidFill>
                  <a:srgbClr val="2f8b62"/>
                </a:solidFill>
                <a:latin typeface="Microsoft YaHei"/>
                <a:ea typeface="Microsoft YaHei"/>
              </a:rPr>
              <a:t>亮点</a:t>
            </a:r>
            <a:endParaRPr b="0" lang="en-US" sz="112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186" name="Text 23"/>
          <p:cNvSpPr/>
          <p:nvPr/>
        </p:nvSpPr>
        <p:spPr>
          <a:xfrm>
            <a:off x="9601200" y="2578680"/>
            <a:ext cx="1672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zh-CN" sz="1210" spc="-1" strike="noStrike">
                <a:solidFill>
                  <a:srgbClr val="252a34"/>
                </a:solidFill>
                <a:latin typeface="Microsoft YaHei"/>
                <a:ea typeface="Microsoft YaHei"/>
              </a:rPr>
              <a:t>真实结构丰富，便于项目内逐项核对。</a:t>
            </a:r>
            <a:endParaRPr b="0" lang="en-US" sz="121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187" name="Shape 24"/>
          <p:cNvSpPr/>
          <p:nvPr/>
        </p:nvSpPr>
        <p:spPr>
          <a:xfrm>
            <a:off x="8577000" y="3310200"/>
            <a:ext cx="109440" cy="109440"/>
          </a:xfrm>
          <a:prstGeom prst="roundRect">
            <a:avLst>
              <a:gd name="adj" fmla="val 25000"/>
            </a:avLst>
          </a:prstGeom>
          <a:solidFill>
            <a:srgbClr val="c24f45"/>
          </a:solidFill>
          <a:ln w="12700">
            <a:solidFill>
              <a:srgbClr val="c24f4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DejaVu Sans"/>
            </a:endParaRPr>
          </a:p>
        </p:txBody>
      </p:sp>
      <p:sp>
        <p:nvSpPr>
          <p:cNvPr id="188" name="Text 25"/>
          <p:cNvSpPr/>
          <p:nvPr/>
        </p:nvSpPr>
        <p:spPr>
          <a:xfrm>
            <a:off x="8759880" y="3264480"/>
            <a:ext cx="8042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1120" spc="-1" strike="noStrike">
                <a:solidFill>
                  <a:srgbClr val="c24f45"/>
                </a:solidFill>
                <a:latin typeface="Microsoft YaHei"/>
                <a:ea typeface="Microsoft YaHei"/>
              </a:rPr>
              <a:t>风险</a:t>
            </a:r>
            <a:endParaRPr b="0" lang="en-US" sz="112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189" name="Text 26"/>
          <p:cNvSpPr/>
          <p:nvPr/>
        </p:nvSpPr>
        <p:spPr>
          <a:xfrm>
            <a:off x="9601200" y="3255120"/>
            <a:ext cx="167292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zh-CN" sz="1210" spc="-1" strike="noStrike">
                <a:solidFill>
                  <a:srgbClr val="252a34"/>
                </a:solidFill>
                <a:latin typeface="Microsoft YaHei"/>
                <a:ea typeface="Microsoft YaHei"/>
              </a:rPr>
              <a:t>层级扁平；局部放大图抢过群体结果；缩小后文字竞争。</a:t>
            </a:r>
            <a:endParaRPr b="0" lang="en-US" sz="121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190" name="Text 27"/>
          <p:cNvSpPr/>
          <p:nvPr/>
        </p:nvSpPr>
        <p:spPr>
          <a:xfrm>
            <a:off x="8595360" y="4325040"/>
            <a:ext cx="25599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1450" spc="-1" strike="noStrike">
                <a:solidFill>
                  <a:srgbClr val="252a34"/>
                </a:solidFill>
                <a:latin typeface="Microsoft YaHei"/>
                <a:ea typeface="Microsoft YaHei"/>
              </a:rPr>
              <a:t>我们的判断</a:t>
            </a:r>
            <a:endParaRPr b="0" lang="en-US" sz="145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191" name="Text 28"/>
          <p:cNvSpPr/>
          <p:nvPr/>
        </p:nvSpPr>
        <p:spPr>
          <a:xfrm>
            <a:off x="8595360" y="4645080"/>
            <a:ext cx="2587320" cy="52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1320" spc="-1" strike="noStrike">
                <a:solidFill>
                  <a:srgbClr val="252a34"/>
                </a:solidFill>
                <a:latin typeface="Microsoft YaHei"/>
                <a:ea typeface="Microsoft YaHei"/>
              </a:rPr>
              <a:t>更像一张“迷你结果总图”，而不是单一命题的 </a:t>
            </a:r>
            <a:r>
              <a:rPr b="1" lang="en-US" sz="1320" spc="-1" strike="noStrike">
                <a:solidFill>
                  <a:srgbClr val="252a34"/>
                </a:solidFill>
                <a:latin typeface="Microsoft YaHei"/>
                <a:ea typeface="Microsoft YaHei"/>
              </a:rPr>
              <a:t>TOC graphic</a:t>
            </a:r>
            <a:r>
              <a:rPr b="1" lang="zh-CN" sz="1320" spc="-1" strike="noStrike">
                <a:solidFill>
                  <a:srgbClr val="252a34"/>
                </a:solidFill>
                <a:latin typeface="Microsoft YaHei"/>
                <a:ea typeface="Microsoft YaHei"/>
              </a:rPr>
              <a:t>。</a:t>
            </a:r>
            <a:endParaRPr b="0" lang="en-US" sz="132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192" name="Text 29"/>
          <p:cNvSpPr/>
          <p:nvPr/>
        </p:nvSpPr>
        <p:spPr>
          <a:xfrm>
            <a:off x="8549640" y="5257800"/>
            <a:ext cx="14169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zh-CN" sz="1120" spc="-1" strike="noStrike">
                <a:solidFill>
                  <a:srgbClr val="657180"/>
                </a:solidFill>
                <a:latin typeface="Microsoft YaHei"/>
                <a:ea typeface="Microsoft YaHei"/>
              </a:rPr>
              <a:t>科学准确</a:t>
            </a:r>
            <a:endParaRPr b="0" lang="en-US" sz="112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193" name="Shape 30"/>
          <p:cNvSpPr/>
          <p:nvPr/>
        </p:nvSpPr>
        <p:spPr>
          <a:xfrm>
            <a:off x="10031040" y="5303520"/>
            <a:ext cx="182520" cy="109440"/>
          </a:xfrm>
          <a:prstGeom prst="roundRect">
            <a:avLst>
              <a:gd name="adj" fmla="val 33333"/>
            </a:avLst>
          </a:prstGeom>
          <a:solidFill>
            <a:srgbClr val="e2e7eb"/>
          </a:solidFill>
          <a:ln w="12700">
            <a:solidFill>
              <a:srgbClr val="e2e7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3560" bIns="4356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194" name="Shape 31"/>
          <p:cNvSpPr/>
          <p:nvPr/>
        </p:nvSpPr>
        <p:spPr>
          <a:xfrm>
            <a:off x="10031040" y="5303520"/>
            <a:ext cx="182520" cy="109440"/>
          </a:xfrm>
          <a:prstGeom prst="roundRect">
            <a:avLst>
              <a:gd name="adj" fmla="val 33333"/>
            </a:avLst>
          </a:prstGeom>
          <a:solidFill>
            <a:srgbClr val="2583b6"/>
          </a:solidFill>
          <a:ln w="12700">
            <a:solidFill>
              <a:srgbClr val="2583b6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3560" bIns="4356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DejaVu Sans"/>
            </a:endParaRPr>
          </a:p>
        </p:txBody>
      </p:sp>
      <p:sp>
        <p:nvSpPr>
          <p:cNvPr id="195" name="Shape 32"/>
          <p:cNvSpPr/>
          <p:nvPr/>
        </p:nvSpPr>
        <p:spPr>
          <a:xfrm>
            <a:off x="10278000" y="5303520"/>
            <a:ext cx="182520" cy="109440"/>
          </a:xfrm>
          <a:prstGeom prst="roundRect">
            <a:avLst>
              <a:gd name="adj" fmla="val 33333"/>
            </a:avLst>
          </a:prstGeom>
          <a:solidFill>
            <a:srgbClr val="e2e7eb"/>
          </a:solidFill>
          <a:ln w="12700">
            <a:solidFill>
              <a:srgbClr val="e2e7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3560" bIns="4356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196" name="Shape 33"/>
          <p:cNvSpPr/>
          <p:nvPr/>
        </p:nvSpPr>
        <p:spPr>
          <a:xfrm>
            <a:off x="10278000" y="5303520"/>
            <a:ext cx="182520" cy="109440"/>
          </a:xfrm>
          <a:prstGeom prst="roundRect">
            <a:avLst>
              <a:gd name="adj" fmla="val 33333"/>
            </a:avLst>
          </a:prstGeom>
          <a:solidFill>
            <a:srgbClr val="2583b6"/>
          </a:solidFill>
          <a:ln w="12700">
            <a:solidFill>
              <a:srgbClr val="2583b6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3560" bIns="4356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DejaVu Sans"/>
            </a:endParaRPr>
          </a:p>
        </p:txBody>
      </p:sp>
      <p:sp>
        <p:nvSpPr>
          <p:cNvPr id="197" name="Shape 34"/>
          <p:cNvSpPr/>
          <p:nvPr/>
        </p:nvSpPr>
        <p:spPr>
          <a:xfrm>
            <a:off x="10524600" y="5303520"/>
            <a:ext cx="182520" cy="109440"/>
          </a:xfrm>
          <a:prstGeom prst="roundRect">
            <a:avLst>
              <a:gd name="adj" fmla="val 33333"/>
            </a:avLst>
          </a:prstGeom>
          <a:solidFill>
            <a:srgbClr val="e2e7eb"/>
          </a:solidFill>
          <a:ln w="12700">
            <a:solidFill>
              <a:srgbClr val="e2e7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3560" bIns="4356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198" name="Shape 35"/>
          <p:cNvSpPr/>
          <p:nvPr/>
        </p:nvSpPr>
        <p:spPr>
          <a:xfrm>
            <a:off x="10524600" y="5303520"/>
            <a:ext cx="182520" cy="109440"/>
          </a:xfrm>
          <a:prstGeom prst="roundRect">
            <a:avLst>
              <a:gd name="adj" fmla="val 33333"/>
            </a:avLst>
          </a:prstGeom>
          <a:solidFill>
            <a:srgbClr val="2583b6"/>
          </a:solidFill>
          <a:ln w="12700">
            <a:solidFill>
              <a:srgbClr val="2583b6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3560" bIns="4356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DejaVu Sans"/>
            </a:endParaRPr>
          </a:p>
        </p:txBody>
      </p:sp>
      <p:sp>
        <p:nvSpPr>
          <p:cNvPr id="199" name="Shape 36"/>
          <p:cNvSpPr/>
          <p:nvPr/>
        </p:nvSpPr>
        <p:spPr>
          <a:xfrm>
            <a:off x="10771560" y="5303520"/>
            <a:ext cx="182520" cy="109440"/>
          </a:xfrm>
          <a:prstGeom prst="roundRect">
            <a:avLst>
              <a:gd name="adj" fmla="val 33333"/>
            </a:avLst>
          </a:prstGeom>
          <a:solidFill>
            <a:srgbClr val="e2e7eb"/>
          </a:solidFill>
          <a:ln w="12700">
            <a:solidFill>
              <a:srgbClr val="e2e7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3560" bIns="4356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200" name="Shape 37"/>
          <p:cNvSpPr/>
          <p:nvPr/>
        </p:nvSpPr>
        <p:spPr>
          <a:xfrm>
            <a:off x="11018520" y="5303520"/>
            <a:ext cx="182520" cy="109440"/>
          </a:xfrm>
          <a:prstGeom prst="roundRect">
            <a:avLst>
              <a:gd name="adj" fmla="val 33333"/>
            </a:avLst>
          </a:prstGeom>
          <a:solidFill>
            <a:srgbClr val="e2e7eb"/>
          </a:solidFill>
          <a:ln w="12700">
            <a:solidFill>
              <a:srgbClr val="e2e7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3560" bIns="4356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201" name="Text 38"/>
          <p:cNvSpPr/>
          <p:nvPr/>
        </p:nvSpPr>
        <p:spPr>
          <a:xfrm>
            <a:off x="11292840" y="5248800"/>
            <a:ext cx="25560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40" spc="-1" strike="noStrike">
                <a:solidFill>
                  <a:srgbClr val="252a34"/>
                </a:solidFill>
                <a:latin typeface="Microsoft YaHei"/>
                <a:ea typeface="Microsoft YaHei"/>
              </a:rPr>
              <a:t>3.0</a:t>
            </a:r>
            <a:endParaRPr b="0" lang="en-US" sz="104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202" name="Text 39"/>
          <p:cNvSpPr/>
          <p:nvPr/>
        </p:nvSpPr>
        <p:spPr>
          <a:xfrm>
            <a:off x="8549640" y="5541120"/>
            <a:ext cx="14169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zh-CN" sz="1120" spc="-1" strike="noStrike">
                <a:solidFill>
                  <a:srgbClr val="657180"/>
                </a:solidFill>
                <a:latin typeface="Microsoft YaHei"/>
                <a:ea typeface="Microsoft YaHei"/>
              </a:rPr>
              <a:t>三秒理解</a:t>
            </a:r>
            <a:endParaRPr b="0" lang="en-US" sz="112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203" name="Shape 40"/>
          <p:cNvSpPr/>
          <p:nvPr/>
        </p:nvSpPr>
        <p:spPr>
          <a:xfrm>
            <a:off x="10031040" y="5586840"/>
            <a:ext cx="182520" cy="109440"/>
          </a:xfrm>
          <a:prstGeom prst="roundRect">
            <a:avLst>
              <a:gd name="adj" fmla="val 33333"/>
            </a:avLst>
          </a:prstGeom>
          <a:solidFill>
            <a:srgbClr val="e2e7eb"/>
          </a:solidFill>
          <a:ln w="12700">
            <a:solidFill>
              <a:srgbClr val="e2e7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3560" bIns="4356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204" name="Shape 41"/>
          <p:cNvSpPr/>
          <p:nvPr/>
        </p:nvSpPr>
        <p:spPr>
          <a:xfrm>
            <a:off x="10031040" y="5586840"/>
            <a:ext cx="182520" cy="109440"/>
          </a:xfrm>
          <a:prstGeom prst="roundRect">
            <a:avLst>
              <a:gd name="adj" fmla="val 33333"/>
            </a:avLst>
          </a:prstGeom>
          <a:solidFill>
            <a:srgbClr val="d66a1f"/>
          </a:solidFill>
          <a:ln w="12700">
            <a:solidFill>
              <a:srgbClr val="d66a1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3560" bIns="4356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DejaVu Sans"/>
            </a:endParaRPr>
          </a:p>
        </p:txBody>
      </p:sp>
      <p:sp>
        <p:nvSpPr>
          <p:cNvPr id="205" name="Shape 42"/>
          <p:cNvSpPr/>
          <p:nvPr/>
        </p:nvSpPr>
        <p:spPr>
          <a:xfrm>
            <a:off x="10278000" y="5586840"/>
            <a:ext cx="182520" cy="109440"/>
          </a:xfrm>
          <a:prstGeom prst="roundRect">
            <a:avLst>
              <a:gd name="adj" fmla="val 33333"/>
            </a:avLst>
          </a:prstGeom>
          <a:solidFill>
            <a:srgbClr val="e2e7eb"/>
          </a:solidFill>
          <a:ln w="12700">
            <a:solidFill>
              <a:srgbClr val="e2e7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3560" bIns="4356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206" name="Shape 43"/>
          <p:cNvSpPr/>
          <p:nvPr/>
        </p:nvSpPr>
        <p:spPr>
          <a:xfrm>
            <a:off x="10278000" y="5586840"/>
            <a:ext cx="182520" cy="109440"/>
          </a:xfrm>
          <a:prstGeom prst="roundRect">
            <a:avLst>
              <a:gd name="adj" fmla="val 33333"/>
            </a:avLst>
          </a:prstGeom>
          <a:solidFill>
            <a:srgbClr val="d66a1f"/>
          </a:solidFill>
          <a:ln w="12700">
            <a:solidFill>
              <a:srgbClr val="d66a1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3560" bIns="4356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DejaVu Sans"/>
            </a:endParaRPr>
          </a:p>
        </p:txBody>
      </p:sp>
      <p:sp>
        <p:nvSpPr>
          <p:cNvPr id="207" name="Shape 44"/>
          <p:cNvSpPr/>
          <p:nvPr/>
        </p:nvSpPr>
        <p:spPr>
          <a:xfrm>
            <a:off x="10524600" y="5586840"/>
            <a:ext cx="182520" cy="109440"/>
          </a:xfrm>
          <a:prstGeom prst="roundRect">
            <a:avLst>
              <a:gd name="adj" fmla="val 33333"/>
            </a:avLst>
          </a:prstGeom>
          <a:solidFill>
            <a:srgbClr val="e2e7eb"/>
          </a:solidFill>
          <a:ln w="12700">
            <a:solidFill>
              <a:srgbClr val="e2e7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3560" bIns="4356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208" name="Shape 45"/>
          <p:cNvSpPr/>
          <p:nvPr/>
        </p:nvSpPr>
        <p:spPr>
          <a:xfrm>
            <a:off x="10524600" y="5586840"/>
            <a:ext cx="91080" cy="109440"/>
          </a:xfrm>
          <a:prstGeom prst="rect">
            <a:avLst/>
          </a:prstGeom>
          <a:solidFill>
            <a:srgbClr val="d66a1f"/>
          </a:solidFill>
          <a:ln w="12700">
            <a:solidFill>
              <a:srgbClr val="d66a1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DejaVu Sans"/>
            </a:endParaRPr>
          </a:p>
        </p:txBody>
      </p:sp>
      <p:sp>
        <p:nvSpPr>
          <p:cNvPr id="209" name="Shape 46"/>
          <p:cNvSpPr/>
          <p:nvPr/>
        </p:nvSpPr>
        <p:spPr>
          <a:xfrm>
            <a:off x="10771560" y="5586840"/>
            <a:ext cx="182520" cy="109440"/>
          </a:xfrm>
          <a:prstGeom prst="roundRect">
            <a:avLst>
              <a:gd name="adj" fmla="val 33333"/>
            </a:avLst>
          </a:prstGeom>
          <a:solidFill>
            <a:srgbClr val="e2e7eb"/>
          </a:solidFill>
          <a:ln w="12700">
            <a:solidFill>
              <a:srgbClr val="e2e7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3560" bIns="4356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210" name="Shape 47"/>
          <p:cNvSpPr/>
          <p:nvPr/>
        </p:nvSpPr>
        <p:spPr>
          <a:xfrm>
            <a:off x="11018520" y="5586840"/>
            <a:ext cx="182520" cy="109440"/>
          </a:xfrm>
          <a:prstGeom prst="roundRect">
            <a:avLst>
              <a:gd name="adj" fmla="val 33333"/>
            </a:avLst>
          </a:prstGeom>
          <a:solidFill>
            <a:srgbClr val="e2e7eb"/>
          </a:solidFill>
          <a:ln w="12700">
            <a:solidFill>
              <a:srgbClr val="e2e7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3560" bIns="4356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211" name="Text 48"/>
          <p:cNvSpPr/>
          <p:nvPr/>
        </p:nvSpPr>
        <p:spPr>
          <a:xfrm>
            <a:off x="11292840" y="5532120"/>
            <a:ext cx="25560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40" spc="-1" strike="noStrike">
                <a:solidFill>
                  <a:srgbClr val="252a34"/>
                </a:solidFill>
                <a:latin typeface="Microsoft YaHei"/>
                <a:ea typeface="Microsoft YaHei"/>
              </a:rPr>
              <a:t>2.5</a:t>
            </a:r>
            <a:endParaRPr b="0" lang="en-US" sz="104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212" name="Text 49"/>
          <p:cNvSpPr/>
          <p:nvPr/>
        </p:nvSpPr>
        <p:spPr>
          <a:xfrm>
            <a:off x="8549640" y="5824800"/>
            <a:ext cx="14169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zh-CN" sz="1120" spc="-1" strike="noStrike">
                <a:solidFill>
                  <a:srgbClr val="657180"/>
                </a:solidFill>
                <a:latin typeface="Microsoft YaHei"/>
                <a:ea typeface="Microsoft YaHei"/>
              </a:rPr>
              <a:t>缩略可读</a:t>
            </a:r>
            <a:endParaRPr b="0" lang="en-US" sz="112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213" name="Shape 50"/>
          <p:cNvSpPr/>
          <p:nvPr/>
        </p:nvSpPr>
        <p:spPr>
          <a:xfrm>
            <a:off x="10031040" y="5870520"/>
            <a:ext cx="182520" cy="109440"/>
          </a:xfrm>
          <a:prstGeom prst="roundRect">
            <a:avLst>
              <a:gd name="adj" fmla="val 33333"/>
            </a:avLst>
          </a:prstGeom>
          <a:solidFill>
            <a:srgbClr val="e2e7eb"/>
          </a:solidFill>
          <a:ln w="12700">
            <a:solidFill>
              <a:srgbClr val="e2e7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3560" bIns="4356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214" name="Shape 51"/>
          <p:cNvSpPr/>
          <p:nvPr/>
        </p:nvSpPr>
        <p:spPr>
          <a:xfrm>
            <a:off x="10031040" y="5870520"/>
            <a:ext cx="182520" cy="109440"/>
          </a:xfrm>
          <a:prstGeom prst="roundRect">
            <a:avLst>
              <a:gd name="adj" fmla="val 33333"/>
            </a:avLst>
          </a:prstGeom>
          <a:solidFill>
            <a:srgbClr val="c24f45"/>
          </a:solidFill>
          <a:ln w="12700">
            <a:solidFill>
              <a:srgbClr val="c24f45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3560" bIns="4356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DejaVu Sans"/>
            </a:endParaRPr>
          </a:p>
        </p:txBody>
      </p:sp>
      <p:sp>
        <p:nvSpPr>
          <p:cNvPr id="215" name="Shape 52"/>
          <p:cNvSpPr/>
          <p:nvPr/>
        </p:nvSpPr>
        <p:spPr>
          <a:xfrm>
            <a:off x="10278000" y="5870520"/>
            <a:ext cx="182520" cy="109440"/>
          </a:xfrm>
          <a:prstGeom prst="roundRect">
            <a:avLst>
              <a:gd name="adj" fmla="val 33333"/>
            </a:avLst>
          </a:prstGeom>
          <a:solidFill>
            <a:srgbClr val="e2e7eb"/>
          </a:solidFill>
          <a:ln w="12700">
            <a:solidFill>
              <a:srgbClr val="e2e7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3560" bIns="4356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216" name="Shape 53"/>
          <p:cNvSpPr/>
          <p:nvPr/>
        </p:nvSpPr>
        <p:spPr>
          <a:xfrm>
            <a:off x="10278000" y="5870520"/>
            <a:ext cx="182520" cy="109440"/>
          </a:xfrm>
          <a:prstGeom prst="roundRect">
            <a:avLst>
              <a:gd name="adj" fmla="val 33333"/>
            </a:avLst>
          </a:prstGeom>
          <a:solidFill>
            <a:srgbClr val="c24f45"/>
          </a:solidFill>
          <a:ln w="12700">
            <a:solidFill>
              <a:srgbClr val="c24f45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3560" bIns="4356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DejaVu Sans"/>
            </a:endParaRPr>
          </a:p>
        </p:txBody>
      </p:sp>
      <p:sp>
        <p:nvSpPr>
          <p:cNvPr id="217" name="Shape 54"/>
          <p:cNvSpPr/>
          <p:nvPr/>
        </p:nvSpPr>
        <p:spPr>
          <a:xfrm>
            <a:off x="10524600" y="5870520"/>
            <a:ext cx="182520" cy="109440"/>
          </a:xfrm>
          <a:prstGeom prst="roundRect">
            <a:avLst>
              <a:gd name="adj" fmla="val 33333"/>
            </a:avLst>
          </a:prstGeom>
          <a:solidFill>
            <a:srgbClr val="e2e7eb"/>
          </a:solidFill>
          <a:ln w="12700">
            <a:solidFill>
              <a:srgbClr val="e2e7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3560" bIns="4356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218" name="Shape 55"/>
          <p:cNvSpPr/>
          <p:nvPr/>
        </p:nvSpPr>
        <p:spPr>
          <a:xfrm>
            <a:off x="10771560" y="5870520"/>
            <a:ext cx="182520" cy="109440"/>
          </a:xfrm>
          <a:prstGeom prst="roundRect">
            <a:avLst>
              <a:gd name="adj" fmla="val 33333"/>
            </a:avLst>
          </a:prstGeom>
          <a:solidFill>
            <a:srgbClr val="e2e7eb"/>
          </a:solidFill>
          <a:ln w="12700">
            <a:solidFill>
              <a:srgbClr val="e2e7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3560" bIns="4356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219" name="Shape 56"/>
          <p:cNvSpPr/>
          <p:nvPr/>
        </p:nvSpPr>
        <p:spPr>
          <a:xfrm>
            <a:off x="11018520" y="5870520"/>
            <a:ext cx="182520" cy="109440"/>
          </a:xfrm>
          <a:prstGeom prst="roundRect">
            <a:avLst>
              <a:gd name="adj" fmla="val 33333"/>
            </a:avLst>
          </a:prstGeom>
          <a:solidFill>
            <a:srgbClr val="e2e7eb"/>
          </a:solidFill>
          <a:ln w="12700">
            <a:solidFill>
              <a:srgbClr val="e2e7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3560" bIns="4356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220" name="Text 57"/>
          <p:cNvSpPr/>
          <p:nvPr/>
        </p:nvSpPr>
        <p:spPr>
          <a:xfrm>
            <a:off x="11292840" y="5815440"/>
            <a:ext cx="25560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40" spc="-1" strike="noStrike">
                <a:solidFill>
                  <a:srgbClr val="252a34"/>
                </a:solidFill>
                <a:latin typeface="Microsoft YaHei"/>
                <a:ea typeface="Microsoft YaHei"/>
              </a:rPr>
              <a:t>2.0</a:t>
            </a:r>
            <a:endParaRPr b="0" lang="en-US" sz="1040" spc="-1" strike="noStrike">
              <a:solidFill>
                <a:srgbClr val="000000"/>
              </a:solidFill>
              <a:latin typeface="DejaVu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Text 0"/>
          <p:cNvSpPr/>
          <p:nvPr/>
        </p:nvSpPr>
        <p:spPr>
          <a:xfrm>
            <a:off x="530280" y="219600"/>
            <a:ext cx="713196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pc="128" strike="noStrike">
                <a:solidFill>
                  <a:srgbClr val="657180"/>
                </a:solidFill>
                <a:latin typeface="Microsoft YaHei"/>
                <a:ea typeface="Microsoft YaHei"/>
              </a:rPr>
              <a:t>VISUAL HERO</a:t>
            </a:r>
            <a:endParaRPr b="0" lang="en-US" sz="95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222" name="Text 1"/>
          <p:cNvSpPr/>
          <p:nvPr/>
        </p:nvSpPr>
        <p:spPr>
          <a:xfrm>
            <a:off x="530280" y="484560"/>
            <a:ext cx="1051524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2850" spc="-1" strike="noStrike">
                <a:solidFill>
                  <a:srgbClr val="252a34"/>
                </a:solidFill>
                <a:latin typeface="Microsoft YaHei"/>
                <a:ea typeface="Microsoft YaHei"/>
              </a:rPr>
              <a:t>方案 </a:t>
            </a:r>
            <a:r>
              <a:rPr b="1" lang="en-US" sz="2850" spc="-1" strike="noStrike">
                <a:solidFill>
                  <a:srgbClr val="252a34"/>
                </a:solidFill>
                <a:latin typeface="Microsoft YaHei"/>
                <a:ea typeface="Microsoft YaHei"/>
              </a:rPr>
              <a:t>D</a:t>
            </a:r>
            <a:r>
              <a:rPr b="1" lang="zh-CN" sz="2850" spc="-1" strike="noStrike">
                <a:solidFill>
                  <a:srgbClr val="252a34"/>
                </a:solidFill>
                <a:latin typeface="Microsoft YaHei"/>
                <a:ea typeface="Microsoft YaHei"/>
              </a:rPr>
              <a:t>｜</a:t>
            </a:r>
            <a:r>
              <a:rPr b="1" lang="en-US" sz="2850" spc="-1" strike="noStrike">
                <a:solidFill>
                  <a:srgbClr val="252a34"/>
                </a:solidFill>
                <a:latin typeface="Microsoft YaHei"/>
                <a:ea typeface="Microsoft YaHei"/>
              </a:rPr>
              <a:t>Hero concept</a:t>
            </a:r>
            <a:r>
              <a:rPr b="1" lang="zh-CN" sz="2850" spc="-1" strike="noStrike">
                <a:solidFill>
                  <a:srgbClr val="252a34"/>
                </a:solidFill>
                <a:latin typeface="Microsoft YaHei"/>
                <a:ea typeface="Microsoft YaHei"/>
              </a:rPr>
              <a:t>：第一眼最有吸引力</a:t>
            </a:r>
            <a:endParaRPr b="0" lang="en-US" sz="285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223" name="Shape 2"/>
          <p:cNvSpPr/>
          <p:nvPr/>
        </p:nvSpPr>
        <p:spPr>
          <a:xfrm>
            <a:off x="10716840" y="283320"/>
            <a:ext cx="493560" cy="228240"/>
          </a:xfrm>
          <a:prstGeom prst="roundRect">
            <a:avLst>
              <a:gd name="adj" fmla="val 20000"/>
            </a:avLst>
          </a:prstGeom>
          <a:solidFill>
            <a:srgbClr val="2583b6"/>
          </a:solidFill>
          <a:ln w="12700">
            <a:solidFill>
              <a:srgbClr val="2583b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DejaVu Sans"/>
            </a:endParaRPr>
          </a:p>
        </p:txBody>
      </p:sp>
      <p:sp>
        <p:nvSpPr>
          <p:cNvPr id="224" name="Text 3"/>
          <p:cNvSpPr/>
          <p:nvPr/>
        </p:nvSpPr>
        <p:spPr>
          <a:xfrm>
            <a:off x="10716840" y="292680"/>
            <a:ext cx="49356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-1" strike="noStrike">
                <a:solidFill>
                  <a:srgbClr val="ffffff"/>
                </a:solidFill>
                <a:latin typeface="Microsoft YaHei"/>
                <a:ea typeface="Microsoft YaHei"/>
              </a:rPr>
              <a:t>L10</a:t>
            </a:r>
            <a:endParaRPr b="0" lang="en-US" sz="85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225" name="Shape 4"/>
          <p:cNvSpPr/>
          <p:nvPr/>
        </p:nvSpPr>
        <p:spPr>
          <a:xfrm>
            <a:off x="11256120" y="283320"/>
            <a:ext cx="493560" cy="228240"/>
          </a:xfrm>
          <a:prstGeom prst="roundRect">
            <a:avLst>
              <a:gd name="adj" fmla="val 20000"/>
            </a:avLst>
          </a:prstGeom>
          <a:solidFill>
            <a:srgbClr val="d66a1f"/>
          </a:solidFill>
          <a:ln w="12700">
            <a:solidFill>
              <a:srgbClr val="d66a1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DejaVu Sans"/>
            </a:endParaRPr>
          </a:p>
        </p:txBody>
      </p:sp>
      <p:sp>
        <p:nvSpPr>
          <p:cNvPr id="226" name="Text 5"/>
          <p:cNvSpPr/>
          <p:nvPr/>
        </p:nvSpPr>
        <p:spPr>
          <a:xfrm>
            <a:off x="11256120" y="292680"/>
            <a:ext cx="49356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-1" strike="noStrike">
                <a:solidFill>
                  <a:srgbClr val="ffffff"/>
                </a:solidFill>
                <a:latin typeface="Microsoft YaHei"/>
                <a:ea typeface="Microsoft YaHei"/>
              </a:rPr>
              <a:t>L20</a:t>
            </a:r>
            <a:endParaRPr b="0" lang="en-US" sz="85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227" name="Shape 6"/>
          <p:cNvSpPr/>
          <p:nvPr/>
        </p:nvSpPr>
        <p:spPr>
          <a:xfrm>
            <a:off x="11192040" y="397440"/>
            <a:ext cx="73080" cy="360"/>
          </a:xfrm>
          <a:prstGeom prst="line">
            <a:avLst/>
          </a:prstGeom>
          <a:ln w="15240">
            <a:solidFill>
              <a:srgbClr val="d7dee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228" name="Text 7"/>
          <p:cNvSpPr/>
          <p:nvPr/>
        </p:nvSpPr>
        <p:spPr>
          <a:xfrm>
            <a:off x="502920" y="6528960"/>
            <a:ext cx="493740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80" spc="-1" strike="noStrike">
                <a:solidFill>
                  <a:srgbClr val="8a96a3"/>
                </a:solidFill>
                <a:latin typeface="Microsoft YaHei"/>
                <a:ea typeface="Microsoft YaHei"/>
              </a:rPr>
              <a:t>PETase manuscript · TOC graphic review</a:t>
            </a:r>
            <a:endParaRPr b="0" lang="en-US" sz="88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229" name="Text 8"/>
          <p:cNvSpPr/>
          <p:nvPr/>
        </p:nvSpPr>
        <p:spPr>
          <a:xfrm>
            <a:off x="11247120" y="6501240"/>
            <a:ext cx="4384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20" spc="-1" strike="noStrike">
                <a:solidFill>
                  <a:srgbClr val="8a96a3"/>
                </a:solidFill>
                <a:latin typeface="Microsoft YaHei"/>
                <a:ea typeface="Microsoft YaHei"/>
              </a:rPr>
              <a:t>05</a:t>
            </a:r>
            <a:endParaRPr b="0" lang="en-US" sz="92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230" name="Shape 9"/>
          <p:cNvSpPr/>
          <p:nvPr/>
        </p:nvSpPr>
        <p:spPr>
          <a:xfrm>
            <a:off x="576000" y="1143000"/>
            <a:ext cx="347040" cy="347040"/>
          </a:xfrm>
          <a:prstGeom prst="ellipse">
            <a:avLst/>
          </a:prstGeom>
          <a:solidFill>
            <a:srgbClr val="d66a1f"/>
          </a:solidFill>
          <a:ln w="12700">
            <a:solidFill>
              <a:srgbClr val="d66a1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DejaVu Sans"/>
            </a:endParaRPr>
          </a:p>
        </p:txBody>
      </p:sp>
      <p:sp>
        <p:nvSpPr>
          <p:cNvPr id="231" name="Text 10"/>
          <p:cNvSpPr/>
          <p:nvPr/>
        </p:nvSpPr>
        <p:spPr>
          <a:xfrm>
            <a:off x="576000" y="1152000"/>
            <a:ext cx="347040" cy="28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-1" strike="noStrike">
                <a:solidFill>
                  <a:srgbClr val="ffffff"/>
                </a:solidFill>
                <a:latin typeface="Microsoft YaHei"/>
                <a:ea typeface="Microsoft YaHei"/>
              </a:rPr>
              <a:t>D</a:t>
            </a:r>
            <a:endParaRPr b="0" lang="en-US" sz="115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232" name="Text 11"/>
          <p:cNvSpPr/>
          <p:nvPr/>
        </p:nvSpPr>
        <p:spPr>
          <a:xfrm>
            <a:off x="1033200" y="1124640"/>
            <a:ext cx="42973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50" spc="-1" strike="noStrike">
                <a:solidFill>
                  <a:srgbClr val="252a34"/>
                </a:solidFill>
                <a:latin typeface="Microsoft YaHei"/>
                <a:ea typeface="Microsoft YaHei"/>
              </a:rPr>
              <a:t>Longer PET, different interfaces</a:t>
            </a:r>
            <a:endParaRPr b="0" lang="en-US" sz="185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233" name="Shape 12"/>
          <p:cNvSpPr/>
          <p:nvPr/>
        </p:nvSpPr>
        <p:spPr>
          <a:xfrm>
            <a:off x="576000" y="1618560"/>
            <a:ext cx="7452000" cy="4014000"/>
          </a:xfrm>
          <a:prstGeom prst="roundRect">
            <a:avLst>
              <a:gd name="adj" fmla="val 1822"/>
            </a:avLst>
          </a:prstGeom>
          <a:solidFill>
            <a:srgbClr val="ffffff"/>
          </a:solidFill>
          <a:ln w="10160">
            <a:solidFill>
              <a:srgbClr val="edc7ab"/>
            </a:solidFill>
            <a:round/>
          </a:ln>
          <a:effectLst>
            <a:outerShdw algn="bl" blurRad="25560" dir="8100000" dist="12218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DejaVu Sans"/>
            </a:endParaRPr>
          </a:p>
        </p:txBody>
      </p:sp>
      <p:pic>
        <p:nvPicPr>
          <p:cNvPr id="234" name="Image 0" descr="Option D: hero concept"/>
          <p:cNvPicPr/>
          <p:nvPr/>
        </p:nvPicPr>
        <p:blipFill>
          <a:blip r:embed="rId1"/>
          <a:stretch/>
        </p:blipFill>
        <p:spPr>
          <a:xfrm>
            <a:off x="649080" y="1691640"/>
            <a:ext cx="7305840" cy="3867480"/>
          </a:xfrm>
          <a:prstGeom prst="rect">
            <a:avLst/>
          </a:prstGeom>
          <a:ln w="0">
            <a:noFill/>
          </a:ln>
        </p:spPr>
      </p:pic>
      <p:sp>
        <p:nvSpPr>
          <p:cNvPr id="235" name="Shape 13"/>
          <p:cNvSpPr/>
          <p:nvPr/>
        </p:nvSpPr>
        <p:spPr>
          <a:xfrm>
            <a:off x="8321040" y="1143000"/>
            <a:ext cx="3254760" cy="5028840"/>
          </a:xfrm>
          <a:prstGeom prst="roundRect">
            <a:avLst>
              <a:gd name="adj" fmla="val 2809"/>
            </a:avLst>
          </a:prstGeom>
          <a:solidFill>
            <a:srgbClr val="fbefe7"/>
          </a:solidFill>
          <a:ln w="10160">
            <a:solidFill>
              <a:srgbClr val="ebc5a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236" name="Shape 14"/>
          <p:cNvSpPr/>
          <p:nvPr/>
        </p:nvSpPr>
        <p:spPr>
          <a:xfrm>
            <a:off x="8595360" y="1389960"/>
            <a:ext cx="1023840" cy="292320"/>
          </a:xfrm>
          <a:prstGeom prst="roundRect">
            <a:avLst>
              <a:gd name="adj" fmla="val 25000"/>
            </a:avLst>
          </a:prstGeom>
          <a:solidFill>
            <a:srgbClr val="d66a1f"/>
          </a:solidFill>
          <a:ln w="7620">
            <a:solidFill>
              <a:srgbClr val="d66a1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DejaVu Sans"/>
            </a:endParaRPr>
          </a:p>
        </p:txBody>
      </p:sp>
      <p:sp>
        <p:nvSpPr>
          <p:cNvPr id="237" name="Text 15"/>
          <p:cNvSpPr/>
          <p:nvPr/>
        </p:nvSpPr>
        <p:spPr>
          <a:xfrm>
            <a:off x="8650080" y="1398960"/>
            <a:ext cx="914040" cy="24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960" spc="-1" strike="noStrike">
                <a:solidFill>
                  <a:srgbClr val="ffffff"/>
                </a:solidFill>
                <a:latin typeface="Microsoft YaHei"/>
                <a:ea typeface="Microsoft YaHei"/>
              </a:rPr>
              <a:t>视觉冠军</a:t>
            </a:r>
            <a:endParaRPr b="0" lang="en-US" sz="96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238" name="Shape 16"/>
          <p:cNvSpPr/>
          <p:nvPr/>
        </p:nvSpPr>
        <p:spPr>
          <a:xfrm>
            <a:off x="9756720" y="1389960"/>
            <a:ext cx="1407960" cy="292320"/>
          </a:xfrm>
          <a:prstGeom prst="roundRect">
            <a:avLst>
              <a:gd name="adj" fmla="val 25000"/>
            </a:avLst>
          </a:prstGeom>
          <a:solidFill>
            <a:srgbClr val="f9eae8"/>
          </a:solidFill>
          <a:ln w="7620">
            <a:solidFill>
              <a:srgbClr val="e8c3b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239" name="Text 17"/>
          <p:cNvSpPr/>
          <p:nvPr/>
        </p:nvSpPr>
        <p:spPr>
          <a:xfrm>
            <a:off x="9811440" y="1398960"/>
            <a:ext cx="1298160" cy="24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960" spc="-1" strike="noStrike">
                <a:solidFill>
                  <a:srgbClr val="c24f45"/>
                </a:solidFill>
                <a:latin typeface="Microsoft YaHei"/>
                <a:ea typeface="Microsoft YaHei"/>
              </a:rPr>
              <a:t>投稿风险中高</a:t>
            </a:r>
            <a:endParaRPr b="0" lang="en-US" sz="96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240" name="Shape 18"/>
          <p:cNvSpPr/>
          <p:nvPr/>
        </p:nvSpPr>
        <p:spPr>
          <a:xfrm>
            <a:off x="8577000" y="1956960"/>
            <a:ext cx="109440" cy="109440"/>
          </a:xfrm>
          <a:prstGeom prst="roundRect">
            <a:avLst>
              <a:gd name="adj" fmla="val 25000"/>
            </a:avLst>
          </a:prstGeom>
          <a:solidFill>
            <a:srgbClr val="d66a1f"/>
          </a:solidFill>
          <a:ln w="12700">
            <a:solidFill>
              <a:srgbClr val="d66a1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DejaVu Sans"/>
            </a:endParaRPr>
          </a:p>
        </p:txBody>
      </p:sp>
      <p:sp>
        <p:nvSpPr>
          <p:cNvPr id="241" name="Text 19"/>
          <p:cNvSpPr/>
          <p:nvPr/>
        </p:nvSpPr>
        <p:spPr>
          <a:xfrm>
            <a:off x="8759880" y="1911240"/>
            <a:ext cx="8042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1120" spc="-1" strike="noStrike">
                <a:solidFill>
                  <a:srgbClr val="d66a1f"/>
                </a:solidFill>
                <a:latin typeface="Microsoft YaHei"/>
                <a:ea typeface="Microsoft YaHei"/>
              </a:rPr>
              <a:t>最强之处</a:t>
            </a:r>
            <a:endParaRPr b="0" lang="en-US" sz="112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242" name="Text 20"/>
          <p:cNvSpPr/>
          <p:nvPr/>
        </p:nvSpPr>
        <p:spPr>
          <a:xfrm>
            <a:off x="9601200" y="1901880"/>
            <a:ext cx="1672920" cy="74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zh-CN" sz="1210" spc="-1" strike="noStrike">
                <a:solidFill>
                  <a:srgbClr val="252a34"/>
                </a:solidFill>
                <a:latin typeface="Microsoft YaHei"/>
                <a:ea typeface="Microsoft YaHei"/>
              </a:rPr>
              <a:t>蓝</a:t>
            </a:r>
            <a:r>
              <a:rPr b="0" lang="en-US" sz="1210" spc="-1" strike="noStrike">
                <a:solidFill>
                  <a:srgbClr val="252a34"/>
                </a:solidFill>
                <a:latin typeface="Microsoft YaHei"/>
                <a:ea typeface="Microsoft YaHei"/>
              </a:rPr>
              <a:t>/</a:t>
            </a:r>
            <a:r>
              <a:rPr b="0" lang="zh-CN" sz="1210" spc="-1" strike="noStrike">
                <a:solidFill>
                  <a:srgbClr val="252a34"/>
                </a:solidFill>
                <a:latin typeface="Microsoft YaHei"/>
                <a:ea typeface="Microsoft YaHei"/>
              </a:rPr>
              <a:t>橙</a:t>
            </a:r>
            <a:r>
              <a:rPr b="0" lang="en-US" sz="1210" spc="-1" strike="noStrike">
                <a:solidFill>
                  <a:srgbClr val="252a34"/>
                </a:solidFill>
                <a:latin typeface="Microsoft YaHei"/>
                <a:ea typeface="Microsoft YaHei"/>
              </a:rPr>
              <a:t>PET</a:t>
            </a:r>
            <a:r>
              <a:rPr b="0" lang="zh-CN" sz="1210" spc="-1" strike="noStrike">
                <a:solidFill>
                  <a:srgbClr val="252a34"/>
                </a:solidFill>
                <a:latin typeface="Microsoft YaHei"/>
                <a:ea typeface="Microsoft YaHei"/>
              </a:rPr>
              <a:t>链直观区分链长；</a:t>
            </a:r>
            <a:r>
              <a:rPr b="0" lang="en-US" sz="1210" spc="-1" strike="noStrike">
                <a:solidFill>
                  <a:srgbClr val="252a34"/>
                </a:solidFill>
                <a:latin typeface="Microsoft YaHei"/>
                <a:ea typeface="Microsoft YaHei"/>
              </a:rPr>
              <a:t>TfCut1</a:t>
            </a:r>
            <a:r>
              <a:rPr b="0" lang="zh-CN" sz="1210" spc="-1" strike="noStrike">
                <a:solidFill>
                  <a:srgbClr val="252a34"/>
                </a:solidFill>
                <a:latin typeface="Microsoft YaHei"/>
                <a:ea typeface="Microsoft YaHei"/>
              </a:rPr>
              <a:t>和</a:t>
            </a:r>
            <a:r>
              <a:rPr b="0" lang="en-US" sz="1210" spc="-1" strike="noStrike">
                <a:solidFill>
                  <a:srgbClr val="252a34"/>
                </a:solidFill>
                <a:latin typeface="Microsoft YaHei"/>
                <a:ea typeface="Microsoft YaHei"/>
              </a:rPr>
              <a:t>HiC</a:t>
            </a:r>
            <a:r>
              <a:rPr b="0" lang="zh-CN" sz="1210" spc="-1" strike="noStrike">
                <a:solidFill>
                  <a:srgbClr val="252a34"/>
                </a:solidFill>
                <a:latin typeface="Microsoft YaHei"/>
                <a:ea typeface="Microsoft YaHei"/>
              </a:rPr>
              <a:t>成为主角。</a:t>
            </a:r>
            <a:endParaRPr b="0" lang="en-US" sz="121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243" name="Shape 21"/>
          <p:cNvSpPr/>
          <p:nvPr/>
        </p:nvSpPr>
        <p:spPr>
          <a:xfrm>
            <a:off x="8577000" y="2797920"/>
            <a:ext cx="109440" cy="109440"/>
          </a:xfrm>
          <a:prstGeom prst="roundRect">
            <a:avLst>
              <a:gd name="adj" fmla="val 25000"/>
            </a:avLst>
          </a:prstGeom>
          <a:solidFill>
            <a:srgbClr val="2f8b62"/>
          </a:solidFill>
          <a:ln w="12700">
            <a:solidFill>
              <a:srgbClr val="2f8b6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DejaVu Sans"/>
            </a:endParaRPr>
          </a:p>
        </p:txBody>
      </p:sp>
      <p:sp>
        <p:nvSpPr>
          <p:cNvPr id="244" name="Text 22"/>
          <p:cNvSpPr/>
          <p:nvPr/>
        </p:nvSpPr>
        <p:spPr>
          <a:xfrm>
            <a:off x="8759880" y="2752200"/>
            <a:ext cx="8042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1120" spc="-1" strike="noStrike">
                <a:solidFill>
                  <a:srgbClr val="2f8b62"/>
                </a:solidFill>
                <a:latin typeface="Microsoft YaHei"/>
                <a:ea typeface="Microsoft YaHei"/>
              </a:rPr>
              <a:t>吸引力</a:t>
            </a:r>
            <a:endParaRPr b="0" lang="en-US" sz="112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245" name="Text 23"/>
          <p:cNvSpPr/>
          <p:nvPr/>
        </p:nvSpPr>
        <p:spPr>
          <a:xfrm>
            <a:off x="9601200" y="2743200"/>
            <a:ext cx="1672920" cy="62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zh-CN" sz="1210" spc="-1" strike="noStrike">
                <a:solidFill>
                  <a:srgbClr val="252a34"/>
                </a:solidFill>
                <a:latin typeface="Microsoft YaHei"/>
                <a:ea typeface="Microsoft YaHei"/>
              </a:rPr>
              <a:t>视觉动词明确、留白好，最像传统分子</a:t>
            </a:r>
            <a:r>
              <a:rPr b="0" lang="en-US" sz="1210" spc="-1" strike="noStrike">
                <a:solidFill>
                  <a:srgbClr val="252a34"/>
                </a:solidFill>
                <a:latin typeface="Microsoft YaHei"/>
                <a:ea typeface="Microsoft YaHei"/>
              </a:rPr>
              <a:t>TOC</a:t>
            </a:r>
            <a:r>
              <a:rPr b="0" lang="zh-CN" sz="1210" spc="-1" strike="noStrike">
                <a:solidFill>
                  <a:srgbClr val="252a34"/>
                </a:solidFill>
                <a:latin typeface="Microsoft YaHei"/>
                <a:ea typeface="Microsoft YaHei"/>
              </a:rPr>
              <a:t>。</a:t>
            </a:r>
            <a:endParaRPr b="0" lang="en-US" sz="121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246" name="Shape 24"/>
          <p:cNvSpPr/>
          <p:nvPr/>
        </p:nvSpPr>
        <p:spPr>
          <a:xfrm>
            <a:off x="8577000" y="3538800"/>
            <a:ext cx="109440" cy="109440"/>
          </a:xfrm>
          <a:prstGeom prst="roundRect">
            <a:avLst>
              <a:gd name="adj" fmla="val 25000"/>
            </a:avLst>
          </a:prstGeom>
          <a:solidFill>
            <a:srgbClr val="c24f45"/>
          </a:solidFill>
          <a:ln w="12700">
            <a:solidFill>
              <a:srgbClr val="c24f4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DejaVu Sans"/>
            </a:endParaRPr>
          </a:p>
        </p:txBody>
      </p:sp>
      <p:sp>
        <p:nvSpPr>
          <p:cNvPr id="247" name="Text 25"/>
          <p:cNvSpPr/>
          <p:nvPr/>
        </p:nvSpPr>
        <p:spPr>
          <a:xfrm>
            <a:off x="8759880" y="3493080"/>
            <a:ext cx="8042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1120" spc="-1" strike="noStrike">
                <a:solidFill>
                  <a:srgbClr val="c24f45"/>
                </a:solidFill>
                <a:latin typeface="Microsoft YaHei"/>
                <a:ea typeface="Microsoft YaHei"/>
              </a:rPr>
              <a:t>科学风险</a:t>
            </a:r>
            <a:endParaRPr b="0" lang="en-US" sz="112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248" name="Text 26"/>
          <p:cNvSpPr/>
          <p:nvPr/>
        </p:nvSpPr>
        <p:spPr>
          <a:xfrm>
            <a:off x="9601200" y="3483720"/>
            <a:ext cx="1672920" cy="84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zh-CN" sz="1210" spc="-1" strike="noStrike">
                <a:solidFill>
                  <a:srgbClr val="252a34"/>
                </a:solidFill>
                <a:latin typeface="Microsoft YaHei"/>
                <a:ea typeface="Microsoft YaHei"/>
              </a:rPr>
              <a:t>箭头像时间转换；其余四酶被弱化；局部作用标签强于群体证据。</a:t>
            </a:r>
            <a:endParaRPr b="0" lang="en-US" sz="121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249" name="Text 27"/>
          <p:cNvSpPr/>
          <p:nvPr/>
        </p:nvSpPr>
        <p:spPr>
          <a:xfrm>
            <a:off x="8595360" y="4563000"/>
            <a:ext cx="23770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1450" spc="-1" strike="noStrike">
                <a:solidFill>
                  <a:srgbClr val="252a34"/>
                </a:solidFill>
                <a:latin typeface="Microsoft YaHei"/>
                <a:ea typeface="Microsoft YaHei"/>
              </a:rPr>
              <a:t>一句判断</a:t>
            </a:r>
            <a:endParaRPr b="0" lang="en-US" sz="145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250" name="Text 28"/>
          <p:cNvSpPr/>
          <p:nvPr/>
        </p:nvSpPr>
        <p:spPr>
          <a:xfrm>
            <a:off x="8595360" y="4883040"/>
            <a:ext cx="2587320" cy="61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1320" spc="-1" strike="noStrike">
                <a:solidFill>
                  <a:srgbClr val="252a34"/>
                </a:solidFill>
                <a:latin typeface="Microsoft YaHei"/>
                <a:ea typeface="Microsoft YaHei"/>
              </a:rPr>
              <a:t>最抓眼，但需要削弱“转化”和“确定机制”的暗示。</a:t>
            </a:r>
            <a:endParaRPr b="0" lang="en-US" sz="132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251" name="Text 29"/>
          <p:cNvSpPr/>
          <p:nvPr/>
        </p:nvSpPr>
        <p:spPr>
          <a:xfrm>
            <a:off x="8549640" y="5577840"/>
            <a:ext cx="14169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zh-CN" sz="1120" spc="-1" strike="noStrike">
                <a:solidFill>
                  <a:srgbClr val="657180"/>
                </a:solidFill>
                <a:latin typeface="Microsoft YaHei"/>
                <a:ea typeface="Microsoft YaHei"/>
              </a:rPr>
              <a:t>视觉吸引</a:t>
            </a:r>
            <a:endParaRPr b="0" lang="en-US" sz="112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252" name="Shape 30"/>
          <p:cNvSpPr/>
          <p:nvPr/>
        </p:nvSpPr>
        <p:spPr>
          <a:xfrm>
            <a:off x="10031040" y="5623560"/>
            <a:ext cx="182520" cy="109440"/>
          </a:xfrm>
          <a:prstGeom prst="roundRect">
            <a:avLst>
              <a:gd name="adj" fmla="val 33333"/>
            </a:avLst>
          </a:prstGeom>
          <a:solidFill>
            <a:srgbClr val="e2e7eb"/>
          </a:solidFill>
          <a:ln w="12700">
            <a:solidFill>
              <a:srgbClr val="e2e7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3560" bIns="4356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253" name="Shape 31"/>
          <p:cNvSpPr/>
          <p:nvPr/>
        </p:nvSpPr>
        <p:spPr>
          <a:xfrm>
            <a:off x="10031040" y="5623560"/>
            <a:ext cx="182520" cy="109440"/>
          </a:xfrm>
          <a:prstGeom prst="roundRect">
            <a:avLst>
              <a:gd name="adj" fmla="val 33333"/>
            </a:avLst>
          </a:prstGeom>
          <a:solidFill>
            <a:srgbClr val="d66a1f"/>
          </a:solidFill>
          <a:ln w="12700">
            <a:solidFill>
              <a:srgbClr val="d66a1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3560" bIns="4356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DejaVu Sans"/>
            </a:endParaRPr>
          </a:p>
        </p:txBody>
      </p:sp>
      <p:sp>
        <p:nvSpPr>
          <p:cNvPr id="254" name="Shape 32"/>
          <p:cNvSpPr/>
          <p:nvPr/>
        </p:nvSpPr>
        <p:spPr>
          <a:xfrm>
            <a:off x="10278000" y="5623560"/>
            <a:ext cx="182520" cy="109440"/>
          </a:xfrm>
          <a:prstGeom prst="roundRect">
            <a:avLst>
              <a:gd name="adj" fmla="val 33333"/>
            </a:avLst>
          </a:prstGeom>
          <a:solidFill>
            <a:srgbClr val="e2e7eb"/>
          </a:solidFill>
          <a:ln w="12700">
            <a:solidFill>
              <a:srgbClr val="e2e7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3560" bIns="4356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255" name="Shape 33"/>
          <p:cNvSpPr/>
          <p:nvPr/>
        </p:nvSpPr>
        <p:spPr>
          <a:xfrm>
            <a:off x="10278000" y="5623560"/>
            <a:ext cx="182520" cy="109440"/>
          </a:xfrm>
          <a:prstGeom prst="roundRect">
            <a:avLst>
              <a:gd name="adj" fmla="val 33333"/>
            </a:avLst>
          </a:prstGeom>
          <a:solidFill>
            <a:srgbClr val="d66a1f"/>
          </a:solidFill>
          <a:ln w="12700">
            <a:solidFill>
              <a:srgbClr val="d66a1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3560" bIns="4356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DejaVu Sans"/>
            </a:endParaRPr>
          </a:p>
        </p:txBody>
      </p:sp>
      <p:sp>
        <p:nvSpPr>
          <p:cNvPr id="256" name="Shape 34"/>
          <p:cNvSpPr/>
          <p:nvPr/>
        </p:nvSpPr>
        <p:spPr>
          <a:xfrm>
            <a:off x="10524600" y="5623560"/>
            <a:ext cx="182520" cy="109440"/>
          </a:xfrm>
          <a:prstGeom prst="roundRect">
            <a:avLst>
              <a:gd name="adj" fmla="val 33333"/>
            </a:avLst>
          </a:prstGeom>
          <a:solidFill>
            <a:srgbClr val="e2e7eb"/>
          </a:solidFill>
          <a:ln w="12700">
            <a:solidFill>
              <a:srgbClr val="e2e7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3560" bIns="4356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257" name="Shape 35"/>
          <p:cNvSpPr/>
          <p:nvPr/>
        </p:nvSpPr>
        <p:spPr>
          <a:xfrm>
            <a:off x="10524600" y="5623560"/>
            <a:ext cx="182520" cy="109440"/>
          </a:xfrm>
          <a:prstGeom prst="roundRect">
            <a:avLst>
              <a:gd name="adj" fmla="val 33333"/>
            </a:avLst>
          </a:prstGeom>
          <a:solidFill>
            <a:srgbClr val="d66a1f"/>
          </a:solidFill>
          <a:ln w="12700">
            <a:solidFill>
              <a:srgbClr val="d66a1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3560" bIns="4356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DejaVu Sans"/>
            </a:endParaRPr>
          </a:p>
        </p:txBody>
      </p:sp>
      <p:sp>
        <p:nvSpPr>
          <p:cNvPr id="258" name="Shape 36"/>
          <p:cNvSpPr/>
          <p:nvPr/>
        </p:nvSpPr>
        <p:spPr>
          <a:xfrm>
            <a:off x="10771560" y="5623560"/>
            <a:ext cx="182520" cy="109440"/>
          </a:xfrm>
          <a:prstGeom prst="roundRect">
            <a:avLst>
              <a:gd name="adj" fmla="val 33333"/>
            </a:avLst>
          </a:prstGeom>
          <a:solidFill>
            <a:srgbClr val="e2e7eb"/>
          </a:solidFill>
          <a:ln w="12700">
            <a:solidFill>
              <a:srgbClr val="e2e7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3560" bIns="4356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259" name="Shape 37"/>
          <p:cNvSpPr/>
          <p:nvPr/>
        </p:nvSpPr>
        <p:spPr>
          <a:xfrm>
            <a:off x="10771560" y="5623560"/>
            <a:ext cx="182520" cy="109440"/>
          </a:xfrm>
          <a:prstGeom prst="roundRect">
            <a:avLst>
              <a:gd name="adj" fmla="val 33333"/>
            </a:avLst>
          </a:prstGeom>
          <a:solidFill>
            <a:srgbClr val="d66a1f"/>
          </a:solidFill>
          <a:ln w="12700">
            <a:solidFill>
              <a:srgbClr val="d66a1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3560" bIns="4356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DejaVu Sans"/>
            </a:endParaRPr>
          </a:p>
        </p:txBody>
      </p:sp>
      <p:sp>
        <p:nvSpPr>
          <p:cNvPr id="260" name="Shape 38"/>
          <p:cNvSpPr/>
          <p:nvPr/>
        </p:nvSpPr>
        <p:spPr>
          <a:xfrm>
            <a:off x="11018520" y="5623560"/>
            <a:ext cx="182520" cy="109440"/>
          </a:xfrm>
          <a:prstGeom prst="roundRect">
            <a:avLst>
              <a:gd name="adj" fmla="val 33333"/>
            </a:avLst>
          </a:prstGeom>
          <a:solidFill>
            <a:srgbClr val="e2e7eb"/>
          </a:solidFill>
          <a:ln w="12700">
            <a:solidFill>
              <a:srgbClr val="e2e7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3560" bIns="4356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261" name="Shape 39"/>
          <p:cNvSpPr/>
          <p:nvPr/>
        </p:nvSpPr>
        <p:spPr>
          <a:xfrm>
            <a:off x="11018520" y="5623560"/>
            <a:ext cx="91080" cy="109440"/>
          </a:xfrm>
          <a:prstGeom prst="rect">
            <a:avLst/>
          </a:prstGeom>
          <a:solidFill>
            <a:srgbClr val="d66a1f"/>
          </a:solidFill>
          <a:ln w="12700">
            <a:solidFill>
              <a:srgbClr val="d66a1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DejaVu Sans"/>
            </a:endParaRPr>
          </a:p>
        </p:txBody>
      </p:sp>
      <p:sp>
        <p:nvSpPr>
          <p:cNvPr id="262" name="Text 40"/>
          <p:cNvSpPr/>
          <p:nvPr/>
        </p:nvSpPr>
        <p:spPr>
          <a:xfrm>
            <a:off x="11292840" y="5568840"/>
            <a:ext cx="25560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40" spc="-1" strike="noStrike">
                <a:solidFill>
                  <a:srgbClr val="252a34"/>
                </a:solidFill>
                <a:latin typeface="Microsoft YaHei"/>
                <a:ea typeface="Microsoft YaHei"/>
              </a:rPr>
              <a:t>4.5</a:t>
            </a:r>
            <a:endParaRPr b="0" lang="en-US" sz="104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263" name="Text 41"/>
          <p:cNvSpPr/>
          <p:nvPr/>
        </p:nvSpPr>
        <p:spPr>
          <a:xfrm>
            <a:off x="8549640" y="5861160"/>
            <a:ext cx="14169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zh-CN" sz="1120" spc="-1" strike="noStrike">
                <a:solidFill>
                  <a:srgbClr val="657180"/>
                </a:solidFill>
                <a:latin typeface="Microsoft YaHei"/>
                <a:ea typeface="Microsoft YaHei"/>
              </a:rPr>
              <a:t>三秒理解</a:t>
            </a:r>
            <a:endParaRPr b="0" lang="en-US" sz="112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264" name="Shape 42"/>
          <p:cNvSpPr/>
          <p:nvPr/>
        </p:nvSpPr>
        <p:spPr>
          <a:xfrm>
            <a:off x="10031040" y="5906880"/>
            <a:ext cx="182520" cy="109440"/>
          </a:xfrm>
          <a:prstGeom prst="roundRect">
            <a:avLst>
              <a:gd name="adj" fmla="val 33333"/>
            </a:avLst>
          </a:prstGeom>
          <a:solidFill>
            <a:srgbClr val="e2e7eb"/>
          </a:solidFill>
          <a:ln w="12700">
            <a:solidFill>
              <a:srgbClr val="e2e7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3560" bIns="4356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265" name="Shape 43"/>
          <p:cNvSpPr/>
          <p:nvPr/>
        </p:nvSpPr>
        <p:spPr>
          <a:xfrm>
            <a:off x="10031040" y="5906880"/>
            <a:ext cx="182520" cy="109440"/>
          </a:xfrm>
          <a:prstGeom prst="roundRect">
            <a:avLst>
              <a:gd name="adj" fmla="val 33333"/>
            </a:avLst>
          </a:prstGeom>
          <a:solidFill>
            <a:srgbClr val="2f8b62"/>
          </a:solidFill>
          <a:ln w="12700">
            <a:solidFill>
              <a:srgbClr val="2f8b62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3560" bIns="4356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DejaVu Sans"/>
            </a:endParaRPr>
          </a:p>
        </p:txBody>
      </p:sp>
      <p:sp>
        <p:nvSpPr>
          <p:cNvPr id="266" name="Shape 44"/>
          <p:cNvSpPr/>
          <p:nvPr/>
        </p:nvSpPr>
        <p:spPr>
          <a:xfrm>
            <a:off x="10278000" y="5906880"/>
            <a:ext cx="182520" cy="109440"/>
          </a:xfrm>
          <a:prstGeom prst="roundRect">
            <a:avLst>
              <a:gd name="adj" fmla="val 33333"/>
            </a:avLst>
          </a:prstGeom>
          <a:solidFill>
            <a:srgbClr val="e2e7eb"/>
          </a:solidFill>
          <a:ln w="12700">
            <a:solidFill>
              <a:srgbClr val="e2e7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3560" bIns="4356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267" name="Shape 45"/>
          <p:cNvSpPr/>
          <p:nvPr/>
        </p:nvSpPr>
        <p:spPr>
          <a:xfrm>
            <a:off x="10278000" y="5906880"/>
            <a:ext cx="182520" cy="109440"/>
          </a:xfrm>
          <a:prstGeom prst="roundRect">
            <a:avLst>
              <a:gd name="adj" fmla="val 33333"/>
            </a:avLst>
          </a:prstGeom>
          <a:solidFill>
            <a:srgbClr val="2f8b62"/>
          </a:solidFill>
          <a:ln w="12700">
            <a:solidFill>
              <a:srgbClr val="2f8b62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3560" bIns="4356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DejaVu Sans"/>
            </a:endParaRPr>
          </a:p>
        </p:txBody>
      </p:sp>
      <p:sp>
        <p:nvSpPr>
          <p:cNvPr id="268" name="Shape 46"/>
          <p:cNvSpPr/>
          <p:nvPr/>
        </p:nvSpPr>
        <p:spPr>
          <a:xfrm>
            <a:off x="10524600" y="5906880"/>
            <a:ext cx="182520" cy="109440"/>
          </a:xfrm>
          <a:prstGeom prst="roundRect">
            <a:avLst>
              <a:gd name="adj" fmla="val 33333"/>
            </a:avLst>
          </a:prstGeom>
          <a:solidFill>
            <a:srgbClr val="e2e7eb"/>
          </a:solidFill>
          <a:ln w="12700">
            <a:solidFill>
              <a:srgbClr val="e2e7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3560" bIns="4356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269" name="Shape 47"/>
          <p:cNvSpPr/>
          <p:nvPr/>
        </p:nvSpPr>
        <p:spPr>
          <a:xfrm>
            <a:off x="10524600" y="5906880"/>
            <a:ext cx="182520" cy="109440"/>
          </a:xfrm>
          <a:prstGeom prst="roundRect">
            <a:avLst>
              <a:gd name="adj" fmla="val 33333"/>
            </a:avLst>
          </a:prstGeom>
          <a:solidFill>
            <a:srgbClr val="2f8b62"/>
          </a:solidFill>
          <a:ln w="12700">
            <a:solidFill>
              <a:srgbClr val="2f8b62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3560" bIns="4356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DejaVu Sans"/>
            </a:endParaRPr>
          </a:p>
        </p:txBody>
      </p:sp>
      <p:sp>
        <p:nvSpPr>
          <p:cNvPr id="270" name="Shape 48"/>
          <p:cNvSpPr/>
          <p:nvPr/>
        </p:nvSpPr>
        <p:spPr>
          <a:xfrm>
            <a:off x="10771560" y="5906880"/>
            <a:ext cx="182520" cy="109440"/>
          </a:xfrm>
          <a:prstGeom prst="roundRect">
            <a:avLst>
              <a:gd name="adj" fmla="val 33333"/>
            </a:avLst>
          </a:prstGeom>
          <a:solidFill>
            <a:srgbClr val="e2e7eb"/>
          </a:solidFill>
          <a:ln w="12700">
            <a:solidFill>
              <a:srgbClr val="e2e7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3560" bIns="4356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271" name="Shape 49"/>
          <p:cNvSpPr/>
          <p:nvPr/>
        </p:nvSpPr>
        <p:spPr>
          <a:xfrm>
            <a:off x="10771560" y="5906880"/>
            <a:ext cx="182520" cy="109440"/>
          </a:xfrm>
          <a:prstGeom prst="roundRect">
            <a:avLst>
              <a:gd name="adj" fmla="val 33333"/>
            </a:avLst>
          </a:prstGeom>
          <a:solidFill>
            <a:srgbClr val="2f8b62"/>
          </a:solidFill>
          <a:ln w="12700">
            <a:solidFill>
              <a:srgbClr val="2f8b62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3560" bIns="4356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DejaVu Sans"/>
            </a:endParaRPr>
          </a:p>
        </p:txBody>
      </p:sp>
      <p:sp>
        <p:nvSpPr>
          <p:cNvPr id="272" name="Shape 50"/>
          <p:cNvSpPr/>
          <p:nvPr/>
        </p:nvSpPr>
        <p:spPr>
          <a:xfrm>
            <a:off x="11018520" y="5906880"/>
            <a:ext cx="182520" cy="109440"/>
          </a:xfrm>
          <a:prstGeom prst="roundRect">
            <a:avLst>
              <a:gd name="adj" fmla="val 33333"/>
            </a:avLst>
          </a:prstGeom>
          <a:solidFill>
            <a:srgbClr val="e2e7eb"/>
          </a:solidFill>
          <a:ln w="12700">
            <a:solidFill>
              <a:srgbClr val="e2e7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3560" bIns="4356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273" name="Shape 51"/>
          <p:cNvSpPr/>
          <p:nvPr/>
        </p:nvSpPr>
        <p:spPr>
          <a:xfrm>
            <a:off x="11018520" y="5906880"/>
            <a:ext cx="91080" cy="109440"/>
          </a:xfrm>
          <a:prstGeom prst="rect">
            <a:avLst/>
          </a:prstGeom>
          <a:solidFill>
            <a:srgbClr val="2f8b62"/>
          </a:solidFill>
          <a:ln w="12700">
            <a:solidFill>
              <a:srgbClr val="2f8b62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DejaVu Sans"/>
            </a:endParaRPr>
          </a:p>
        </p:txBody>
      </p:sp>
      <p:sp>
        <p:nvSpPr>
          <p:cNvPr id="274" name="Text 52"/>
          <p:cNvSpPr/>
          <p:nvPr/>
        </p:nvSpPr>
        <p:spPr>
          <a:xfrm>
            <a:off x="11292840" y="5852160"/>
            <a:ext cx="25560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40" spc="-1" strike="noStrike">
                <a:solidFill>
                  <a:srgbClr val="252a34"/>
                </a:solidFill>
                <a:latin typeface="Microsoft YaHei"/>
                <a:ea typeface="Microsoft YaHei"/>
              </a:rPr>
              <a:t>4.5</a:t>
            </a:r>
            <a:endParaRPr b="0" lang="en-US" sz="1040" spc="-1" strike="noStrike">
              <a:solidFill>
                <a:srgbClr val="000000"/>
              </a:solidFill>
              <a:latin typeface="DejaVu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Text 0"/>
          <p:cNvSpPr/>
          <p:nvPr/>
        </p:nvSpPr>
        <p:spPr>
          <a:xfrm>
            <a:off x="530280" y="219600"/>
            <a:ext cx="713196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pc="128" strike="noStrike">
                <a:solidFill>
                  <a:srgbClr val="657180"/>
                </a:solidFill>
                <a:latin typeface="Microsoft YaHei"/>
                <a:ea typeface="Microsoft YaHei"/>
              </a:rPr>
              <a:t>EVIDENCE-LED DESIGN</a:t>
            </a:r>
            <a:endParaRPr b="0" lang="en-US" sz="95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276" name="Text 1"/>
          <p:cNvSpPr/>
          <p:nvPr/>
        </p:nvSpPr>
        <p:spPr>
          <a:xfrm>
            <a:off x="530280" y="484560"/>
            <a:ext cx="1051524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2850" spc="-1" strike="noStrike">
                <a:solidFill>
                  <a:srgbClr val="252a34"/>
                </a:solidFill>
                <a:latin typeface="Microsoft YaHei"/>
                <a:ea typeface="Microsoft YaHei"/>
              </a:rPr>
              <a:t>方案 </a:t>
            </a:r>
            <a:r>
              <a:rPr b="1" lang="en-US" sz="2850" spc="-1" strike="noStrike">
                <a:solidFill>
                  <a:srgbClr val="252a34"/>
                </a:solidFill>
                <a:latin typeface="Microsoft YaHei"/>
                <a:ea typeface="Microsoft YaHei"/>
              </a:rPr>
              <a:t>E</a:t>
            </a:r>
            <a:r>
              <a:rPr b="1" lang="zh-CN" sz="2850" spc="-1" strike="noStrike">
                <a:solidFill>
                  <a:srgbClr val="252a34"/>
                </a:solidFill>
                <a:latin typeface="Microsoft YaHei"/>
                <a:ea typeface="Microsoft YaHei"/>
              </a:rPr>
              <a:t>｜群体指纹 </a:t>
            </a:r>
            <a:r>
              <a:rPr b="1" lang="en-US" sz="2850" spc="-1" strike="noStrike">
                <a:solidFill>
                  <a:srgbClr val="252a34"/>
                </a:solidFill>
                <a:latin typeface="Microsoft YaHei"/>
                <a:ea typeface="Microsoft YaHei"/>
              </a:rPr>
              <a:t>+ </a:t>
            </a:r>
            <a:r>
              <a:rPr b="1" lang="zh-CN" sz="2850" spc="-1" strike="noStrike">
                <a:solidFill>
                  <a:srgbClr val="252a34"/>
                </a:solidFill>
                <a:latin typeface="Microsoft YaHei"/>
                <a:ea typeface="Microsoft YaHei"/>
              </a:rPr>
              <a:t>位点地图：证据最稳</a:t>
            </a:r>
            <a:endParaRPr b="0" lang="en-US" sz="285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277" name="Shape 2"/>
          <p:cNvSpPr/>
          <p:nvPr/>
        </p:nvSpPr>
        <p:spPr>
          <a:xfrm>
            <a:off x="10716840" y="283320"/>
            <a:ext cx="493560" cy="228240"/>
          </a:xfrm>
          <a:prstGeom prst="roundRect">
            <a:avLst>
              <a:gd name="adj" fmla="val 20000"/>
            </a:avLst>
          </a:prstGeom>
          <a:solidFill>
            <a:srgbClr val="2583b6"/>
          </a:solidFill>
          <a:ln w="12700">
            <a:solidFill>
              <a:srgbClr val="2583b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DejaVu Sans"/>
            </a:endParaRPr>
          </a:p>
        </p:txBody>
      </p:sp>
      <p:sp>
        <p:nvSpPr>
          <p:cNvPr id="278" name="Text 3"/>
          <p:cNvSpPr/>
          <p:nvPr/>
        </p:nvSpPr>
        <p:spPr>
          <a:xfrm>
            <a:off x="10716840" y="292680"/>
            <a:ext cx="49356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-1" strike="noStrike">
                <a:solidFill>
                  <a:srgbClr val="ffffff"/>
                </a:solidFill>
                <a:latin typeface="Microsoft YaHei"/>
                <a:ea typeface="Microsoft YaHei"/>
              </a:rPr>
              <a:t>L10</a:t>
            </a:r>
            <a:endParaRPr b="0" lang="en-US" sz="85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279" name="Shape 4"/>
          <p:cNvSpPr/>
          <p:nvPr/>
        </p:nvSpPr>
        <p:spPr>
          <a:xfrm>
            <a:off x="11256120" y="283320"/>
            <a:ext cx="493560" cy="228240"/>
          </a:xfrm>
          <a:prstGeom prst="roundRect">
            <a:avLst>
              <a:gd name="adj" fmla="val 20000"/>
            </a:avLst>
          </a:prstGeom>
          <a:solidFill>
            <a:srgbClr val="d66a1f"/>
          </a:solidFill>
          <a:ln w="12700">
            <a:solidFill>
              <a:srgbClr val="d66a1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DejaVu Sans"/>
            </a:endParaRPr>
          </a:p>
        </p:txBody>
      </p:sp>
      <p:sp>
        <p:nvSpPr>
          <p:cNvPr id="280" name="Text 5"/>
          <p:cNvSpPr/>
          <p:nvPr/>
        </p:nvSpPr>
        <p:spPr>
          <a:xfrm>
            <a:off x="11256120" y="292680"/>
            <a:ext cx="49356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-1" strike="noStrike">
                <a:solidFill>
                  <a:srgbClr val="ffffff"/>
                </a:solidFill>
                <a:latin typeface="Microsoft YaHei"/>
                <a:ea typeface="Microsoft YaHei"/>
              </a:rPr>
              <a:t>L20</a:t>
            </a:r>
            <a:endParaRPr b="0" lang="en-US" sz="85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281" name="Shape 6"/>
          <p:cNvSpPr/>
          <p:nvPr/>
        </p:nvSpPr>
        <p:spPr>
          <a:xfrm>
            <a:off x="11192040" y="397440"/>
            <a:ext cx="73080" cy="360"/>
          </a:xfrm>
          <a:prstGeom prst="line">
            <a:avLst/>
          </a:prstGeom>
          <a:ln w="15240">
            <a:solidFill>
              <a:srgbClr val="d7dee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282" name="Text 7"/>
          <p:cNvSpPr/>
          <p:nvPr/>
        </p:nvSpPr>
        <p:spPr>
          <a:xfrm>
            <a:off x="502920" y="6528960"/>
            <a:ext cx="493740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80" spc="-1" strike="noStrike">
                <a:solidFill>
                  <a:srgbClr val="8a96a3"/>
                </a:solidFill>
                <a:latin typeface="Microsoft YaHei"/>
                <a:ea typeface="Microsoft YaHei"/>
              </a:rPr>
              <a:t>PETase manuscript · TOC graphic review</a:t>
            </a:r>
            <a:endParaRPr b="0" lang="en-US" sz="88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283" name="Text 8"/>
          <p:cNvSpPr/>
          <p:nvPr/>
        </p:nvSpPr>
        <p:spPr>
          <a:xfrm>
            <a:off x="11247120" y="6501240"/>
            <a:ext cx="4384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20" spc="-1" strike="noStrike">
                <a:solidFill>
                  <a:srgbClr val="8a96a3"/>
                </a:solidFill>
                <a:latin typeface="Microsoft YaHei"/>
                <a:ea typeface="Microsoft YaHei"/>
              </a:rPr>
              <a:t>06</a:t>
            </a:r>
            <a:endParaRPr b="0" lang="en-US" sz="92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284" name="Shape 9"/>
          <p:cNvSpPr/>
          <p:nvPr/>
        </p:nvSpPr>
        <p:spPr>
          <a:xfrm>
            <a:off x="576000" y="1143000"/>
            <a:ext cx="347040" cy="347040"/>
          </a:xfrm>
          <a:prstGeom prst="ellipse">
            <a:avLst/>
          </a:prstGeom>
          <a:solidFill>
            <a:srgbClr val="2f8b62"/>
          </a:solidFill>
          <a:ln w="12700">
            <a:solidFill>
              <a:srgbClr val="2f8b6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DejaVu Sans"/>
            </a:endParaRPr>
          </a:p>
        </p:txBody>
      </p:sp>
      <p:sp>
        <p:nvSpPr>
          <p:cNvPr id="285" name="Text 10"/>
          <p:cNvSpPr/>
          <p:nvPr/>
        </p:nvSpPr>
        <p:spPr>
          <a:xfrm>
            <a:off x="576000" y="1152000"/>
            <a:ext cx="347040" cy="28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-1" strike="noStrike">
                <a:solidFill>
                  <a:srgbClr val="ffffff"/>
                </a:solidFill>
                <a:latin typeface="Microsoft YaHei"/>
                <a:ea typeface="Microsoft YaHei"/>
              </a:rPr>
              <a:t>E</a:t>
            </a:r>
            <a:endParaRPr b="0" lang="en-US" sz="115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286" name="Text 11"/>
          <p:cNvSpPr/>
          <p:nvPr/>
        </p:nvSpPr>
        <p:spPr>
          <a:xfrm>
            <a:off x="1033200" y="1124640"/>
            <a:ext cx="42973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50" spc="-1" strike="noStrike">
                <a:solidFill>
                  <a:srgbClr val="252a34"/>
                </a:solidFill>
                <a:latin typeface="Microsoft YaHei"/>
                <a:ea typeface="Microsoft YaHei"/>
              </a:rPr>
              <a:t>Retained-interface fingerprints</a:t>
            </a:r>
            <a:endParaRPr b="0" lang="en-US" sz="185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287" name="Shape 12"/>
          <p:cNvSpPr/>
          <p:nvPr/>
        </p:nvSpPr>
        <p:spPr>
          <a:xfrm>
            <a:off x="576000" y="1618560"/>
            <a:ext cx="7452000" cy="4014000"/>
          </a:xfrm>
          <a:prstGeom prst="roundRect">
            <a:avLst>
              <a:gd name="adj" fmla="val 1822"/>
            </a:avLst>
          </a:prstGeom>
          <a:solidFill>
            <a:srgbClr val="ffffff"/>
          </a:solidFill>
          <a:ln w="10160">
            <a:solidFill>
              <a:srgbClr val="a7d1bb"/>
            </a:solidFill>
            <a:round/>
          </a:ln>
          <a:effectLst>
            <a:outerShdw algn="bl" blurRad="25560" dir="8100000" dist="12218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DejaVu Sans"/>
            </a:endParaRPr>
          </a:p>
        </p:txBody>
      </p:sp>
      <p:pic>
        <p:nvPicPr>
          <p:cNvPr id="288" name="Image 0" descr="Option E: population fingerprints and site maps"/>
          <p:cNvPicPr/>
          <p:nvPr/>
        </p:nvPicPr>
        <p:blipFill>
          <a:blip r:embed="rId1"/>
          <a:stretch/>
        </p:blipFill>
        <p:spPr>
          <a:xfrm>
            <a:off x="649080" y="1691640"/>
            <a:ext cx="7305840" cy="3867480"/>
          </a:xfrm>
          <a:prstGeom prst="rect">
            <a:avLst/>
          </a:prstGeom>
          <a:ln w="0">
            <a:noFill/>
          </a:ln>
        </p:spPr>
      </p:pic>
      <p:sp>
        <p:nvSpPr>
          <p:cNvPr id="289" name="Shape 13"/>
          <p:cNvSpPr/>
          <p:nvPr/>
        </p:nvSpPr>
        <p:spPr>
          <a:xfrm>
            <a:off x="8321040" y="1143000"/>
            <a:ext cx="3254760" cy="5028840"/>
          </a:xfrm>
          <a:prstGeom prst="roundRect">
            <a:avLst>
              <a:gd name="adj" fmla="val 2809"/>
            </a:avLst>
          </a:prstGeom>
          <a:solidFill>
            <a:srgbClr val="e9f5ef"/>
          </a:solidFill>
          <a:ln w="10160">
            <a:solidFill>
              <a:srgbClr val="afd8c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290" name="Shape 14"/>
          <p:cNvSpPr/>
          <p:nvPr/>
        </p:nvSpPr>
        <p:spPr>
          <a:xfrm>
            <a:off x="8595360" y="1389960"/>
            <a:ext cx="1069560" cy="292320"/>
          </a:xfrm>
          <a:prstGeom prst="roundRect">
            <a:avLst>
              <a:gd name="adj" fmla="val 25000"/>
            </a:avLst>
          </a:prstGeom>
          <a:solidFill>
            <a:srgbClr val="2f8b62"/>
          </a:solidFill>
          <a:ln w="7620">
            <a:solidFill>
              <a:srgbClr val="2f8b6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DejaVu Sans"/>
            </a:endParaRPr>
          </a:p>
        </p:txBody>
      </p:sp>
      <p:sp>
        <p:nvSpPr>
          <p:cNvPr id="291" name="Text 15"/>
          <p:cNvSpPr/>
          <p:nvPr/>
        </p:nvSpPr>
        <p:spPr>
          <a:xfrm>
            <a:off x="8650080" y="1398960"/>
            <a:ext cx="959760" cy="24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960" spc="-1" strike="noStrike">
                <a:solidFill>
                  <a:srgbClr val="ffffff"/>
                </a:solidFill>
                <a:latin typeface="Microsoft YaHei"/>
                <a:ea typeface="Microsoft YaHei"/>
              </a:rPr>
              <a:t>科学冠军</a:t>
            </a:r>
            <a:endParaRPr b="0" lang="en-US" sz="96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292" name="Shape 16"/>
          <p:cNvSpPr/>
          <p:nvPr/>
        </p:nvSpPr>
        <p:spPr>
          <a:xfrm>
            <a:off x="9811440" y="1389960"/>
            <a:ext cx="1078560" cy="292320"/>
          </a:xfrm>
          <a:prstGeom prst="roundRect">
            <a:avLst>
              <a:gd name="adj" fmla="val 25000"/>
            </a:avLst>
          </a:prstGeom>
          <a:solidFill>
            <a:srgbClr val="252a34"/>
          </a:solidFill>
          <a:ln w="7620">
            <a:solidFill>
              <a:srgbClr val="252a3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DejaVu Sans"/>
            </a:endParaRPr>
          </a:p>
        </p:txBody>
      </p:sp>
      <p:sp>
        <p:nvSpPr>
          <p:cNvPr id="293" name="Text 17"/>
          <p:cNvSpPr/>
          <p:nvPr/>
        </p:nvSpPr>
        <p:spPr>
          <a:xfrm>
            <a:off x="9866520" y="1398960"/>
            <a:ext cx="968760" cy="24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960" spc="-1" strike="noStrike">
                <a:solidFill>
                  <a:srgbClr val="ffffff"/>
                </a:solidFill>
                <a:latin typeface="Microsoft YaHei"/>
                <a:ea typeface="Microsoft YaHei"/>
              </a:rPr>
              <a:t>推荐投稿</a:t>
            </a:r>
            <a:endParaRPr b="0" lang="en-US" sz="96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294" name="Shape 18"/>
          <p:cNvSpPr/>
          <p:nvPr/>
        </p:nvSpPr>
        <p:spPr>
          <a:xfrm>
            <a:off x="8577000" y="1956960"/>
            <a:ext cx="109440" cy="109440"/>
          </a:xfrm>
          <a:prstGeom prst="roundRect">
            <a:avLst>
              <a:gd name="adj" fmla="val 25000"/>
            </a:avLst>
          </a:prstGeom>
          <a:solidFill>
            <a:srgbClr val="2f8b62"/>
          </a:solidFill>
          <a:ln w="12700">
            <a:solidFill>
              <a:srgbClr val="2f8b6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DejaVu Sans"/>
            </a:endParaRPr>
          </a:p>
        </p:txBody>
      </p:sp>
      <p:sp>
        <p:nvSpPr>
          <p:cNvPr id="295" name="Text 19"/>
          <p:cNvSpPr/>
          <p:nvPr/>
        </p:nvSpPr>
        <p:spPr>
          <a:xfrm>
            <a:off x="8759880" y="1911240"/>
            <a:ext cx="8042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1120" spc="-1" strike="noStrike">
                <a:solidFill>
                  <a:srgbClr val="2f8b62"/>
                </a:solidFill>
                <a:latin typeface="Microsoft YaHei"/>
                <a:ea typeface="Microsoft YaHei"/>
              </a:rPr>
              <a:t>读者看到</a:t>
            </a:r>
            <a:endParaRPr b="0" lang="en-US" sz="112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296" name="Text 20"/>
          <p:cNvSpPr/>
          <p:nvPr/>
        </p:nvSpPr>
        <p:spPr>
          <a:xfrm>
            <a:off x="9601200" y="1901880"/>
            <a:ext cx="167292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zh-CN" sz="1210" spc="-1" strike="noStrike">
                <a:solidFill>
                  <a:srgbClr val="252a34"/>
                </a:solidFill>
                <a:latin typeface="Microsoft YaHei"/>
                <a:ea typeface="Microsoft YaHei"/>
              </a:rPr>
              <a:t>六酶界面不同；</a:t>
            </a:r>
            <a:r>
              <a:rPr b="0" lang="en-US" sz="1210" spc="-1" strike="noStrike">
                <a:solidFill>
                  <a:srgbClr val="252a34"/>
                </a:solidFill>
                <a:latin typeface="Microsoft YaHei"/>
                <a:ea typeface="Microsoft YaHei"/>
              </a:rPr>
              <a:t>L10</a:t>
            </a:r>
            <a:r>
              <a:rPr b="0" lang="zh-CN" sz="1210" spc="-1" strike="noStrike">
                <a:solidFill>
                  <a:srgbClr val="252a34"/>
                </a:solidFill>
                <a:latin typeface="Microsoft YaHei"/>
                <a:ea typeface="Microsoft YaHei"/>
              </a:rPr>
              <a:t>与</a:t>
            </a:r>
            <a:r>
              <a:rPr b="0" lang="en-US" sz="1210" spc="-1" strike="noStrike">
                <a:solidFill>
                  <a:srgbClr val="252a34"/>
                </a:solidFill>
                <a:latin typeface="Microsoft YaHei"/>
                <a:ea typeface="Microsoft YaHei"/>
              </a:rPr>
              <a:t>L20</a:t>
            </a:r>
            <a:r>
              <a:rPr b="0" lang="zh-CN" sz="1210" spc="-1" strike="noStrike">
                <a:solidFill>
                  <a:srgbClr val="252a34"/>
                </a:solidFill>
                <a:latin typeface="Microsoft YaHei"/>
                <a:ea typeface="Microsoft YaHei"/>
              </a:rPr>
              <a:t>重排不同；支持位点位于</a:t>
            </a:r>
            <a:r>
              <a:rPr b="0" lang="en-US" sz="1210" spc="-1" strike="noStrike">
                <a:solidFill>
                  <a:srgbClr val="252a34"/>
                </a:solidFill>
                <a:latin typeface="Microsoft YaHei"/>
                <a:ea typeface="Microsoft YaHei"/>
              </a:rPr>
              <a:t>TfCut1</a:t>
            </a:r>
            <a:r>
              <a:rPr b="0" lang="zh-CN" sz="1210" spc="-1" strike="noStrike">
                <a:solidFill>
                  <a:srgbClr val="252a34"/>
                </a:solidFill>
                <a:latin typeface="Microsoft YaHei"/>
                <a:ea typeface="Microsoft YaHei"/>
              </a:rPr>
              <a:t>和</a:t>
            </a:r>
            <a:r>
              <a:rPr b="0" lang="en-US" sz="1210" spc="-1" strike="noStrike">
                <a:solidFill>
                  <a:srgbClr val="252a34"/>
                </a:solidFill>
                <a:latin typeface="Microsoft YaHei"/>
                <a:ea typeface="Microsoft YaHei"/>
              </a:rPr>
              <a:t>HiC</a:t>
            </a:r>
            <a:r>
              <a:rPr b="0" lang="zh-CN" sz="1210" spc="-1" strike="noStrike">
                <a:solidFill>
                  <a:srgbClr val="252a34"/>
                </a:solidFill>
                <a:latin typeface="Microsoft YaHei"/>
                <a:ea typeface="Microsoft YaHei"/>
              </a:rPr>
              <a:t>。</a:t>
            </a:r>
            <a:endParaRPr b="0" lang="en-US" sz="121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297" name="Shape 21"/>
          <p:cNvSpPr/>
          <p:nvPr/>
        </p:nvSpPr>
        <p:spPr>
          <a:xfrm>
            <a:off x="8577000" y="2807280"/>
            <a:ext cx="109440" cy="109440"/>
          </a:xfrm>
          <a:prstGeom prst="roundRect">
            <a:avLst>
              <a:gd name="adj" fmla="val 25000"/>
            </a:avLst>
          </a:prstGeom>
          <a:solidFill>
            <a:srgbClr val="2583b6"/>
          </a:solidFill>
          <a:ln w="12700">
            <a:solidFill>
              <a:srgbClr val="2583b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DejaVu Sans"/>
            </a:endParaRPr>
          </a:p>
        </p:txBody>
      </p:sp>
      <p:sp>
        <p:nvSpPr>
          <p:cNvPr id="298" name="Text 22"/>
          <p:cNvSpPr/>
          <p:nvPr/>
        </p:nvSpPr>
        <p:spPr>
          <a:xfrm>
            <a:off x="8759880" y="2761560"/>
            <a:ext cx="8042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1120" spc="-1" strike="noStrike">
                <a:solidFill>
                  <a:srgbClr val="2583b6"/>
                </a:solidFill>
                <a:latin typeface="Microsoft YaHei"/>
                <a:ea typeface="Microsoft YaHei"/>
              </a:rPr>
              <a:t>核心亮点</a:t>
            </a:r>
            <a:endParaRPr b="0" lang="en-US" sz="112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299" name="Text 23"/>
          <p:cNvSpPr/>
          <p:nvPr/>
        </p:nvSpPr>
        <p:spPr>
          <a:xfrm>
            <a:off x="9601200" y="2752200"/>
            <a:ext cx="1672920" cy="78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zh-CN" sz="1210" spc="-1" strike="noStrike">
                <a:solidFill>
                  <a:srgbClr val="252a34"/>
                </a:solidFill>
                <a:latin typeface="Microsoft YaHei"/>
                <a:ea typeface="Microsoft YaHei"/>
              </a:rPr>
              <a:t>群体统计为主；</a:t>
            </a:r>
            <a:r>
              <a:rPr b="0" lang="en-US" sz="1210" spc="-1" strike="noStrike">
                <a:solidFill>
                  <a:srgbClr val="252a34"/>
                </a:solidFill>
                <a:latin typeface="Microsoft YaHei"/>
                <a:ea typeface="Microsoft YaHei"/>
              </a:rPr>
              <a:t>contact class</a:t>
            </a:r>
            <a:r>
              <a:rPr b="0" lang="zh-CN" sz="1210" spc="-1" strike="noStrike">
                <a:solidFill>
                  <a:srgbClr val="252a34"/>
                </a:solidFill>
                <a:latin typeface="Microsoft YaHei"/>
                <a:ea typeface="Microsoft YaHei"/>
              </a:rPr>
              <a:t>建立跨酶语言；结构只作空间定位。</a:t>
            </a:r>
            <a:endParaRPr b="0" lang="en-US" sz="121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300" name="Shape 24"/>
          <p:cNvSpPr/>
          <p:nvPr/>
        </p:nvSpPr>
        <p:spPr>
          <a:xfrm>
            <a:off x="8577000" y="3666600"/>
            <a:ext cx="109440" cy="109440"/>
          </a:xfrm>
          <a:prstGeom prst="roundRect">
            <a:avLst>
              <a:gd name="adj" fmla="val 25000"/>
            </a:avLst>
          </a:prstGeom>
          <a:solidFill>
            <a:srgbClr val="d66a1f"/>
          </a:solidFill>
          <a:ln w="12700">
            <a:solidFill>
              <a:srgbClr val="d66a1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DejaVu Sans"/>
            </a:endParaRPr>
          </a:p>
        </p:txBody>
      </p:sp>
      <p:sp>
        <p:nvSpPr>
          <p:cNvPr id="301" name="Text 25"/>
          <p:cNvSpPr/>
          <p:nvPr/>
        </p:nvSpPr>
        <p:spPr>
          <a:xfrm>
            <a:off x="8759880" y="3620880"/>
            <a:ext cx="8042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1120" spc="-1" strike="noStrike">
                <a:solidFill>
                  <a:srgbClr val="d66a1f"/>
                </a:solidFill>
                <a:latin typeface="Microsoft YaHei"/>
                <a:ea typeface="Microsoft YaHei"/>
              </a:rPr>
              <a:t>风险控制</a:t>
            </a:r>
            <a:endParaRPr b="0" lang="en-US" sz="112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302" name="Text 26"/>
          <p:cNvSpPr/>
          <p:nvPr/>
        </p:nvSpPr>
        <p:spPr>
          <a:xfrm>
            <a:off x="9601200" y="3611880"/>
            <a:ext cx="1672920" cy="75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zh-CN" sz="1210" spc="-1" strike="noStrike">
                <a:solidFill>
                  <a:srgbClr val="252a34"/>
                </a:solidFill>
                <a:latin typeface="Microsoft YaHei"/>
                <a:ea typeface="Microsoft YaHei"/>
              </a:rPr>
              <a:t>无箭头、键线或效应大小暗示；</a:t>
            </a:r>
            <a:r>
              <a:rPr b="0" lang="en-US" sz="1210" spc="-1" strike="noStrike">
                <a:solidFill>
                  <a:srgbClr val="252a34"/>
                </a:solidFill>
                <a:latin typeface="Microsoft YaHei"/>
                <a:ea typeface="Microsoft YaHei"/>
              </a:rPr>
              <a:t>PHL7</a:t>
            </a:r>
            <a:r>
              <a:rPr b="0" lang="zh-CN" sz="1210" spc="-1" strike="noStrike">
                <a:solidFill>
                  <a:srgbClr val="252a34"/>
                </a:solidFill>
                <a:latin typeface="Microsoft YaHei"/>
                <a:ea typeface="Microsoft YaHei"/>
              </a:rPr>
              <a:t>稀疏样本明确标注。</a:t>
            </a:r>
            <a:endParaRPr b="0" lang="en-US" sz="121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303" name="Text 27"/>
          <p:cNvSpPr/>
          <p:nvPr/>
        </p:nvSpPr>
        <p:spPr>
          <a:xfrm>
            <a:off x="8595360" y="4590360"/>
            <a:ext cx="23770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1450" spc="-1" strike="noStrike">
                <a:solidFill>
                  <a:srgbClr val="252a34"/>
                </a:solidFill>
                <a:latin typeface="Microsoft YaHei"/>
                <a:ea typeface="Microsoft YaHei"/>
              </a:rPr>
              <a:t>仍可优化</a:t>
            </a:r>
            <a:endParaRPr b="0" lang="en-US" sz="145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304" name="Text 28"/>
          <p:cNvSpPr/>
          <p:nvPr/>
        </p:nvSpPr>
        <p:spPr>
          <a:xfrm>
            <a:off x="8595360" y="4901040"/>
            <a:ext cx="2587320" cy="67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1280" spc="-1" strike="noStrike">
                <a:solidFill>
                  <a:srgbClr val="252a34"/>
                </a:solidFill>
                <a:latin typeface="Microsoft YaHei"/>
                <a:ea typeface="Microsoft YaHei"/>
              </a:rPr>
              <a:t>偏分析型；可加入无方向链长提示，并精简标题与图例。</a:t>
            </a:r>
            <a:endParaRPr b="0" lang="en-US" sz="128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305" name="Text 29"/>
          <p:cNvSpPr/>
          <p:nvPr/>
        </p:nvSpPr>
        <p:spPr>
          <a:xfrm>
            <a:off x="8549640" y="5641920"/>
            <a:ext cx="14169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zh-CN" sz="1120" spc="-1" strike="noStrike">
                <a:solidFill>
                  <a:srgbClr val="657180"/>
                </a:solidFill>
                <a:latin typeface="Microsoft YaHei"/>
                <a:ea typeface="Microsoft YaHei"/>
              </a:rPr>
              <a:t>科学准确</a:t>
            </a:r>
            <a:endParaRPr b="0" lang="en-US" sz="112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306" name="Shape 30"/>
          <p:cNvSpPr/>
          <p:nvPr/>
        </p:nvSpPr>
        <p:spPr>
          <a:xfrm>
            <a:off x="10031040" y="5687640"/>
            <a:ext cx="182520" cy="109440"/>
          </a:xfrm>
          <a:prstGeom prst="roundRect">
            <a:avLst>
              <a:gd name="adj" fmla="val 33333"/>
            </a:avLst>
          </a:prstGeom>
          <a:solidFill>
            <a:srgbClr val="e2e7eb"/>
          </a:solidFill>
          <a:ln w="12700">
            <a:solidFill>
              <a:srgbClr val="e2e7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3560" bIns="4356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307" name="Shape 31"/>
          <p:cNvSpPr/>
          <p:nvPr/>
        </p:nvSpPr>
        <p:spPr>
          <a:xfrm>
            <a:off x="10031040" y="5687640"/>
            <a:ext cx="182520" cy="109440"/>
          </a:xfrm>
          <a:prstGeom prst="roundRect">
            <a:avLst>
              <a:gd name="adj" fmla="val 33333"/>
            </a:avLst>
          </a:prstGeom>
          <a:solidFill>
            <a:srgbClr val="2f8b62"/>
          </a:solidFill>
          <a:ln w="12700">
            <a:solidFill>
              <a:srgbClr val="2f8b62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3560" bIns="4356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DejaVu Sans"/>
            </a:endParaRPr>
          </a:p>
        </p:txBody>
      </p:sp>
      <p:sp>
        <p:nvSpPr>
          <p:cNvPr id="308" name="Shape 32"/>
          <p:cNvSpPr/>
          <p:nvPr/>
        </p:nvSpPr>
        <p:spPr>
          <a:xfrm>
            <a:off x="10278000" y="5687640"/>
            <a:ext cx="182520" cy="109440"/>
          </a:xfrm>
          <a:prstGeom prst="roundRect">
            <a:avLst>
              <a:gd name="adj" fmla="val 33333"/>
            </a:avLst>
          </a:prstGeom>
          <a:solidFill>
            <a:srgbClr val="e2e7eb"/>
          </a:solidFill>
          <a:ln w="12700">
            <a:solidFill>
              <a:srgbClr val="e2e7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3560" bIns="4356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309" name="Shape 33"/>
          <p:cNvSpPr/>
          <p:nvPr/>
        </p:nvSpPr>
        <p:spPr>
          <a:xfrm>
            <a:off x="10278000" y="5687640"/>
            <a:ext cx="182520" cy="109440"/>
          </a:xfrm>
          <a:prstGeom prst="roundRect">
            <a:avLst>
              <a:gd name="adj" fmla="val 33333"/>
            </a:avLst>
          </a:prstGeom>
          <a:solidFill>
            <a:srgbClr val="2f8b62"/>
          </a:solidFill>
          <a:ln w="12700">
            <a:solidFill>
              <a:srgbClr val="2f8b62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3560" bIns="4356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DejaVu Sans"/>
            </a:endParaRPr>
          </a:p>
        </p:txBody>
      </p:sp>
      <p:sp>
        <p:nvSpPr>
          <p:cNvPr id="310" name="Shape 34"/>
          <p:cNvSpPr/>
          <p:nvPr/>
        </p:nvSpPr>
        <p:spPr>
          <a:xfrm>
            <a:off x="10524600" y="5687640"/>
            <a:ext cx="182520" cy="109440"/>
          </a:xfrm>
          <a:prstGeom prst="roundRect">
            <a:avLst>
              <a:gd name="adj" fmla="val 33333"/>
            </a:avLst>
          </a:prstGeom>
          <a:solidFill>
            <a:srgbClr val="e2e7eb"/>
          </a:solidFill>
          <a:ln w="12700">
            <a:solidFill>
              <a:srgbClr val="e2e7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3560" bIns="4356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311" name="Shape 35"/>
          <p:cNvSpPr/>
          <p:nvPr/>
        </p:nvSpPr>
        <p:spPr>
          <a:xfrm>
            <a:off x="10524600" y="5687640"/>
            <a:ext cx="182520" cy="109440"/>
          </a:xfrm>
          <a:prstGeom prst="roundRect">
            <a:avLst>
              <a:gd name="adj" fmla="val 33333"/>
            </a:avLst>
          </a:prstGeom>
          <a:solidFill>
            <a:srgbClr val="2f8b62"/>
          </a:solidFill>
          <a:ln w="12700">
            <a:solidFill>
              <a:srgbClr val="2f8b62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3560" bIns="4356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DejaVu Sans"/>
            </a:endParaRPr>
          </a:p>
        </p:txBody>
      </p:sp>
      <p:sp>
        <p:nvSpPr>
          <p:cNvPr id="312" name="Shape 36"/>
          <p:cNvSpPr/>
          <p:nvPr/>
        </p:nvSpPr>
        <p:spPr>
          <a:xfrm>
            <a:off x="10771560" y="5687640"/>
            <a:ext cx="182520" cy="109440"/>
          </a:xfrm>
          <a:prstGeom prst="roundRect">
            <a:avLst>
              <a:gd name="adj" fmla="val 33333"/>
            </a:avLst>
          </a:prstGeom>
          <a:solidFill>
            <a:srgbClr val="e2e7eb"/>
          </a:solidFill>
          <a:ln w="12700">
            <a:solidFill>
              <a:srgbClr val="e2e7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3560" bIns="4356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313" name="Shape 37"/>
          <p:cNvSpPr/>
          <p:nvPr/>
        </p:nvSpPr>
        <p:spPr>
          <a:xfrm>
            <a:off x="10771560" y="5687640"/>
            <a:ext cx="182520" cy="109440"/>
          </a:xfrm>
          <a:prstGeom prst="roundRect">
            <a:avLst>
              <a:gd name="adj" fmla="val 33333"/>
            </a:avLst>
          </a:prstGeom>
          <a:solidFill>
            <a:srgbClr val="2f8b62"/>
          </a:solidFill>
          <a:ln w="12700">
            <a:solidFill>
              <a:srgbClr val="2f8b62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3560" bIns="4356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DejaVu Sans"/>
            </a:endParaRPr>
          </a:p>
        </p:txBody>
      </p:sp>
      <p:sp>
        <p:nvSpPr>
          <p:cNvPr id="314" name="Shape 38"/>
          <p:cNvSpPr/>
          <p:nvPr/>
        </p:nvSpPr>
        <p:spPr>
          <a:xfrm>
            <a:off x="11018520" y="5687640"/>
            <a:ext cx="182520" cy="109440"/>
          </a:xfrm>
          <a:prstGeom prst="roundRect">
            <a:avLst>
              <a:gd name="adj" fmla="val 33333"/>
            </a:avLst>
          </a:prstGeom>
          <a:solidFill>
            <a:srgbClr val="e2e7eb"/>
          </a:solidFill>
          <a:ln w="12700">
            <a:solidFill>
              <a:srgbClr val="e2e7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3560" bIns="4356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315" name="Shape 39"/>
          <p:cNvSpPr/>
          <p:nvPr/>
        </p:nvSpPr>
        <p:spPr>
          <a:xfrm>
            <a:off x="11018520" y="5687640"/>
            <a:ext cx="182520" cy="109440"/>
          </a:xfrm>
          <a:prstGeom prst="roundRect">
            <a:avLst>
              <a:gd name="adj" fmla="val 33333"/>
            </a:avLst>
          </a:prstGeom>
          <a:solidFill>
            <a:srgbClr val="2f8b62"/>
          </a:solidFill>
          <a:ln w="12700">
            <a:solidFill>
              <a:srgbClr val="2f8b62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3560" bIns="4356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DejaVu Sans"/>
            </a:endParaRPr>
          </a:p>
        </p:txBody>
      </p:sp>
      <p:sp>
        <p:nvSpPr>
          <p:cNvPr id="316" name="Text 40"/>
          <p:cNvSpPr/>
          <p:nvPr/>
        </p:nvSpPr>
        <p:spPr>
          <a:xfrm>
            <a:off x="11292840" y="5632560"/>
            <a:ext cx="25560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40" spc="-1" strike="noStrike">
                <a:solidFill>
                  <a:srgbClr val="252a34"/>
                </a:solidFill>
                <a:latin typeface="Microsoft YaHei"/>
                <a:ea typeface="Microsoft YaHei"/>
              </a:rPr>
              <a:t>5.0</a:t>
            </a:r>
            <a:endParaRPr b="0" lang="en-US" sz="104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317" name="Text 41"/>
          <p:cNvSpPr/>
          <p:nvPr/>
        </p:nvSpPr>
        <p:spPr>
          <a:xfrm>
            <a:off x="8549640" y="5925240"/>
            <a:ext cx="14169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zh-CN" sz="1120" spc="-1" strike="noStrike">
                <a:solidFill>
                  <a:srgbClr val="657180"/>
                </a:solidFill>
                <a:latin typeface="Microsoft YaHei"/>
                <a:ea typeface="Microsoft YaHei"/>
              </a:rPr>
              <a:t>审稿低风险</a:t>
            </a:r>
            <a:endParaRPr b="0" lang="en-US" sz="112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318" name="Shape 42"/>
          <p:cNvSpPr/>
          <p:nvPr/>
        </p:nvSpPr>
        <p:spPr>
          <a:xfrm>
            <a:off x="10031040" y="5970960"/>
            <a:ext cx="182520" cy="109440"/>
          </a:xfrm>
          <a:prstGeom prst="roundRect">
            <a:avLst>
              <a:gd name="adj" fmla="val 33333"/>
            </a:avLst>
          </a:prstGeom>
          <a:solidFill>
            <a:srgbClr val="e2e7eb"/>
          </a:solidFill>
          <a:ln w="12700">
            <a:solidFill>
              <a:srgbClr val="e2e7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3560" bIns="4356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319" name="Shape 43"/>
          <p:cNvSpPr/>
          <p:nvPr/>
        </p:nvSpPr>
        <p:spPr>
          <a:xfrm>
            <a:off x="10031040" y="5970960"/>
            <a:ext cx="182520" cy="109440"/>
          </a:xfrm>
          <a:prstGeom prst="roundRect">
            <a:avLst>
              <a:gd name="adj" fmla="val 33333"/>
            </a:avLst>
          </a:prstGeom>
          <a:solidFill>
            <a:srgbClr val="2583b6"/>
          </a:solidFill>
          <a:ln w="12700">
            <a:solidFill>
              <a:srgbClr val="2583b6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3560" bIns="4356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DejaVu Sans"/>
            </a:endParaRPr>
          </a:p>
        </p:txBody>
      </p:sp>
      <p:sp>
        <p:nvSpPr>
          <p:cNvPr id="320" name="Shape 44"/>
          <p:cNvSpPr/>
          <p:nvPr/>
        </p:nvSpPr>
        <p:spPr>
          <a:xfrm>
            <a:off x="10278000" y="5970960"/>
            <a:ext cx="182520" cy="109440"/>
          </a:xfrm>
          <a:prstGeom prst="roundRect">
            <a:avLst>
              <a:gd name="adj" fmla="val 33333"/>
            </a:avLst>
          </a:prstGeom>
          <a:solidFill>
            <a:srgbClr val="e2e7eb"/>
          </a:solidFill>
          <a:ln w="12700">
            <a:solidFill>
              <a:srgbClr val="e2e7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3560" bIns="4356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321" name="Shape 45"/>
          <p:cNvSpPr/>
          <p:nvPr/>
        </p:nvSpPr>
        <p:spPr>
          <a:xfrm>
            <a:off x="10278000" y="5970960"/>
            <a:ext cx="182520" cy="109440"/>
          </a:xfrm>
          <a:prstGeom prst="roundRect">
            <a:avLst>
              <a:gd name="adj" fmla="val 33333"/>
            </a:avLst>
          </a:prstGeom>
          <a:solidFill>
            <a:srgbClr val="2583b6"/>
          </a:solidFill>
          <a:ln w="12700">
            <a:solidFill>
              <a:srgbClr val="2583b6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3560" bIns="4356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DejaVu Sans"/>
            </a:endParaRPr>
          </a:p>
        </p:txBody>
      </p:sp>
      <p:sp>
        <p:nvSpPr>
          <p:cNvPr id="322" name="Shape 46"/>
          <p:cNvSpPr/>
          <p:nvPr/>
        </p:nvSpPr>
        <p:spPr>
          <a:xfrm>
            <a:off x="10524600" y="5970960"/>
            <a:ext cx="182520" cy="109440"/>
          </a:xfrm>
          <a:prstGeom prst="roundRect">
            <a:avLst>
              <a:gd name="adj" fmla="val 33333"/>
            </a:avLst>
          </a:prstGeom>
          <a:solidFill>
            <a:srgbClr val="e2e7eb"/>
          </a:solidFill>
          <a:ln w="12700">
            <a:solidFill>
              <a:srgbClr val="e2e7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3560" bIns="4356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323" name="Shape 47"/>
          <p:cNvSpPr/>
          <p:nvPr/>
        </p:nvSpPr>
        <p:spPr>
          <a:xfrm>
            <a:off x="10524600" y="5970960"/>
            <a:ext cx="182520" cy="109440"/>
          </a:xfrm>
          <a:prstGeom prst="roundRect">
            <a:avLst>
              <a:gd name="adj" fmla="val 33333"/>
            </a:avLst>
          </a:prstGeom>
          <a:solidFill>
            <a:srgbClr val="2583b6"/>
          </a:solidFill>
          <a:ln w="12700">
            <a:solidFill>
              <a:srgbClr val="2583b6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3560" bIns="4356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DejaVu Sans"/>
            </a:endParaRPr>
          </a:p>
        </p:txBody>
      </p:sp>
      <p:sp>
        <p:nvSpPr>
          <p:cNvPr id="324" name="Shape 48"/>
          <p:cNvSpPr/>
          <p:nvPr/>
        </p:nvSpPr>
        <p:spPr>
          <a:xfrm>
            <a:off x="10771560" y="5970960"/>
            <a:ext cx="182520" cy="109440"/>
          </a:xfrm>
          <a:prstGeom prst="roundRect">
            <a:avLst>
              <a:gd name="adj" fmla="val 33333"/>
            </a:avLst>
          </a:prstGeom>
          <a:solidFill>
            <a:srgbClr val="e2e7eb"/>
          </a:solidFill>
          <a:ln w="12700">
            <a:solidFill>
              <a:srgbClr val="e2e7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3560" bIns="4356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325" name="Shape 49"/>
          <p:cNvSpPr/>
          <p:nvPr/>
        </p:nvSpPr>
        <p:spPr>
          <a:xfrm>
            <a:off x="10771560" y="5970960"/>
            <a:ext cx="182520" cy="109440"/>
          </a:xfrm>
          <a:prstGeom prst="roundRect">
            <a:avLst>
              <a:gd name="adj" fmla="val 33333"/>
            </a:avLst>
          </a:prstGeom>
          <a:solidFill>
            <a:srgbClr val="2583b6"/>
          </a:solidFill>
          <a:ln w="12700">
            <a:solidFill>
              <a:srgbClr val="2583b6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3560" bIns="4356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DejaVu Sans"/>
            </a:endParaRPr>
          </a:p>
        </p:txBody>
      </p:sp>
      <p:sp>
        <p:nvSpPr>
          <p:cNvPr id="326" name="Shape 50"/>
          <p:cNvSpPr/>
          <p:nvPr/>
        </p:nvSpPr>
        <p:spPr>
          <a:xfrm>
            <a:off x="11018520" y="5970960"/>
            <a:ext cx="182520" cy="109440"/>
          </a:xfrm>
          <a:prstGeom prst="roundRect">
            <a:avLst>
              <a:gd name="adj" fmla="val 33333"/>
            </a:avLst>
          </a:prstGeom>
          <a:solidFill>
            <a:srgbClr val="e2e7eb"/>
          </a:solidFill>
          <a:ln w="12700">
            <a:solidFill>
              <a:srgbClr val="e2e7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3560" bIns="4356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327" name="Shape 51"/>
          <p:cNvSpPr/>
          <p:nvPr/>
        </p:nvSpPr>
        <p:spPr>
          <a:xfrm>
            <a:off x="11018520" y="5970960"/>
            <a:ext cx="91080" cy="109440"/>
          </a:xfrm>
          <a:prstGeom prst="rect">
            <a:avLst/>
          </a:prstGeom>
          <a:solidFill>
            <a:srgbClr val="2583b6"/>
          </a:solidFill>
          <a:ln w="12700">
            <a:solidFill>
              <a:srgbClr val="2583b6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DejaVu Sans"/>
            </a:endParaRPr>
          </a:p>
        </p:txBody>
      </p:sp>
      <p:sp>
        <p:nvSpPr>
          <p:cNvPr id="328" name="Text 52"/>
          <p:cNvSpPr/>
          <p:nvPr/>
        </p:nvSpPr>
        <p:spPr>
          <a:xfrm>
            <a:off x="11292840" y="5916240"/>
            <a:ext cx="25560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40" spc="-1" strike="noStrike">
                <a:solidFill>
                  <a:srgbClr val="252a34"/>
                </a:solidFill>
                <a:latin typeface="Microsoft YaHei"/>
                <a:ea typeface="Microsoft YaHei"/>
              </a:rPr>
              <a:t>4.5</a:t>
            </a:r>
            <a:endParaRPr b="0" lang="en-US" sz="1040" spc="-1" strike="noStrike">
              <a:solidFill>
                <a:srgbClr val="000000"/>
              </a:solidFill>
              <a:latin typeface="DejaVu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2026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Text 0"/>
          <p:cNvSpPr/>
          <p:nvPr/>
        </p:nvSpPr>
        <p:spPr>
          <a:xfrm>
            <a:off x="530280" y="219600"/>
            <a:ext cx="713196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pc="128" strike="noStrike">
                <a:solidFill>
                  <a:srgbClr val="b7c1cc"/>
                </a:solidFill>
                <a:latin typeface="Microsoft YaHei"/>
                <a:ea typeface="Microsoft YaHei"/>
              </a:rPr>
              <a:t>RECOMMENDATION</a:t>
            </a:r>
            <a:endParaRPr b="0" lang="en-US" sz="950" spc="-1" strike="noStrike">
              <a:solidFill>
                <a:srgbClr val="ffffff"/>
              </a:solidFill>
              <a:latin typeface="DejaVu Sans"/>
            </a:endParaRPr>
          </a:p>
        </p:txBody>
      </p:sp>
      <p:sp>
        <p:nvSpPr>
          <p:cNvPr id="330" name="Text 1"/>
          <p:cNvSpPr/>
          <p:nvPr/>
        </p:nvSpPr>
        <p:spPr>
          <a:xfrm>
            <a:off x="530280" y="484560"/>
            <a:ext cx="1051524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2850" spc="-1" strike="noStrike">
                <a:solidFill>
                  <a:srgbClr val="ffffff"/>
                </a:solidFill>
                <a:latin typeface="Microsoft YaHei"/>
                <a:ea typeface="Microsoft YaHei"/>
              </a:rPr>
              <a:t>结论｜投稿用 </a:t>
            </a:r>
            <a:r>
              <a:rPr b="1" lang="en-US" sz="2850" spc="-1" strike="noStrike">
                <a:solidFill>
                  <a:srgbClr val="ffffff"/>
                </a:solidFill>
                <a:latin typeface="Microsoft YaHei"/>
                <a:ea typeface="Microsoft YaHei"/>
              </a:rPr>
              <a:t>E</a:t>
            </a:r>
            <a:r>
              <a:rPr b="1" lang="zh-CN" sz="2850" spc="-1" strike="noStrike">
                <a:solidFill>
                  <a:srgbClr val="ffffff"/>
                </a:solidFill>
                <a:latin typeface="Microsoft YaHei"/>
                <a:ea typeface="Microsoft YaHei"/>
              </a:rPr>
              <a:t>，视觉精炼可借 </a:t>
            </a:r>
            <a:r>
              <a:rPr b="1" lang="en-US" sz="2850" spc="-1" strike="noStrike">
                <a:solidFill>
                  <a:srgbClr val="ffffff"/>
                </a:solidFill>
                <a:latin typeface="Microsoft YaHei"/>
                <a:ea typeface="Microsoft YaHei"/>
              </a:rPr>
              <a:t>D</a:t>
            </a:r>
            <a:endParaRPr b="0" lang="en-US" sz="2850" spc="-1" strike="noStrike">
              <a:solidFill>
                <a:srgbClr val="ffffff"/>
              </a:solidFill>
              <a:latin typeface="DejaVu Sans"/>
            </a:endParaRPr>
          </a:p>
        </p:txBody>
      </p:sp>
      <p:sp>
        <p:nvSpPr>
          <p:cNvPr id="331" name="Shape 2"/>
          <p:cNvSpPr/>
          <p:nvPr/>
        </p:nvSpPr>
        <p:spPr>
          <a:xfrm>
            <a:off x="10716840" y="283320"/>
            <a:ext cx="493560" cy="228240"/>
          </a:xfrm>
          <a:prstGeom prst="roundRect">
            <a:avLst>
              <a:gd name="adj" fmla="val 20000"/>
            </a:avLst>
          </a:prstGeom>
          <a:solidFill>
            <a:srgbClr val="2583b6"/>
          </a:solidFill>
          <a:ln w="12700">
            <a:solidFill>
              <a:srgbClr val="2583b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DejaVu Sans"/>
            </a:endParaRPr>
          </a:p>
        </p:txBody>
      </p:sp>
      <p:sp>
        <p:nvSpPr>
          <p:cNvPr id="332" name="Text 3"/>
          <p:cNvSpPr/>
          <p:nvPr/>
        </p:nvSpPr>
        <p:spPr>
          <a:xfrm>
            <a:off x="10716840" y="292680"/>
            <a:ext cx="49356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-1" strike="noStrike">
                <a:solidFill>
                  <a:srgbClr val="ffffff"/>
                </a:solidFill>
                <a:latin typeface="Microsoft YaHei"/>
                <a:ea typeface="Microsoft YaHei"/>
              </a:rPr>
              <a:t>L10</a:t>
            </a:r>
            <a:endParaRPr b="0" lang="en-US" sz="850" spc="-1" strike="noStrike">
              <a:solidFill>
                <a:srgbClr val="ffffff"/>
              </a:solidFill>
              <a:latin typeface="DejaVu Sans"/>
            </a:endParaRPr>
          </a:p>
        </p:txBody>
      </p:sp>
      <p:sp>
        <p:nvSpPr>
          <p:cNvPr id="333" name="Shape 4"/>
          <p:cNvSpPr/>
          <p:nvPr/>
        </p:nvSpPr>
        <p:spPr>
          <a:xfrm>
            <a:off x="11256120" y="283320"/>
            <a:ext cx="493560" cy="228240"/>
          </a:xfrm>
          <a:prstGeom prst="roundRect">
            <a:avLst>
              <a:gd name="adj" fmla="val 20000"/>
            </a:avLst>
          </a:prstGeom>
          <a:solidFill>
            <a:srgbClr val="d66a1f"/>
          </a:solidFill>
          <a:ln w="12700">
            <a:solidFill>
              <a:srgbClr val="d66a1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DejaVu Sans"/>
            </a:endParaRPr>
          </a:p>
        </p:txBody>
      </p:sp>
      <p:sp>
        <p:nvSpPr>
          <p:cNvPr id="334" name="Text 5"/>
          <p:cNvSpPr/>
          <p:nvPr/>
        </p:nvSpPr>
        <p:spPr>
          <a:xfrm>
            <a:off x="11256120" y="292680"/>
            <a:ext cx="49356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-1" strike="noStrike">
                <a:solidFill>
                  <a:srgbClr val="ffffff"/>
                </a:solidFill>
                <a:latin typeface="Microsoft YaHei"/>
                <a:ea typeface="Microsoft YaHei"/>
              </a:rPr>
              <a:t>L20</a:t>
            </a:r>
            <a:endParaRPr b="0" lang="en-US" sz="850" spc="-1" strike="noStrike">
              <a:solidFill>
                <a:srgbClr val="ffffff"/>
              </a:solidFill>
              <a:latin typeface="DejaVu Sans"/>
            </a:endParaRPr>
          </a:p>
        </p:txBody>
      </p:sp>
      <p:sp>
        <p:nvSpPr>
          <p:cNvPr id="335" name="Shape 6"/>
          <p:cNvSpPr/>
          <p:nvPr/>
        </p:nvSpPr>
        <p:spPr>
          <a:xfrm>
            <a:off x="11192040" y="397440"/>
            <a:ext cx="73080" cy="360"/>
          </a:xfrm>
          <a:prstGeom prst="line">
            <a:avLst/>
          </a:prstGeom>
          <a:ln w="15240">
            <a:solidFill>
              <a:srgbClr val="56616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DejaVu Sans"/>
            </a:endParaRPr>
          </a:p>
        </p:txBody>
      </p:sp>
      <p:sp>
        <p:nvSpPr>
          <p:cNvPr id="336" name="Text 7"/>
          <p:cNvSpPr/>
          <p:nvPr/>
        </p:nvSpPr>
        <p:spPr>
          <a:xfrm>
            <a:off x="502920" y="6528960"/>
            <a:ext cx="493740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80" spc="-1" strike="noStrike">
                <a:solidFill>
                  <a:srgbClr val="aeb8c2"/>
                </a:solidFill>
                <a:latin typeface="Microsoft YaHei"/>
                <a:ea typeface="Microsoft YaHei"/>
              </a:rPr>
              <a:t>PETase manuscript · TOC graphic review</a:t>
            </a:r>
            <a:endParaRPr b="0" lang="en-US" sz="880" spc="-1" strike="noStrike">
              <a:solidFill>
                <a:srgbClr val="ffffff"/>
              </a:solidFill>
              <a:latin typeface="DejaVu Sans"/>
            </a:endParaRPr>
          </a:p>
        </p:txBody>
      </p:sp>
      <p:sp>
        <p:nvSpPr>
          <p:cNvPr id="337" name="Text 8"/>
          <p:cNvSpPr/>
          <p:nvPr/>
        </p:nvSpPr>
        <p:spPr>
          <a:xfrm>
            <a:off x="11247120" y="6501240"/>
            <a:ext cx="4384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20" spc="-1" strike="noStrike">
                <a:solidFill>
                  <a:srgbClr val="aeb8c2"/>
                </a:solidFill>
                <a:latin typeface="Microsoft YaHei"/>
                <a:ea typeface="Microsoft YaHei"/>
              </a:rPr>
              <a:t>07</a:t>
            </a:r>
            <a:endParaRPr b="0" lang="en-US" sz="920" spc="-1" strike="noStrike">
              <a:solidFill>
                <a:srgbClr val="ffffff"/>
              </a:solidFill>
              <a:latin typeface="DejaVu Sans"/>
            </a:endParaRPr>
          </a:p>
        </p:txBody>
      </p:sp>
      <p:sp>
        <p:nvSpPr>
          <p:cNvPr id="338" name="Text 9"/>
          <p:cNvSpPr/>
          <p:nvPr/>
        </p:nvSpPr>
        <p:spPr>
          <a:xfrm>
            <a:off x="576000" y="1179720"/>
            <a:ext cx="2322360" cy="28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1560" spc="-1" strike="noStrike">
                <a:solidFill>
                  <a:srgbClr val="ffffff"/>
                </a:solidFill>
                <a:latin typeface="Microsoft YaHei"/>
                <a:ea typeface="Microsoft YaHei"/>
              </a:rPr>
              <a:t>内部加权评分（满分</a:t>
            </a:r>
            <a:r>
              <a:rPr b="1" lang="en-US" sz="1560" spc="-1" strike="noStrike">
                <a:solidFill>
                  <a:srgbClr val="ffffff"/>
                </a:solidFill>
                <a:latin typeface="Microsoft YaHei"/>
                <a:ea typeface="Microsoft YaHei"/>
              </a:rPr>
              <a:t>5</a:t>
            </a:r>
            <a:r>
              <a:rPr b="1" lang="zh-CN" sz="1560" spc="-1" strike="noStrike">
                <a:solidFill>
                  <a:srgbClr val="ffffff"/>
                </a:solidFill>
                <a:latin typeface="Microsoft YaHei"/>
                <a:ea typeface="Microsoft YaHei"/>
              </a:rPr>
              <a:t>）</a:t>
            </a:r>
            <a:endParaRPr b="0" lang="en-US" sz="1560" spc="-1" strike="noStrike">
              <a:solidFill>
                <a:srgbClr val="ffffff"/>
              </a:solidFill>
              <a:latin typeface="DejaVu Sans"/>
            </a:endParaRPr>
          </a:p>
        </p:txBody>
      </p:sp>
      <p:sp>
        <p:nvSpPr>
          <p:cNvPr id="339" name="Text 10"/>
          <p:cNvSpPr/>
          <p:nvPr/>
        </p:nvSpPr>
        <p:spPr>
          <a:xfrm>
            <a:off x="3017520" y="1197720"/>
            <a:ext cx="8393760" cy="24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zh-CN" sz="1130" spc="-1" strike="noStrike">
                <a:solidFill>
                  <a:srgbClr val="c5cfd8"/>
                </a:solidFill>
                <a:latin typeface="Microsoft YaHei"/>
                <a:ea typeface="Microsoft YaHei"/>
              </a:rPr>
              <a:t>科学准确 </a:t>
            </a:r>
            <a:r>
              <a:rPr b="0" lang="en-US" sz="1130" spc="-1" strike="noStrike">
                <a:solidFill>
                  <a:srgbClr val="c5cfd8"/>
                </a:solidFill>
                <a:latin typeface="Microsoft YaHei"/>
                <a:ea typeface="Microsoft YaHei"/>
              </a:rPr>
              <a:t>35%  ·  </a:t>
            </a:r>
            <a:r>
              <a:rPr b="0" lang="zh-CN" sz="1130" spc="-1" strike="noStrike">
                <a:solidFill>
                  <a:srgbClr val="c5cfd8"/>
                </a:solidFill>
                <a:latin typeface="Microsoft YaHei"/>
                <a:ea typeface="Microsoft YaHei"/>
              </a:rPr>
              <a:t>三秒理解 </a:t>
            </a:r>
            <a:r>
              <a:rPr b="0" lang="en-US" sz="1130" spc="-1" strike="noStrike">
                <a:solidFill>
                  <a:srgbClr val="c5cfd8"/>
                </a:solidFill>
                <a:latin typeface="Microsoft YaHei"/>
                <a:ea typeface="Microsoft YaHei"/>
              </a:rPr>
              <a:t>25%  ·  </a:t>
            </a:r>
            <a:r>
              <a:rPr b="0" lang="zh-CN" sz="1130" spc="-1" strike="noStrike">
                <a:solidFill>
                  <a:srgbClr val="c5cfd8"/>
                </a:solidFill>
                <a:latin typeface="Microsoft YaHei"/>
                <a:ea typeface="Microsoft YaHei"/>
              </a:rPr>
              <a:t>视觉吸引 </a:t>
            </a:r>
            <a:r>
              <a:rPr b="0" lang="en-US" sz="1130" spc="-1" strike="noStrike">
                <a:solidFill>
                  <a:srgbClr val="c5cfd8"/>
                </a:solidFill>
                <a:latin typeface="Microsoft YaHei"/>
                <a:ea typeface="Microsoft YaHei"/>
              </a:rPr>
              <a:t>15%  ·  </a:t>
            </a:r>
            <a:r>
              <a:rPr b="0" lang="zh-CN" sz="1130" spc="-1" strike="noStrike">
                <a:solidFill>
                  <a:srgbClr val="c5cfd8"/>
                </a:solidFill>
                <a:latin typeface="Microsoft YaHei"/>
                <a:ea typeface="Microsoft YaHei"/>
              </a:rPr>
              <a:t>缩略图可读 </a:t>
            </a:r>
            <a:r>
              <a:rPr b="0" lang="en-US" sz="1130" spc="-1" strike="noStrike">
                <a:solidFill>
                  <a:srgbClr val="c5cfd8"/>
                </a:solidFill>
                <a:latin typeface="Microsoft YaHei"/>
                <a:ea typeface="Microsoft YaHei"/>
              </a:rPr>
              <a:t>15%  ·  </a:t>
            </a:r>
            <a:r>
              <a:rPr b="0" lang="zh-CN" sz="1130" spc="-1" strike="noStrike">
                <a:solidFill>
                  <a:srgbClr val="c5cfd8"/>
                </a:solidFill>
                <a:latin typeface="Microsoft YaHei"/>
                <a:ea typeface="Microsoft YaHei"/>
              </a:rPr>
              <a:t>低审稿风险 </a:t>
            </a:r>
            <a:r>
              <a:rPr b="0" lang="en-US" sz="1130" spc="-1" strike="noStrike">
                <a:solidFill>
                  <a:srgbClr val="c5cfd8"/>
                </a:solidFill>
                <a:latin typeface="Microsoft YaHei"/>
                <a:ea typeface="Microsoft YaHei"/>
              </a:rPr>
              <a:t>10%</a:t>
            </a:r>
            <a:endParaRPr b="0" lang="en-US" sz="1130" spc="-1" strike="noStrike">
              <a:solidFill>
                <a:srgbClr val="ffffff"/>
              </a:solidFill>
              <a:latin typeface="DejaVu Sans"/>
            </a:endParaRPr>
          </a:p>
        </p:txBody>
      </p:sp>
      <p:sp>
        <p:nvSpPr>
          <p:cNvPr id="340" name="Shape 11"/>
          <p:cNvSpPr/>
          <p:nvPr/>
        </p:nvSpPr>
        <p:spPr>
          <a:xfrm>
            <a:off x="585360" y="1700640"/>
            <a:ext cx="6610680" cy="484200"/>
          </a:xfrm>
          <a:prstGeom prst="roundRect">
            <a:avLst>
              <a:gd name="adj" fmla="val 11321"/>
            </a:avLst>
          </a:prstGeom>
          <a:solidFill>
            <a:srgbClr val="2d3541"/>
          </a:solidFill>
          <a:ln w="6350">
            <a:solidFill>
              <a:srgbClr val="4751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DejaVu Sans"/>
            </a:endParaRPr>
          </a:p>
        </p:txBody>
      </p:sp>
      <p:sp>
        <p:nvSpPr>
          <p:cNvPr id="341" name="Shape 12"/>
          <p:cNvSpPr/>
          <p:nvPr/>
        </p:nvSpPr>
        <p:spPr>
          <a:xfrm>
            <a:off x="749880" y="1783080"/>
            <a:ext cx="310680" cy="310680"/>
          </a:xfrm>
          <a:prstGeom prst="ellipse">
            <a:avLst/>
          </a:prstGeom>
          <a:solidFill>
            <a:srgbClr val="2583b6"/>
          </a:solidFill>
          <a:ln w="12700">
            <a:solidFill>
              <a:srgbClr val="2583b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DejaVu Sans"/>
            </a:endParaRPr>
          </a:p>
        </p:txBody>
      </p:sp>
      <p:sp>
        <p:nvSpPr>
          <p:cNvPr id="342" name="Text 13"/>
          <p:cNvSpPr/>
          <p:nvPr/>
        </p:nvSpPr>
        <p:spPr>
          <a:xfrm>
            <a:off x="749880" y="1792080"/>
            <a:ext cx="3106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Microsoft YaHei"/>
                <a:ea typeface="Microsoft YaHei"/>
              </a:rPr>
              <a:t>A</a:t>
            </a:r>
            <a:endParaRPr b="0" lang="en-US" sz="1000" spc="-1" strike="noStrike">
              <a:solidFill>
                <a:srgbClr val="ffffff"/>
              </a:solidFill>
              <a:latin typeface="DejaVu Sans"/>
            </a:endParaRPr>
          </a:p>
        </p:txBody>
      </p:sp>
      <p:sp>
        <p:nvSpPr>
          <p:cNvPr id="343" name="Text 14"/>
          <p:cNvSpPr/>
          <p:nvPr/>
        </p:nvSpPr>
        <p:spPr>
          <a:xfrm>
            <a:off x="1207080" y="1774080"/>
            <a:ext cx="14169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1300" spc="-1" strike="noStrike">
                <a:solidFill>
                  <a:srgbClr val="ffffff"/>
                </a:solidFill>
                <a:latin typeface="Microsoft YaHei"/>
                <a:ea typeface="Microsoft YaHei"/>
              </a:rPr>
              <a:t>结构漏斗</a:t>
            </a:r>
            <a:endParaRPr b="0" lang="en-US" sz="1300" spc="-1" strike="noStrike">
              <a:solidFill>
                <a:srgbClr val="ffffff"/>
              </a:solidFill>
              <a:latin typeface="DejaVu Sans"/>
            </a:endParaRPr>
          </a:p>
        </p:txBody>
      </p:sp>
      <p:sp>
        <p:nvSpPr>
          <p:cNvPr id="344" name="Shape 15"/>
          <p:cNvSpPr/>
          <p:nvPr/>
        </p:nvSpPr>
        <p:spPr>
          <a:xfrm>
            <a:off x="2770560" y="1865520"/>
            <a:ext cx="3273120" cy="145800"/>
          </a:xfrm>
          <a:prstGeom prst="roundRect">
            <a:avLst>
              <a:gd name="adj" fmla="val 31250"/>
            </a:avLst>
          </a:prstGeom>
          <a:solidFill>
            <a:srgbClr val="4b5562"/>
          </a:solidFill>
          <a:ln w="12700">
            <a:solidFill>
              <a:srgbClr val="4b556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DejaVu Sans"/>
            </a:endParaRPr>
          </a:p>
        </p:txBody>
      </p:sp>
      <p:sp>
        <p:nvSpPr>
          <p:cNvPr id="345" name="Shape 16"/>
          <p:cNvSpPr/>
          <p:nvPr/>
        </p:nvSpPr>
        <p:spPr>
          <a:xfrm>
            <a:off x="2770560" y="1865520"/>
            <a:ext cx="1963800" cy="145800"/>
          </a:xfrm>
          <a:prstGeom prst="roundRect">
            <a:avLst>
              <a:gd name="adj" fmla="val 31250"/>
            </a:avLst>
          </a:prstGeom>
          <a:solidFill>
            <a:srgbClr val="2583b6"/>
          </a:solidFill>
          <a:ln w="12700">
            <a:solidFill>
              <a:srgbClr val="2583b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DejaVu Sans"/>
            </a:endParaRPr>
          </a:p>
        </p:txBody>
      </p:sp>
      <p:sp>
        <p:nvSpPr>
          <p:cNvPr id="346" name="Text 17"/>
          <p:cNvSpPr/>
          <p:nvPr/>
        </p:nvSpPr>
        <p:spPr>
          <a:xfrm>
            <a:off x="6272640" y="1755720"/>
            <a:ext cx="50256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Microsoft YaHei"/>
                <a:ea typeface="Microsoft YaHei"/>
              </a:rPr>
              <a:t>3.0</a:t>
            </a:r>
            <a:endParaRPr b="0" lang="en-US" sz="1400" spc="-1" strike="noStrike">
              <a:solidFill>
                <a:srgbClr val="ffffff"/>
              </a:solidFill>
              <a:latin typeface="DejaVu Sans"/>
            </a:endParaRPr>
          </a:p>
        </p:txBody>
      </p:sp>
      <p:sp>
        <p:nvSpPr>
          <p:cNvPr id="347" name="Shape 18"/>
          <p:cNvSpPr/>
          <p:nvPr/>
        </p:nvSpPr>
        <p:spPr>
          <a:xfrm>
            <a:off x="585360" y="2359080"/>
            <a:ext cx="6610680" cy="484200"/>
          </a:xfrm>
          <a:prstGeom prst="roundRect">
            <a:avLst>
              <a:gd name="adj" fmla="val 11321"/>
            </a:avLst>
          </a:prstGeom>
          <a:solidFill>
            <a:srgbClr val="2d3541"/>
          </a:solidFill>
          <a:ln w="6350">
            <a:solidFill>
              <a:srgbClr val="4751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DejaVu Sans"/>
            </a:endParaRPr>
          </a:p>
        </p:txBody>
      </p:sp>
      <p:sp>
        <p:nvSpPr>
          <p:cNvPr id="348" name="Shape 19"/>
          <p:cNvSpPr/>
          <p:nvPr/>
        </p:nvSpPr>
        <p:spPr>
          <a:xfrm>
            <a:off x="749880" y="2441520"/>
            <a:ext cx="310680" cy="310680"/>
          </a:xfrm>
          <a:prstGeom prst="ellipse">
            <a:avLst/>
          </a:prstGeom>
          <a:solidFill>
            <a:srgbClr val="a87908"/>
          </a:solidFill>
          <a:ln w="12700">
            <a:solidFill>
              <a:srgbClr val="a8790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DejaVu Sans"/>
            </a:endParaRPr>
          </a:p>
        </p:txBody>
      </p:sp>
      <p:sp>
        <p:nvSpPr>
          <p:cNvPr id="349" name="Text 20"/>
          <p:cNvSpPr/>
          <p:nvPr/>
        </p:nvSpPr>
        <p:spPr>
          <a:xfrm>
            <a:off x="749880" y="2450520"/>
            <a:ext cx="3106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Microsoft YaHei"/>
                <a:ea typeface="Microsoft YaHei"/>
              </a:rPr>
              <a:t>B</a:t>
            </a:r>
            <a:endParaRPr b="0" lang="en-US" sz="1000" spc="-1" strike="noStrike">
              <a:solidFill>
                <a:srgbClr val="ffffff"/>
              </a:solidFill>
              <a:latin typeface="DejaVu Sans"/>
            </a:endParaRPr>
          </a:p>
        </p:txBody>
      </p:sp>
      <p:sp>
        <p:nvSpPr>
          <p:cNvPr id="350" name="Text 21"/>
          <p:cNvSpPr/>
          <p:nvPr/>
        </p:nvSpPr>
        <p:spPr>
          <a:xfrm>
            <a:off x="1207080" y="2432160"/>
            <a:ext cx="14169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1300" spc="-1" strike="noStrike">
                <a:solidFill>
                  <a:srgbClr val="ffffff"/>
                </a:solidFill>
                <a:latin typeface="Microsoft YaHei"/>
                <a:ea typeface="Microsoft YaHei"/>
              </a:rPr>
              <a:t>图标示意</a:t>
            </a:r>
            <a:endParaRPr b="0" lang="en-US" sz="1300" spc="-1" strike="noStrike">
              <a:solidFill>
                <a:srgbClr val="ffffff"/>
              </a:solidFill>
              <a:latin typeface="DejaVu Sans"/>
            </a:endParaRPr>
          </a:p>
        </p:txBody>
      </p:sp>
      <p:sp>
        <p:nvSpPr>
          <p:cNvPr id="351" name="Shape 22"/>
          <p:cNvSpPr/>
          <p:nvPr/>
        </p:nvSpPr>
        <p:spPr>
          <a:xfrm>
            <a:off x="2770560" y="2523600"/>
            <a:ext cx="3273120" cy="145800"/>
          </a:xfrm>
          <a:prstGeom prst="roundRect">
            <a:avLst>
              <a:gd name="adj" fmla="val 31250"/>
            </a:avLst>
          </a:prstGeom>
          <a:solidFill>
            <a:srgbClr val="4b5562"/>
          </a:solidFill>
          <a:ln w="12700">
            <a:solidFill>
              <a:srgbClr val="4b556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DejaVu Sans"/>
            </a:endParaRPr>
          </a:p>
        </p:txBody>
      </p:sp>
      <p:sp>
        <p:nvSpPr>
          <p:cNvPr id="352" name="Shape 23"/>
          <p:cNvSpPr/>
          <p:nvPr/>
        </p:nvSpPr>
        <p:spPr>
          <a:xfrm>
            <a:off x="2770560" y="2523600"/>
            <a:ext cx="2291040" cy="145800"/>
          </a:xfrm>
          <a:prstGeom prst="roundRect">
            <a:avLst>
              <a:gd name="adj" fmla="val 31250"/>
            </a:avLst>
          </a:prstGeom>
          <a:solidFill>
            <a:srgbClr val="a87908"/>
          </a:solidFill>
          <a:ln w="12700">
            <a:solidFill>
              <a:srgbClr val="a8790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DejaVu Sans"/>
            </a:endParaRPr>
          </a:p>
        </p:txBody>
      </p:sp>
      <p:sp>
        <p:nvSpPr>
          <p:cNvPr id="353" name="Text 24"/>
          <p:cNvSpPr/>
          <p:nvPr/>
        </p:nvSpPr>
        <p:spPr>
          <a:xfrm>
            <a:off x="6272640" y="2414160"/>
            <a:ext cx="50256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Microsoft YaHei"/>
                <a:ea typeface="Microsoft YaHei"/>
              </a:rPr>
              <a:t>3.5</a:t>
            </a:r>
            <a:endParaRPr b="0" lang="en-US" sz="1400" spc="-1" strike="noStrike">
              <a:solidFill>
                <a:srgbClr val="ffffff"/>
              </a:solidFill>
              <a:latin typeface="DejaVu Sans"/>
            </a:endParaRPr>
          </a:p>
        </p:txBody>
      </p:sp>
      <p:sp>
        <p:nvSpPr>
          <p:cNvPr id="354" name="Shape 25"/>
          <p:cNvSpPr/>
          <p:nvPr/>
        </p:nvSpPr>
        <p:spPr>
          <a:xfrm>
            <a:off x="585360" y="3017520"/>
            <a:ext cx="6610680" cy="484200"/>
          </a:xfrm>
          <a:prstGeom prst="roundRect">
            <a:avLst>
              <a:gd name="adj" fmla="val 11321"/>
            </a:avLst>
          </a:prstGeom>
          <a:solidFill>
            <a:srgbClr val="2d3541"/>
          </a:solidFill>
          <a:ln w="6350">
            <a:solidFill>
              <a:srgbClr val="4751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DejaVu Sans"/>
            </a:endParaRPr>
          </a:p>
        </p:txBody>
      </p:sp>
      <p:sp>
        <p:nvSpPr>
          <p:cNvPr id="355" name="Shape 26"/>
          <p:cNvSpPr/>
          <p:nvPr/>
        </p:nvSpPr>
        <p:spPr>
          <a:xfrm>
            <a:off x="749880" y="3099960"/>
            <a:ext cx="310680" cy="310680"/>
          </a:xfrm>
          <a:prstGeom prst="ellipse">
            <a:avLst/>
          </a:prstGeom>
          <a:solidFill>
            <a:srgbClr val="8064a2"/>
          </a:solidFill>
          <a:ln w="12700">
            <a:solidFill>
              <a:srgbClr val="8064a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DejaVu Sans"/>
            </a:endParaRPr>
          </a:p>
        </p:txBody>
      </p:sp>
      <p:sp>
        <p:nvSpPr>
          <p:cNvPr id="356" name="Text 27"/>
          <p:cNvSpPr/>
          <p:nvPr/>
        </p:nvSpPr>
        <p:spPr>
          <a:xfrm>
            <a:off x="749880" y="3108960"/>
            <a:ext cx="3106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Microsoft YaHei"/>
                <a:ea typeface="Microsoft YaHei"/>
              </a:rPr>
              <a:t>C</a:t>
            </a:r>
            <a:endParaRPr b="0" lang="en-US" sz="1000" spc="-1" strike="noStrike">
              <a:solidFill>
                <a:srgbClr val="ffffff"/>
              </a:solidFill>
              <a:latin typeface="DejaVu Sans"/>
            </a:endParaRPr>
          </a:p>
        </p:txBody>
      </p:sp>
      <p:sp>
        <p:nvSpPr>
          <p:cNvPr id="357" name="Text 28"/>
          <p:cNvSpPr/>
          <p:nvPr/>
        </p:nvSpPr>
        <p:spPr>
          <a:xfrm>
            <a:off x="1207080" y="3090600"/>
            <a:ext cx="14169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1300" spc="-1" strike="noStrike">
                <a:solidFill>
                  <a:srgbClr val="ffffff"/>
                </a:solidFill>
                <a:latin typeface="Microsoft YaHei"/>
                <a:ea typeface="Microsoft YaHei"/>
              </a:rPr>
              <a:t>六酶网格</a:t>
            </a:r>
            <a:endParaRPr b="0" lang="en-US" sz="1300" spc="-1" strike="noStrike">
              <a:solidFill>
                <a:srgbClr val="ffffff"/>
              </a:solidFill>
              <a:latin typeface="DejaVu Sans"/>
            </a:endParaRPr>
          </a:p>
        </p:txBody>
      </p:sp>
      <p:sp>
        <p:nvSpPr>
          <p:cNvPr id="358" name="Shape 29"/>
          <p:cNvSpPr/>
          <p:nvPr/>
        </p:nvSpPr>
        <p:spPr>
          <a:xfrm>
            <a:off x="2770560" y="3182040"/>
            <a:ext cx="3273120" cy="145800"/>
          </a:xfrm>
          <a:prstGeom prst="roundRect">
            <a:avLst>
              <a:gd name="adj" fmla="val 31250"/>
            </a:avLst>
          </a:prstGeom>
          <a:solidFill>
            <a:srgbClr val="4b5562"/>
          </a:solidFill>
          <a:ln w="12700">
            <a:solidFill>
              <a:srgbClr val="4b556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DejaVu Sans"/>
            </a:endParaRPr>
          </a:p>
        </p:txBody>
      </p:sp>
      <p:sp>
        <p:nvSpPr>
          <p:cNvPr id="359" name="Shape 30"/>
          <p:cNvSpPr/>
          <p:nvPr/>
        </p:nvSpPr>
        <p:spPr>
          <a:xfrm>
            <a:off x="2770560" y="3182040"/>
            <a:ext cx="1767240" cy="145800"/>
          </a:xfrm>
          <a:prstGeom prst="roundRect">
            <a:avLst>
              <a:gd name="adj" fmla="val 31250"/>
            </a:avLst>
          </a:prstGeom>
          <a:solidFill>
            <a:srgbClr val="8064a2"/>
          </a:solidFill>
          <a:ln w="12700">
            <a:solidFill>
              <a:srgbClr val="8064a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DejaVu Sans"/>
            </a:endParaRPr>
          </a:p>
        </p:txBody>
      </p:sp>
      <p:sp>
        <p:nvSpPr>
          <p:cNvPr id="360" name="Text 31"/>
          <p:cNvSpPr/>
          <p:nvPr/>
        </p:nvSpPr>
        <p:spPr>
          <a:xfrm>
            <a:off x="6272640" y="3072240"/>
            <a:ext cx="50256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Microsoft YaHei"/>
                <a:ea typeface="Microsoft YaHei"/>
              </a:rPr>
              <a:t>2.7</a:t>
            </a:r>
            <a:endParaRPr b="0" lang="en-US" sz="1400" spc="-1" strike="noStrike">
              <a:solidFill>
                <a:srgbClr val="ffffff"/>
              </a:solidFill>
              <a:latin typeface="DejaVu Sans"/>
            </a:endParaRPr>
          </a:p>
        </p:txBody>
      </p:sp>
      <p:sp>
        <p:nvSpPr>
          <p:cNvPr id="361" name="Shape 32"/>
          <p:cNvSpPr/>
          <p:nvPr/>
        </p:nvSpPr>
        <p:spPr>
          <a:xfrm>
            <a:off x="585360" y="3675960"/>
            <a:ext cx="6610680" cy="484200"/>
          </a:xfrm>
          <a:prstGeom prst="roundRect">
            <a:avLst>
              <a:gd name="adj" fmla="val 11321"/>
            </a:avLst>
          </a:prstGeom>
          <a:solidFill>
            <a:srgbClr val="2d3541"/>
          </a:solidFill>
          <a:ln w="6350">
            <a:solidFill>
              <a:srgbClr val="4751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DejaVu Sans"/>
            </a:endParaRPr>
          </a:p>
        </p:txBody>
      </p:sp>
      <p:sp>
        <p:nvSpPr>
          <p:cNvPr id="362" name="Shape 33"/>
          <p:cNvSpPr/>
          <p:nvPr/>
        </p:nvSpPr>
        <p:spPr>
          <a:xfrm>
            <a:off x="749880" y="3758040"/>
            <a:ext cx="310680" cy="310680"/>
          </a:xfrm>
          <a:prstGeom prst="ellipse">
            <a:avLst/>
          </a:prstGeom>
          <a:solidFill>
            <a:srgbClr val="d66a1f"/>
          </a:solidFill>
          <a:ln w="12700">
            <a:solidFill>
              <a:srgbClr val="d66a1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DejaVu Sans"/>
            </a:endParaRPr>
          </a:p>
        </p:txBody>
      </p:sp>
      <p:sp>
        <p:nvSpPr>
          <p:cNvPr id="363" name="Text 34"/>
          <p:cNvSpPr/>
          <p:nvPr/>
        </p:nvSpPr>
        <p:spPr>
          <a:xfrm>
            <a:off x="749880" y="3767400"/>
            <a:ext cx="3106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Microsoft YaHei"/>
                <a:ea typeface="Microsoft YaHei"/>
              </a:rPr>
              <a:t>D</a:t>
            </a:r>
            <a:endParaRPr b="0" lang="en-US" sz="1000" spc="-1" strike="noStrike">
              <a:solidFill>
                <a:srgbClr val="ffffff"/>
              </a:solidFill>
              <a:latin typeface="DejaVu Sans"/>
            </a:endParaRPr>
          </a:p>
        </p:txBody>
      </p:sp>
      <p:sp>
        <p:nvSpPr>
          <p:cNvPr id="364" name="Text 35"/>
          <p:cNvSpPr/>
          <p:nvPr/>
        </p:nvSpPr>
        <p:spPr>
          <a:xfrm>
            <a:off x="1207080" y="3749040"/>
            <a:ext cx="14169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1300" spc="-1" strike="noStrike">
                <a:solidFill>
                  <a:srgbClr val="ffffff"/>
                </a:solidFill>
                <a:latin typeface="Microsoft YaHei"/>
                <a:ea typeface="Microsoft YaHei"/>
              </a:rPr>
              <a:t>主视觉</a:t>
            </a:r>
            <a:endParaRPr b="0" lang="en-US" sz="1300" spc="-1" strike="noStrike">
              <a:solidFill>
                <a:srgbClr val="ffffff"/>
              </a:solidFill>
              <a:latin typeface="DejaVu Sans"/>
            </a:endParaRPr>
          </a:p>
        </p:txBody>
      </p:sp>
      <p:sp>
        <p:nvSpPr>
          <p:cNvPr id="365" name="Shape 36"/>
          <p:cNvSpPr/>
          <p:nvPr/>
        </p:nvSpPr>
        <p:spPr>
          <a:xfrm>
            <a:off x="2770560" y="3840480"/>
            <a:ext cx="3273120" cy="145800"/>
          </a:xfrm>
          <a:prstGeom prst="roundRect">
            <a:avLst>
              <a:gd name="adj" fmla="val 31250"/>
            </a:avLst>
          </a:prstGeom>
          <a:solidFill>
            <a:srgbClr val="4b5562"/>
          </a:solidFill>
          <a:ln w="12700">
            <a:solidFill>
              <a:srgbClr val="4b556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DejaVu Sans"/>
            </a:endParaRPr>
          </a:p>
        </p:txBody>
      </p:sp>
      <p:sp>
        <p:nvSpPr>
          <p:cNvPr id="366" name="Shape 37"/>
          <p:cNvSpPr/>
          <p:nvPr/>
        </p:nvSpPr>
        <p:spPr>
          <a:xfrm>
            <a:off x="2770560" y="3840480"/>
            <a:ext cx="2356560" cy="145800"/>
          </a:xfrm>
          <a:prstGeom prst="roundRect">
            <a:avLst>
              <a:gd name="adj" fmla="val 31250"/>
            </a:avLst>
          </a:prstGeom>
          <a:solidFill>
            <a:srgbClr val="d66a1f"/>
          </a:solidFill>
          <a:ln w="12700">
            <a:solidFill>
              <a:srgbClr val="d66a1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DejaVu Sans"/>
            </a:endParaRPr>
          </a:p>
        </p:txBody>
      </p:sp>
      <p:sp>
        <p:nvSpPr>
          <p:cNvPr id="367" name="Text 38"/>
          <p:cNvSpPr/>
          <p:nvPr/>
        </p:nvSpPr>
        <p:spPr>
          <a:xfrm>
            <a:off x="6272640" y="3730680"/>
            <a:ext cx="50256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Microsoft YaHei"/>
                <a:ea typeface="Microsoft YaHei"/>
              </a:rPr>
              <a:t>3.6</a:t>
            </a:r>
            <a:endParaRPr b="0" lang="en-US" sz="1400" spc="-1" strike="noStrike">
              <a:solidFill>
                <a:srgbClr val="ffffff"/>
              </a:solidFill>
              <a:latin typeface="DejaVu Sans"/>
            </a:endParaRPr>
          </a:p>
        </p:txBody>
      </p:sp>
      <p:sp>
        <p:nvSpPr>
          <p:cNvPr id="368" name="Shape 39"/>
          <p:cNvSpPr/>
          <p:nvPr/>
        </p:nvSpPr>
        <p:spPr>
          <a:xfrm>
            <a:off x="585360" y="4334400"/>
            <a:ext cx="6610680" cy="484200"/>
          </a:xfrm>
          <a:prstGeom prst="roundRect">
            <a:avLst>
              <a:gd name="adj" fmla="val 11321"/>
            </a:avLst>
          </a:prstGeom>
          <a:solidFill>
            <a:srgbClr val="2d3541"/>
          </a:solidFill>
          <a:ln w="6350">
            <a:solidFill>
              <a:srgbClr val="4751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DejaVu Sans"/>
            </a:endParaRPr>
          </a:p>
        </p:txBody>
      </p:sp>
      <p:sp>
        <p:nvSpPr>
          <p:cNvPr id="369" name="Shape 40"/>
          <p:cNvSpPr/>
          <p:nvPr/>
        </p:nvSpPr>
        <p:spPr>
          <a:xfrm>
            <a:off x="749880" y="4416480"/>
            <a:ext cx="310680" cy="310680"/>
          </a:xfrm>
          <a:prstGeom prst="ellipse">
            <a:avLst/>
          </a:prstGeom>
          <a:solidFill>
            <a:srgbClr val="2f8b62"/>
          </a:solidFill>
          <a:ln w="12700">
            <a:solidFill>
              <a:srgbClr val="2f8b6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DejaVu Sans"/>
            </a:endParaRPr>
          </a:p>
        </p:txBody>
      </p:sp>
      <p:sp>
        <p:nvSpPr>
          <p:cNvPr id="370" name="Text 41"/>
          <p:cNvSpPr/>
          <p:nvPr/>
        </p:nvSpPr>
        <p:spPr>
          <a:xfrm>
            <a:off x="749880" y="4425840"/>
            <a:ext cx="3106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Microsoft YaHei"/>
                <a:ea typeface="Microsoft YaHei"/>
              </a:rPr>
              <a:t>E</a:t>
            </a:r>
            <a:endParaRPr b="0" lang="en-US" sz="1000" spc="-1" strike="noStrike">
              <a:solidFill>
                <a:srgbClr val="ffffff"/>
              </a:solidFill>
              <a:latin typeface="DejaVu Sans"/>
            </a:endParaRPr>
          </a:p>
        </p:txBody>
      </p:sp>
      <p:sp>
        <p:nvSpPr>
          <p:cNvPr id="371" name="Text 42"/>
          <p:cNvSpPr/>
          <p:nvPr/>
        </p:nvSpPr>
        <p:spPr>
          <a:xfrm>
            <a:off x="1207080" y="4407480"/>
            <a:ext cx="14169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1300" spc="-1" strike="noStrike">
                <a:solidFill>
                  <a:srgbClr val="ffffff"/>
                </a:solidFill>
                <a:latin typeface="Microsoft YaHei"/>
                <a:ea typeface="Microsoft YaHei"/>
              </a:rPr>
              <a:t>群体指纹</a:t>
            </a:r>
            <a:endParaRPr b="0" lang="en-US" sz="1300" spc="-1" strike="noStrike">
              <a:solidFill>
                <a:srgbClr val="ffffff"/>
              </a:solidFill>
              <a:latin typeface="DejaVu Sans"/>
            </a:endParaRPr>
          </a:p>
        </p:txBody>
      </p:sp>
      <p:sp>
        <p:nvSpPr>
          <p:cNvPr id="372" name="Shape 43"/>
          <p:cNvSpPr/>
          <p:nvPr/>
        </p:nvSpPr>
        <p:spPr>
          <a:xfrm>
            <a:off x="2770560" y="4498920"/>
            <a:ext cx="3273120" cy="145800"/>
          </a:xfrm>
          <a:prstGeom prst="roundRect">
            <a:avLst>
              <a:gd name="adj" fmla="val 31250"/>
            </a:avLst>
          </a:prstGeom>
          <a:solidFill>
            <a:srgbClr val="4b5562"/>
          </a:solidFill>
          <a:ln w="12700">
            <a:solidFill>
              <a:srgbClr val="4b556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DejaVu Sans"/>
            </a:endParaRPr>
          </a:p>
        </p:txBody>
      </p:sp>
      <p:sp>
        <p:nvSpPr>
          <p:cNvPr id="373" name="Shape 44"/>
          <p:cNvSpPr/>
          <p:nvPr/>
        </p:nvSpPr>
        <p:spPr>
          <a:xfrm>
            <a:off x="2770560" y="4498920"/>
            <a:ext cx="2814840" cy="145800"/>
          </a:xfrm>
          <a:prstGeom prst="roundRect">
            <a:avLst>
              <a:gd name="adj" fmla="val 31250"/>
            </a:avLst>
          </a:prstGeom>
          <a:solidFill>
            <a:srgbClr val="2f8b62"/>
          </a:solidFill>
          <a:ln w="12700">
            <a:solidFill>
              <a:srgbClr val="2f8b6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DejaVu Sans"/>
            </a:endParaRPr>
          </a:p>
        </p:txBody>
      </p:sp>
      <p:sp>
        <p:nvSpPr>
          <p:cNvPr id="374" name="Text 45"/>
          <p:cNvSpPr/>
          <p:nvPr/>
        </p:nvSpPr>
        <p:spPr>
          <a:xfrm>
            <a:off x="6272640" y="4389120"/>
            <a:ext cx="50256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7fe0ad"/>
                </a:solidFill>
                <a:latin typeface="Microsoft YaHei"/>
                <a:ea typeface="Microsoft YaHei"/>
              </a:rPr>
              <a:t>4.3</a:t>
            </a:r>
            <a:endParaRPr b="0" lang="en-US" sz="1400" spc="-1" strike="noStrike">
              <a:solidFill>
                <a:srgbClr val="ffffff"/>
              </a:solidFill>
              <a:latin typeface="DejaVu Sans"/>
            </a:endParaRPr>
          </a:p>
        </p:txBody>
      </p:sp>
      <p:sp>
        <p:nvSpPr>
          <p:cNvPr id="375" name="Text 46"/>
          <p:cNvSpPr/>
          <p:nvPr/>
        </p:nvSpPr>
        <p:spPr>
          <a:xfrm>
            <a:off x="612720" y="5083920"/>
            <a:ext cx="37486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zh-CN" sz="950" spc="-1" strike="noStrike">
                <a:solidFill>
                  <a:srgbClr val="9eaab5"/>
                </a:solidFill>
                <a:latin typeface="Microsoft YaHei"/>
                <a:ea typeface="Microsoft YaHei"/>
              </a:rPr>
              <a:t>评分为设计决策工具，不是实验结果。</a:t>
            </a:r>
            <a:endParaRPr b="0" lang="en-US" sz="950" spc="-1" strike="noStrike">
              <a:solidFill>
                <a:srgbClr val="ffffff"/>
              </a:solidFill>
              <a:latin typeface="DejaVu Sans"/>
            </a:endParaRPr>
          </a:p>
        </p:txBody>
      </p:sp>
      <p:sp>
        <p:nvSpPr>
          <p:cNvPr id="376" name="Shape 47"/>
          <p:cNvSpPr/>
          <p:nvPr/>
        </p:nvSpPr>
        <p:spPr>
          <a:xfrm>
            <a:off x="7516440" y="1700640"/>
            <a:ext cx="4077720" cy="3593160"/>
          </a:xfrm>
          <a:prstGeom prst="roundRect">
            <a:avLst>
              <a:gd name="adj" fmla="val 2799"/>
            </a:avLst>
          </a:prstGeom>
          <a:solidFill>
            <a:srgbClr val="263d34"/>
          </a:solidFill>
          <a:ln w="11430">
            <a:solidFill>
              <a:srgbClr val="4b8c7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DejaVu Sans"/>
            </a:endParaRPr>
          </a:p>
        </p:txBody>
      </p:sp>
      <p:sp>
        <p:nvSpPr>
          <p:cNvPr id="377" name="Text 48"/>
          <p:cNvSpPr/>
          <p:nvPr/>
        </p:nvSpPr>
        <p:spPr>
          <a:xfrm>
            <a:off x="7836480" y="1974960"/>
            <a:ext cx="342864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2050" spc="-1" strike="noStrike">
                <a:solidFill>
                  <a:srgbClr val="ffffff"/>
                </a:solidFill>
                <a:latin typeface="Microsoft YaHei"/>
                <a:ea typeface="Microsoft YaHei"/>
              </a:rPr>
              <a:t>推荐：</a:t>
            </a:r>
            <a:r>
              <a:rPr b="1" lang="en-US" sz="2050" spc="-1" strike="noStrike">
                <a:solidFill>
                  <a:srgbClr val="ffffff"/>
                </a:solidFill>
                <a:latin typeface="Microsoft YaHei"/>
                <a:ea typeface="Microsoft YaHei"/>
              </a:rPr>
              <a:t>E </a:t>
            </a:r>
            <a:r>
              <a:rPr b="1" lang="zh-CN" sz="2050" spc="-1" strike="noStrike">
                <a:solidFill>
                  <a:srgbClr val="ffffff"/>
                </a:solidFill>
                <a:latin typeface="Microsoft YaHei"/>
                <a:ea typeface="Microsoft YaHei"/>
              </a:rPr>
              <a:t>用于 </a:t>
            </a:r>
            <a:r>
              <a:rPr b="1" lang="en-US" sz="2050" spc="-1" strike="noStrike">
                <a:solidFill>
                  <a:srgbClr val="ffffff"/>
                </a:solidFill>
                <a:latin typeface="Microsoft YaHei"/>
                <a:ea typeface="Microsoft YaHei"/>
              </a:rPr>
              <a:t>JCIM </a:t>
            </a:r>
            <a:r>
              <a:rPr b="1" lang="zh-CN" sz="2050" spc="-1" strike="noStrike">
                <a:solidFill>
                  <a:srgbClr val="ffffff"/>
                </a:solidFill>
                <a:latin typeface="Microsoft YaHei"/>
                <a:ea typeface="Microsoft YaHei"/>
              </a:rPr>
              <a:t>投稿</a:t>
            </a:r>
            <a:endParaRPr b="0" lang="en-US" sz="2050" spc="-1" strike="noStrike">
              <a:solidFill>
                <a:srgbClr val="ffffff"/>
              </a:solidFill>
              <a:latin typeface="DejaVu Sans"/>
            </a:endParaRPr>
          </a:p>
        </p:txBody>
      </p:sp>
      <p:sp>
        <p:nvSpPr>
          <p:cNvPr id="378" name="Text 49"/>
          <p:cNvSpPr/>
          <p:nvPr/>
        </p:nvSpPr>
        <p:spPr>
          <a:xfrm>
            <a:off x="7845480" y="2523600"/>
            <a:ext cx="32457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1320" spc="-1" strike="noStrike">
                <a:solidFill>
                  <a:srgbClr val="b8dac9"/>
                </a:solidFill>
                <a:latin typeface="Microsoft YaHei"/>
                <a:ea typeface="Microsoft YaHei"/>
              </a:rPr>
              <a:t>它唯一同时守住三件事</a:t>
            </a:r>
            <a:endParaRPr b="0" lang="en-US" sz="1320" spc="-1" strike="noStrike">
              <a:solidFill>
                <a:srgbClr val="ffffff"/>
              </a:solidFill>
              <a:latin typeface="DejaVu Sans"/>
            </a:endParaRPr>
          </a:p>
        </p:txBody>
      </p:sp>
      <p:sp>
        <p:nvSpPr>
          <p:cNvPr id="379" name="Shape 50"/>
          <p:cNvSpPr/>
          <p:nvPr/>
        </p:nvSpPr>
        <p:spPr>
          <a:xfrm>
            <a:off x="7845480" y="2944440"/>
            <a:ext cx="109440" cy="109440"/>
          </a:xfrm>
          <a:prstGeom prst="roundRect">
            <a:avLst>
              <a:gd name="adj" fmla="val 25000"/>
            </a:avLst>
          </a:prstGeom>
          <a:solidFill>
            <a:srgbClr val="78d1a2"/>
          </a:solidFill>
          <a:ln w="12700">
            <a:solidFill>
              <a:srgbClr val="78d1a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380" name="Text 51"/>
          <p:cNvSpPr/>
          <p:nvPr/>
        </p:nvSpPr>
        <p:spPr>
          <a:xfrm>
            <a:off x="8028360" y="2898720"/>
            <a:ext cx="8042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20" spc="-1" strike="noStrike">
                <a:solidFill>
                  <a:srgbClr val="78d1a2"/>
                </a:solidFill>
                <a:latin typeface="Microsoft YaHei"/>
                <a:ea typeface="Microsoft YaHei"/>
              </a:rPr>
              <a:t>01</a:t>
            </a:r>
            <a:endParaRPr b="0" lang="en-US" sz="1120" spc="-1" strike="noStrike">
              <a:solidFill>
                <a:srgbClr val="ffffff"/>
              </a:solidFill>
              <a:latin typeface="DejaVu Sans"/>
            </a:endParaRPr>
          </a:p>
        </p:txBody>
      </p:sp>
      <p:sp>
        <p:nvSpPr>
          <p:cNvPr id="381" name="Text 52"/>
          <p:cNvSpPr/>
          <p:nvPr/>
        </p:nvSpPr>
        <p:spPr>
          <a:xfrm>
            <a:off x="8869680" y="2889360"/>
            <a:ext cx="20386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zh-CN" sz="1210" spc="-1" strike="noStrike">
                <a:solidFill>
                  <a:srgbClr val="e5e9ed"/>
                </a:solidFill>
                <a:latin typeface="Microsoft YaHei"/>
                <a:ea typeface="Microsoft YaHei"/>
              </a:rPr>
              <a:t>六酶比较仍是主语</a:t>
            </a:r>
            <a:endParaRPr b="0" lang="en-US" sz="1210" spc="-1" strike="noStrike">
              <a:solidFill>
                <a:srgbClr val="ffffff"/>
              </a:solidFill>
              <a:latin typeface="DejaVu Sans"/>
            </a:endParaRPr>
          </a:p>
        </p:txBody>
      </p:sp>
      <p:sp>
        <p:nvSpPr>
          <p:cNvPr id="382" name="Shape 53"/>
          <p:cNvSpPr/>
          <p:nvPr/>
        </p:nvSpPr>
        <p:spPr>
          <a:xfrm>
            <a:off x="7845480" y="3383280"/>
            <a:ext cx="109440" cy="109440"/>
          </a:xfrm>
          <a:prstGeom prst="roundRect">
            <a:avLst>
              <a:gd name="adj" fmla="val 25000"/>
            </a:avLst>
          </a:prstGeom>
          <a:solidFill>
            <a:srgbClr val="78d1a2"/>
          </a:solidFill>
          <a:ln w="12700">
            <a:solidFill>
              <a:srgbClr val="78d1a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383" name="Text 54"/>
          <p:cNvSpPr/>
          <p:nvPr/>
        </p:nvSpPr>
        <p:spPr>
          <a:xfrm>
            <a:off x="8028360" y="3337560"/>
            <a:ext cx="8042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20" spc="-1" strike="noStrike">
                <a:solidFill>
                  <a:srgbClr val="78d1a2"/>
                </a:solidFill>
                <a:latin typeface="Microsoft YaHei"/>
                <a:ea typeface="Microsoft YaHei"/>
              </a:rPr>
              <a:t>02</a:t>
            </a:r>
            <a:endParaRPr b="0" lang="en-US" sz="1120" spc="-1" strike="noStrike">
              <a:solidFill>
                <a:srgbClr val="ffffff"/>
              </a:solidFill>
              <a:latin typeface="DejaVu Sans"/>
            </a:endParaRPr>
          </a:p>
        </p:txBody>
      </p:sp>
      <p:sp>
        <p:nvSpPr>
          <p:cNvPr id="384" name="Text 55"/>
          <p:cNvSpPr/>
          <p:nvPr/>
        </p:nvSpPr>
        <p:spPr>
          <a:xfrm>
            <a:off x="8869680" y="3328560"/>
            <a:ext cx="20386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10" spc="-1" strike="noStrike">
                <a:solidFill>
                  <a:srgbClr val="e5e9ed"/>
                </a:solidFill>
                <a:latin typeface="Microsoft YaHei"/>
                <a:ea typeface="Microsoft YaHei"/>
              </a:rPr>
              <a:t>L10/L20</a:t>
            </a:r>
            <a:r>
              <a:rPr b="0" lang="zh-CN" sz="1210" spc="-1" strike="noStrike">
                <a:solidFill>
                  <a:srgbClr val="e5e9ed"/>
                </a:solidFill>
                <a:latin typeface="Microsoft YaHei"/>
                <a:ea typeface="Microsoft YaHei"/>
              </a:rPr>
              <a:t>重排可直接比较</a:t>
            </a:r>
            <a:endParaRPr b="0" lang="en-US" sz="1210" spc="-1" strike="noStrike">
              <a:solidFill>
                <a:srgbClr val="ffffff"/>
              </a:solidFill>
              <a:latin typeface="DejaVu Sans"/>
            </a:endParaRPr>
          </a:p>
        </p:txBody>
      </p:sp>
      <p:sp>
        <p:nvSpPr>
          <p:cNvPr id="385" name="Shape 56"/>
          <p:cNvSpPr/>
          <p:nvPr/>
        </p:nvSpPr>
        <p:spPr>
          <a:xfrm>
            <a:off x="7845480" y="3822120"/>
            <a:ext cx="109440" cy="109440"/>
          </a:xfrm>
          <a:prstGeom prst="roundRect">
            <a:avLst>
              <a:gd name="adj" fmla="val 25000"/>
            </a:avLst>
          </a:prstGeom>
          <a:solidFill>
            <a:srgbClr val="78d1a2"/>
          </a:solidFill>
          <a:ln w="12700">
            <a:solidFill>
              <a:srgbClr val="78d1a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386" name="Text 57"/>
          <p:cNvSpPr/>
          <p:nvPr/>
        </p:nvSpPr>
        <p:spPr>
          <a:xfrm>
            <a:off x="8028360" y="3776400"/>
            <a:ext cx="8042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20" spc="-1" strike="noStrike">
                <a:solidFill>
                  <a:srgbClr val="78d1a2"/>
                </a:solidFill>
                <a:latin typeface="Microsoft YaHei"/>
                <a:ea typeface="Microsoft YaHei"/>
              </a:rPr>
              <a:t>03</a:t>
            </a:r>
            <a:endParaRPr b="0" lang="en-US" sz="1120" spc="-1" strike="noStrike">
              <a:solidFill>
                <a:srgbClr val="ffffff"/>
              </a:solidFill>
              <a:latin typeface="DejaVu Sans"/>
            </a:endParaRPr>
          </a:p>
        </p:txBody>
      </p:sp>
      <p:sp>
        <p:nvSpPr>
          <p:cNvPr id="387" name="Text 58"/>
          <p:cNvSpPr/>
          <p:nvPr/>
        </p:nvSpPr>
        <p:spPr>
          <a:xfrm>
            <a:off x="8869680" y="3767400"/>
            <a:ext cx="20386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zh-CN" sz="1210" spc="-1" strike="noStrike">
                <a:solidFill>
                  <a:srgbClr val="e5e9ed"/>
                </a:solidFill>
                <a:latin typeface="Microsoft YaHei"/>
                <a:ea typeface="Microsoft YaHei"/>
              </a:rPr>
              <a:t>局部位点不被画成确定机制</a:t>
            </a:r>
            <a:endParaRPr b="0" lang="en-US" sz="1210" spc="-1" strike="noStrike">
              <a:solidFill>
                <a:srgbClr val="ffffff"/>
              </a:solidFill>
              <a:latin typeface="DejaVu Sans"/>
            </a:endParaRPr>
          </a:p>
        </p:txBody>
      </p:sp>
      <p:sp>
        <p:nvSpPr>
          <p:cNvPr id="388" name="Text 59"/>
          <p:cNvSpPr/>
          <p:nvPr/>
        </p:nvSpPr>
        <p:spPr>
          <a:xfrm>
            <a:off x="7845480" y="4416480"/>
            <a:ext cx="32457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1420" spc="-1" strike="noStrike">
                <a:solidFill>
                  <a:srgbClr val="ffffff"/>
                </a:solidFill>
                <a:latin typeface="Microsoft YaHei"/>
                <a:ea typeface="Microsoft YaHei"/>
              </a:rPr>
              <a:t>建议做成 </a:t>
            </a:r>
            <a:r>
              <a:rPr b="1" lang="en-US" sz="1420" spc="-1" strike="noStrike">
                <a:solidFill>
                  <a:srgbClr val="ffffff"/>
                </a:solidFill>
                <a:latin typeface="Microsoft YaHei"/>
                <a:ea typeface="Microsoft YaHei"/>
              </a:rPr>
              <a:t>E+</a:t>
            </a:r>
            <a:r>
              <a:rPr b="1" lang="zh-CN" sz="1420" spc="-1" strike="noStrike">
                <a:solidFill>
                  <a:srgbClr val="ffffff"/>
                </a:solidFill>
                <a:latin typeface="Microsoft YaHei"/>
                <a:ea typeface="Microsoft YaHei"/>
              </a:rPr>
              <a:t>：只借用 </a:t>
            </a:r>
            <a:r>
              <a:rPr b="1" lang="en-US" sz="1420" spc="-1" strike="noStrike">
                <a:solidFill>
                  <a:srgbClr val="ffffff"/>
                </a:solidFill>
                <a:latin typeface="Microsoft YaHei"/>
                <a:ea typeface="Microsoft YaHei"/>
              </a:rPr>
              <a:t>D </a:t>
            </a:r>
            <a:r>
              <a:rPr b="1" lang="zh-CN" sz="1420" spc="-1" strike="noStrike">
                <a:solidFill>
                  <a:srgbClr val="ffffff"/>
                </a:solidFill>
                <a:latin typeface="Microsoft YaHei"/>
                <a:ea typeface="Microsoft YaHei"/>
              </a:rPr>
              <a:t>的视觉优势</a:t>
            </a:r>
            <a:endParaRPr b="0" lang="en-US" sz="1420" spc="-1" strike="noStrike">
              <a:solidFill>
                <a:srgbClr val="ffffff"/>
              </a:solidFill>
              <a:latin typeface="DejaVu Sans"/>
            </a:endParaRPr>
          </a:p>
        </p:txBody>
      </p:sp>
      <p:sp>
        <p:nvSpPr>
          <p:cNvPr id="389" name="Text 60"/>
          <p:cNvSpPr/>
          <p:nvPr/>
        </p:nvSpPr>
        <p:spPr>
          <a:xfrm>
            <a:off x="7845480" y="4782240"/>
            <a:ext cx="329148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zh-CN" sz="1120" spc="-1" strike="noStrike">
                <a:solidFill>
                  <a:srgbClr val="d9e8e0"/>
                </a:solidFill>
                <a:latin typeface="Microsoft YaHei"/>
                <a:ea typeface="Microsoft YaHei"/>
              </a:rPr>
              <a:t>增加无箭头的短</a:t>
            </a:r>
            <a:r>
              <a:rPr b="0" lang="en-US" sz="1120" spc="-1" strike="noStrike">
                <a:solidFill>
                  <a:srgbClr val="d9e8e0"/>
                </a:solidFill>
                <a:latin typeface="Microsoft YaHei"/>
                <a:ea typeface="Microsoft YaHei"/>
              </a:rPr>
              <a:t>/</a:t>
            </a:r>
            <a:r>
              <a:rPr b="0" lang="zh-CN" sz="1120" spc="-1" strike="noStrike">
                <a:solidFill>
                  <a:srgbClr val="d9e8e0"/>
                </a:solidFill>
                <a:latin typeface="Microsoft YaHei"/>
                <a:ea typeface="Microsoft YaHei"/>
              </a:rPr>
              <a:t>长</a:t>
            </a:r>
            <a:r>
              <a:rPr b="0" lang="en-US" sz="1120" spc="-1" strike="noStrike">
                <a:solidFill>
                  <a:srgbClr val="d9e8e0"/>
                </a:solidFill>
                <a:latin typeface="Microsoft YaHei"/>
                <a:ea typeface="Microsoft YaHei"/>
              </a:rPr>
              <a:t>PET</a:t>
            </a:r>
            <a:r>
              <a:rPr b="0" lang="zh-CN" sz="1120" spc="-1" strike="noStrike">
                <a:solidFill>
                  <a:srgbClr val="d9e8e0"/>
                </a:solidFill>
                <a:latin typeface="Microsoft YaHei"/>
                <a:ea typeface="Microsoft YaHei"/>
              </a:rPr>
              <a:t>提示；精简标题与图例；放大位点地图。不要恢复键线、效应大小或机制图标。</a:t>
            </a:r>
            <a:endParaRPr b="0" lang="en-US" sz="1120" spc="-1" strike="noStrike">
              <a:solidFill>
                <a:srgbClr val="ffffff"/>
              </a:solidFill>
              <a:latin typeface="DejaVu Sans"/>
            </a:endParaRPr>
          </a:p>
        </p:txBody>
      </p:sp>
      <p:sp>
        <p:nvSpPr>
          <p:cNvPr id="390" name="Shape 61"/>
          <p:cNvSpPr/>
          <p:nvPr/>
        </p:nvSpPr>
        <p:spPr>
          <a:xfrm>
            <a:off x="585360" y="5559480"/>
            <a:ext cx="11009160" cy="639720"/>
          </a:xfrm>
          <a:prstGeom prst="roundRect">
            <a:avLst>
              <a:gd name="adj" fmla="val 11429"/>
            </a:avLst>
          </a:prstGeom>
          <a:solidFill>
            <a:srgbClr val="2b333e"/>
          </a:solidFill>
          <a:ln w="7620">
            <a:solidFill>
              <a:srgbClr val="47526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DejaVu Sans"/>
            </a:endParaRPr>
          </a:p>
        </p:txBody>
      </p:sp>
      <p:sp>
        <p:nvSpPr>
          <p:cNvPr id="391" name="Text 62"/>
          <p:cNvSpPr/>
          <p:nvPr/>
        </p:nvSpPr>
        <p:spPr>
          <a:xfrm>
            <a:off x="841320" y="5696640"/>
            <a:ext cx="104238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1540" spc="-1" strike="noStrike">
                <a:solidFill>
                  <a:srgbClr val="ffffff"/>
                </a:solidFill>
                <a:latin typeface="Microsoft YaHei"/>
                <a:ea typeface="Microsoft YaHei"/>
              </a:rPr>
              <a:t>如果目标是演讲封面：</a:t>
            </a:r>
            <a:r>
              <a:rPr b="1" lang="en-US" sz="1540" spc="-1" strike="noStrike">
                <a:solidFill>
                  <a:srgbClr val="ffffff"/>
                </a:solidFill>
                <a:latin typeface="Microsoft YaHei"/>
                <a:ea typeface="Microsoft YaHei"/>
              </a:rPr>
              <a:t>D </a:t>
            </a:r>
            <a:r>
              <a:rPr b="1" lang="zh-CN" sz="1540" spc="-1" strike="noStrike">
                <a:solidFill>
                  <a:srgbClr val="ffffff"/>
                </a:solidFill>
                <a:latin typeface="Microsoft YaHei"/>
                <a:ea typeface="Microsoft YaHei"/>
              </a:rPr>
              <a:t>更抓眼；如果目标是可防守的 </a:t>
            </a:r>
            <a:r>
              <a:rPr b="1" lang="en-US" sz="1540" spc="-1" strike="noStrike">
                <a:solidFill>
                  <a:srgbClr val="ffffff"/>
                </a:solidFill>
                <a:latin typeface="Microsoft YaHei"/>
                <a:ea typeface="Microsoft YaHei"/>
              </a:rPr>
              <a:t>JCIM </a:t>
            </a:r>
            <a:r>
              <a:rPr b="1" lang="zh-CN" sz="1540" spc="-1" strike="noStrike">
                <a:solidFill>
                  <a:srgbClr val="ffffff"/>
                </a:solidFill>
                <a:latin typeface="Microsoft YaHei"/>
                <a:ea typeface="Microsoft YaHei"/>
              </a:rPr>
              <a:t>摘要图：</a:t>
            </a:r>
            <a:r>
              <a:rPr b="1" lang="en-US" sz="1540" spc="-1" strike="noStrike">
                <a:solidFill>
                  <a:srgbClr val="ffffff"/>
                </a:solidFill>
                <a:latin typeface="Microsoft YaHei"/>
                <a:ea typeface="Microsoft YaHei"/>
              </a:rPr>
              <a:t>E </a:t>
            </a:r>
            <a:r>
              <a:rPr b="1" lang="zh-CN" sz="1540" spc="-1" strike="noStrike">
                <a:solidFill>
                  <a:srgbClr val="ffffff"/>
                </a:solidFill>
                <a:latin typeface="Microsoft YaHei"/>
                <a:ea typeface="Microsoft YaHei"/>
              </a:rPr>
              <a:t>更合适。</a:t>
            </a:r>
            <a:endParaRPr b="0" lang="en-US" sz="1540" spc="-1" strike="noStrike">
              <a:solidFill>
                <a:srgbClr val="ffffff"/>
              </a:solidFill>
              <a:latin typeface="DejaVu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 pitchFamily="0" charset="1"/>
        <a:ea typeface=""/>
        <a:cs typeface=""/>
      </a:majorFont>
      <a:minorFont>
        <a:latin typeface="Microsoft YaHe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LibreOffice/24.2.7.2$Linux_X86_64 LibreOffice_project/420$Build-2</Application>
  <AppVersion>15.0000</AppVersion>
  <Words>0</Words>
  <Paragraphs>0</Paragraphs>
  <Company>King's College London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2026-09-04T12:29:58Z</dcterms:created>
  <dc:creator>AutoProPET manuscript team</dc:creator>
  <dc:description/>
  <dc:language>en-US</dc:language>
  <cp:lastModifiedBy>AutoProPET manuscript team</cp:lastModifiedBy>
  <dcterms:modified xsi:type="dcterms:W3CDTF">2026-09-04T12:29:58Z</dcterms:modified>
  <cp:revision>1</cp:revision>
  <dc:subject>PETase manuscript TOC graphic design review</dc:subject>
  <dc:title>PETase manuscript: TOC graphic design review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r8>7</vt:r8>
  </property>
  <property fmtid="{D5CDD505-2E9C-101B-9397-08002B2CF9AE}" pid="3" name="PresentationFormat">
    <vt:lpwstr>On-screen Show (16:9)</vt:lpwstr>
  </property>
  <property fmtid="{D5CDD505-2E9C-101B-9397-08002B2CF9AE}" pid="4" name="Slides">
    <vt:r8>7</vt:r8>
  </property>
</Properties>
</file>